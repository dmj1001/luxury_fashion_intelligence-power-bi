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0"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5" d="100"/>
          <a:sy n="95" d="100"/>
        </p:scale>
        <p:origin x="66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nise Maria James" userId="842f09183c474ce6" providerId="LiveId" clId="{AD8001F5-0797-4F50-A368-0AD0CA1A9D29}"/>
    <pc:docChg chg="modSld">
      <pc:chgData name="Denise Maria James" userId="842f09183c474ce6" providerId="LiveId" clId="{AD8001F5-0797-4F50-A368-0AD0CA1A9D29}" dt="2026-04-08T10:29:02.283" v="105" actId="20577"/>
      <pc:docMkLst>
        <pc:docMk/>
      </pc:docMkLst>
      <pc:sldChg chg="modSp mod">
        <pc:chgData name="Denise Maria James" userId="842f09183c474ce6" providerId="LiveId" clId="{AD8001F5-0797-4F50-A368-0AD0CA1A9D29}" dt="2026-04-08T10:07:35.015" v="87" actId="20577"/>
        <pc:sldMkLst>
          <pc:docMk/>
          <pc:sldMk cId="0" sldId="258"/>
        </pc:sldMkLst>
        <pc:spChg chg="mod">
          <ac:chgData name="Denise Maria James" userId="842f09183c474ce6" providerId="LiveId" clId="{AD8001F5-0797-4F50-A368-0AD0CA1A9D29}" dt="2026-04-08T10:07:35.015" v="87" actId="20577"/>
          <ac:spMkLst>
            <pc:docMk/>
            <pc:sldMk cId="0" sldId="258"/>
            <ac:spMk id="8" creationId="{00000000-0000-0000-0000-000000000000}"/>
          </ac:spMkLst>
        </pc:spChg>
      </pc:sldChg>
      <pc:sldChg chg="modSp mod">
        <pc:chgData name="Denise Maria James" userId="842f09183c474ce6" providerId="LiveId" clId="{AD8001F5-0797-4F50-A368-0AD0CA1A9D29}" dt="2026-04-08T10:29:02.283" v="105" actId="20577"/>
        <pc:sldMkLst>
          <pc:docMk/>
          <pc:sldMk cId="0" sldId="264"/>
        </pc:sldMkLst>
        <pc:spChg chg="mod">
          <ac:chgData name="Denise Maria James" userId="842f09183c474ce6" providerId="LiveId" clId="{AD8001F5-0797-4F50-A368-0AD0CA1A9D29}" dt="2026-04-08T10:29:02.283" v="105" actId="20577"/>
          <ac:spMkLst>
            <pc:docMk/>
            <pc:sldMk cId="0" sldId="264"/>
            <ac:spMk id="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7873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Velvet Metrics — a full-spectrum luxury fashion and apparel intelligence platform built in Power BI.
This project analyses 1,200 real-world transactions across 10 luxury brand houses, 300 client profiles, and ~350 SKUs spanning 2023 to 2024.
The dashboard is structured across 6 analytical pages, each designed for a specific audience — from the CMO to the Merchandising Director.
Key project facts: the dataset was built in Excel with 7 interconnected sheets forming a star schema, and the theme uses a prestige gold and charcoal palette to reflect the luxury context.
Presenter tip: open with the question — what does it actually take to understand a luxury client? This deck answers that.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sets the analytical context for the entire project.
The core premise is simple: luxury retail is not about volume — it is about relationships. Every data point in this dashboard represents a client interaction, not just a transaction.
The three capability pillars — Descriptive Analytics, Client Intelligence, and Brand Equity Intelligence — map directly to the three business questions the CMO cares most about.
Presenter tip: emphasise that this dashboard goes beyond standard retail KPIs. It introduces measures like CLTV, Prestige Price Index, and RFM Score that are specific to the luxury sector.
The bottom panel shows the four concrete deliverables: VIC tracking, brand equity measurement, channel mix optimisation, and seasonal intelligence.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strategic pillars drive the entire analytical framework.
Objective 1 — Client Lifetime Value: the goal is to quantify the economic worth of each client relationship over time, not just per transaction. The CLTV measure multiplies AOV by purchase frequency by average lifespan in years.
Objective 2 — Brand and Product Performance: isolating which brand houses are delivering margin vs just volume is critical for the Merchandising Director. Limited edition drops are tracked separately because they behave like demand spikes, not steady revenue.
Objective 3 — Omnichannel Attribution: the key insight here is that digital and boutique channels serve different client needs — boutique for first-time discovery, digital for loyal repeat clients.
Objective 4 — Seasonal Intelligence: fashion week months (Feb, Mar, Sep, Oct) produce a 186% GMV uplift. This is not coincidence — it is a programmable revenue lever.
Presenter tip: connect each objective to a specific Power BI page before moving 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is built across 7 Excel sheets that load into Power BI as a clean star schema.
FactOrders is the core transaction table with 1,200 rows — each row is one order with fields for brand, category, SKU, price, client, channel, country, and return status.
The three supporting tables that required manual creation inside Power BI — Inventory, Targets, and WebAnalytics — are highlighted here. These were built using DAX DATATABLE and GENERATE functions directly in Power BI, not imported from Excel.
Presenter tip: if the audience is technical, explain that the WebAnalytics table uses a GENERATE + CALENDAR formula to simulate 731 days of session data with seasonal variation baked in.
The key data quality note: all orders with blank BrandHouse values were removed via a visual-level filter, not Power Query, to preserve the raw data integrity.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documents the schema for the FactOrders table — the central fact table in the star schema.
12 columns are shown here. The four most critical for DAX measures are: OrderDate (enables all time intelligence), UnitPrice_EUR (base for GMV and AOV), ReturnFlag (Yes/No drives Net Revenue and ReturnRate%), and Channel (Boutique/E-Commerce/Wholesale/Pop-Up splits).
Data type colour coding: gold text = Text fields, teal = Date fields, purple = Decimal fields, amber = Integer fields. This matches the colour coding used in the dashboard theme itself.
Presenter tip: point out that Season is a calculated column added in Power Query — it derives SS or FW from the month number of OrderDate, linking every transaction to fashion calendar context.
The ClientID and SKU columns are foreign keys — they are what enables the star schema relationships to DimClient and DimProduct respectively.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Power Query steps were applied before a single DAX measure was written.
Steps 1–4 cover the foundation: import, type enforcement, null removal, and calculated column creation. The most important calculated column is ClientTier — this uses a conditional column based on lifetime spend thresholds: above €50,000 is VIC, above €10,000 is HNW, all others are Standard.
Steps 5–8 cover quality and structure: brand name standardisation (Hermès vs Hermes, for example), distribution profiling, category normalisation, and finally the star schema build.
Presenter tip: emphasise that the star schema decision is what makes the DAX measures fast and correct. Without it, cross-filter context does not propagate cleanly between tables.
Common issue to mention: the SellThru% measure showed 13,910% before the ALLEXCEPT filter context fix — this was caused by mismatched grain between FactOrders and Inventory. The fix uses CALCULATE with explicit context.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star schema has FactOrders at the centre with five dimension tables radiating outward.
Three relationships are physical and active in Power BI Model view: FactOrders to DimClient on ClientID, FactOrders to DimProduct on SKU, and FactOrders to DimCalendar on OrderDate.
Two tables — Targets and Benchmarks — are not physically related. Targets uses TREATAS inside the TargetGMV measure to push brand filter context without a relationship. Benchmarks is used as a static reference via SELECTEDVALUE.
Presenter tip: if asked why Inventory is related on BrandHouse rather than SKU — the answer is that the DATATABLE-based Inventory uses simplified SKUs that do not exactly match the Excel-generated SKUs in DimProduct. Relating on BrandHouse is the pragmatic fix that still delivers correct SellThru% at brand level.
The asterisk notation — ∗:1 — means many fact rows to one dimension key. This is standard for all five relationships.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core DAX measures are shown here, grouped by category: Revenue, Time Intelligence, Client, Product, and Channel.
Revenue layer: GMV is the base measure. Net_Revenue strips returned orders. AOV divides GMV by order count. YoY_Growth% uses GMV_PY which is calculated with SAMEPERIODLASTYEAR.
Client layer: CLTV is the compound measure — AOV multiplied by PurchaseFrequency multiplied by Avg_Lifespan_Years. RFM_Score combines three 1–5 scoring measures. Churn_Flag uses DATEDIFF against the dataset's own last date, not TODAY(), to avoid false at-risk flags on historical data.
Product layer: SellThru% uses CALCULATE with explicit context to avoid the 13,910% overflow bug. GrossMargin% is calculated at the product level using RRP minus COGS divided by RRP.
The bottom bar lists 10 supporting measures. These are the inputs that the main measures depend on — PurchaseFrequency, RecencyScore, UnitsSold etc. All are defined in the full DAX Reference sheet in the Excel file.
Presenter tip: demo the SWITCH-based FunnelValue measure live if possible — it is the most elegant piece of DAX in the project.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dashboard pages, each designed for a specific analytical purpose and a specific audience.
Page 1 — Executive Overview: designed for the CMO. Opens with four KPI cards, a YoY trend line with fashion week markers, a brand revenue bar chart, a channel mix donut, and a geo bubble map. The slicer panel covers Year, Season, Brand, Channel, and Country.
Page 2 — Client Intelligence: designed for the Client Relations VP. The scatter plot of CLTV vs Purchase Frequency is the signature visual — it instantly shows the VIC cluster in the top-right corner. The Top 20 VIC Table uses conditional formatting on last purchase date.
Page 3 — Product Performance: designed for the Merchandising Director. The sell-through matrix with traffic-light conditional formatting is the centrepiece. Green above 75%, amber 50–75%, red below 50%.
Pages 4, 5, and 6 cover channel flow, seasonal trends, and brand equity respectively. Each has its own slicer panel tuned to the relevant dimensions.
Presenter tip: use the Page Navigator buttons built into the report to demonstrate live drill-through from the overview to client detail level.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key insights emerge from the 2023–2024 luxury retail analysis.
Insight 1 — VIC concentration: 5% of clients generate 40–50% of GMV. The retention ROI for this cohort is 8× the cost of acquiring a new client. This is the single most important business finding in the entire project.
Insight 2 — Limited edition lever: drops cause a 3× new client acquisition spike. This is not just a revenue tactic — it is a client acquisition strategy disguised as a product launch.
Insight 3 — Margin by category: Fine Jewellery and Handbags deliver 55–70% gross margin vs RTW at 35–45%. The inventory mix recommendation is clear — shift allocation toward the high-margin categories.
Insight 4 — Digital AOV premium: returning clients spend 2× their boutique AOV when buying online. This validates investment in digital clienteling programmes, not just traffic acquisition.
Insight 5 — RTW return problem: return rates above 12% on Ready-to-Wear signal sizing inconsistencies. The waterfall chart on Page 3 isolates the specific collections driving this.
Presenter tip: lead with the VIC concentration stat — it always creates the strongest audience reaction.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narrative unfolds in four acts — a deliberate storytelling structure designed for executive presentation.
Act 1 — The Baseline (Jan 2023): The system opens in a stable state. GMV is €28.4M, repeat rate is 38.7%, boutique dominates at 60%. This is the reference point for all subsequent change.
Act 2 — Fashion Week Lift (FW 2023): The first major event. September–October deliver a 186% GMV uplift. Hermès and Chanel lead. Limited edition drops spike new client acquisition by 3×. This reveals the seasonal engine that drives the luxury calendar.
Act 3 — Digital Inflection (SS 2024): E-commerce AOV for returning clients surpasses boutique by 2×. Digital conversion reaches 2.1% — above the 1.8% luxury industry average. Boutique share falls 3.2 points YoY. The channel mix is shifting.
Act 4 — The Prescription: three targeted interventions. First, reactivate the 48 at-risk VIC clients using the churn flag measure — they represent disproportionate lifetime value. Second, rebalance inventory toward 55–70% margin accessories. Third, launch a digital clienteling programme to capture the AOV opportunity.
Presenter tip: pause between acts. Let each data revelation land before moving to the next. The narrative structure only works if the audience has time to absorb each shift.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system for the dashboard was built with three principles: prestige, clarity, and interactivity.
Canvas is 1280×720px on a 16:9 ratio. The custom JSON theme uses Champagne Gold (#C9A84C), Deep Charcoal (#1C1C1E), and Ivory White (#F5F0E8) — imported via View &gt; Themes in Power BI Desktop.
The visual inventory table here maps each page to its visual type, the DAX measure it uses, and the key formatting settings. This is designed to be a build reference — not just a summary.
Key Power BI features demonstrated: sync slicers across all 6 pages, drill-down from Category to Brand to SKU, bookmarks for VIC View vs Full Portfolio toggle, custom tooltip pages on hover, and the Q&amp;A natural language visual on Page 1 for executive self-service.
The Bullet Chart on Page 6 uses the OKVIZ custom visual from AppSource — the only third-party visual in the project. All others are native Power BI visuals.
Presenter tip: show the custom JSON theme file if the audience includes Power BI developers — it is a reusable asset for any luxury or premium brand dashboard project.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slide. Leave this on screen during Q&amp;A.
Anticipated questions and answers:
Q: Why is the dataset synthetic? A: Real luxury retail transaction data is commercially sensitive. The synthetic dataset mirrors real-world distributions — tier ratios, price points, return rates, and seasonal patterns are all calibrated to industry benchmarks.
Q: How would this scale to a real brand? A: Replace the Excel source with a live connection to SAP, Salesforce Commerce Cloud, or a data warehouse. All DAX measures, relationships, and visuals remain unchanged. Only the data source connection needs updating.
Q: What is the most complex DAX measure? A: FunnelValue using SWITCH and SELECTEDVALUE. It reads the stage name from the FunnelStages reference table and returns the correct measure for each row — Sessions, PageViews, AddToCart, Checkout, or Purchase.
Q: How long did this project take to build? A: Dataset generation and Power Query: 2 days. Data modeling and DAX: 1.5 days. Report design and visual placement: 2 days. Total: approximately 5–6 working days.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9A84C"/>
          </a:solidFill>
          <a:ln w="12700">
            <a:solidFill>
              <a:srgbClr val="C9A84C"/>
            </a:solidFill>
            <a:prstDash val="solid"/>
          </a:ln>
        </p:spPr>
        <p:txBody>
          <a:bodyPr/>
          <a:lstStyle/>
          <a:p>
            <a:endParaRPr lang="en-IN"/>
          </a:p>
        </p:txBody>
      </p:sp>
      <p:sp>
        <p:nvSpPr>
          <p:cNvPr id="3" name="Shape 1"/>
          <p:cNvSpPr/>
          <p:nvPr/>
        </p:nvSpPr>
        <p:spPr>
          <a:xfrm>
            <a:off x="5943600" y="0"/>
            <a:ext cx="3200400" cy="5143500"/>
          </a:xfrm>
          <a:prstGeom prst="rect">
            <a:avLst/>
          </a:prstGeom>
          <a:solidFill>
            <a:srgbClr val="1A1F2E"/>
          </a:solidFill>
          <a:ln w="12700">
            <a:solidFill>
              <a:srgbClr val="1A1F2E"/>
            </a:solidFill>
            <a:prstDash val="solid"/>
          </a:ln>
        </p:spPr>
        <p:txBody>
          <a:bodyPr/>
          <a:lstStyle/>
          <a:p>
            <a:endParaRPr lang="en-IN"/>
          </a:p>
        </p:txBody>
      </p:sp>
      <p:sp>
        <p:nvSpPr>
          <p:cNvPr id="4" name="Shape 2"/>
          <p:cNvSpPr/>
          <p:nvPr/>
        </p:nvSpPr>
        <p:spPr>
          <a:xfrm>
            <a:off x="5943600" y="0"/>
            <a:ext cx="54864" cy="5143500"/>
          </a:xfrm>
          <a:prstGeom prst="rect">
            <a:avLst/>
          </a:prstGeom>
          <a:solidFill>
            <a:srgbClr val="C9A84C"/>
          </a:solidFill>
          <a:ln w="12700">
            <a:solidFill>
              <a:srgbClr val="C9A84C"/>
            </a:solidFill>
            <a:prstDash val="solid"/>
          </a:ln>
        </p:spPr>
        <p:txBody>
          <a:bodyPr/>
          <a:lstStyle/>
          <a:p>
            <a:endParaRPr lang="en-IN"/>
          </a:p>
        </p:txBody>
      </p:sp>
      <p:sp>
        <p:nvSpPr>
          <p:cNvPr id="6" name="Text 4"/>
          <p:cNvSpPr/>
          <p:nvPr/>
        </p:nvSpPr>
        <p:spPr>
          <a:xfrm>
            <a:off x="457200" y="548640"/>
            <a:ext cx="5303520" cy="1005840"/>
          </a:xfrm>
          <a:prstGeom prst="rect">
            <a:avLst/>
          </a:prstGeom>
          <a:noFill/>
          <a:ln/>
        </p:spPr>
        <p:txBody>
          <a:bodyPr wrap="square" lIns="0" tIns="0" rIns="0" bIns="0" rtlCol="0" anchor="ctr"/>
          <a:lstStyle/>
          <a:p>
            <a:pPr marL="0" indent="0">
              <a:buNone/>
            </a:pPr>
            <a:r>
              <a:rPr lang="en-US" sz="3200" b="1" dirty="0">
                <a:solidFill>
                  <a:srgbClr val="F5F0E8"/>
                </a:solidFill>
              </a:rPr>
              <a:t>Luxury Fashion &amp; Apparel</a:t>
            </a:r>
            <a:endParaRPr lang="en-US" sz="3200" dirty="0"/>
          </a:p>
          <a:p>
            <a:pPr marL="0" indent="0">
              <a:buNone/>
            </a:pPr>
            <a:r>
              <a:rPr lang="en-US" sz="3200" b="1" dirty="0">
                <a:solidFill>
                  <a:srgbClr val="F5F0E8"/>
                </a:solidFill>
              </a:rPr>
              <a:t>Intelligence Analytics</a:t>
            </a:r>
            <a:endParaRPr lang="en-US" sz="2800" dirty="0"/>
          </a:p>
        </p:txBody>
      </p:sp>
      <p:sp>
        <p:nvSpPr>
          <p:cNvPr id="7" name="Text 5"/>
          <p:cNvSpPr/>
          <p:nvPr/>
        </p:nvSpPr>
        <p:spPr>
          <a:xfrm>
            <a:off x="457200" y="1840557"/>
            <a:ext cx="5120640" cy="822960"/>
          </a:xfrm>
          <a:prstGeom prst="rect">
            <a:avLst/>
          </a:prstGeom>
          <a:noFill/>
          <a:ln/>
        </p:spPr>
        <p:txBody>
          <a:bodyPr wrap="square" lIns="0" tIns="0" rIns="0" bIns="0" rtlCol="0" anchor="ctr"/>
          <a:lstStyle/>
          <a:p>
            <a:pPr marL="0" indent="0">
              <a:lnSpc>
                <a:spcPct val="140000"/>
              </a:lnSpc>
              <a:buNone/>
            </a:pPr>
            <a:r>
              <a:rPr lang="en-US" sz="1100" dirty="0">
                <a:solidFill>
                  <a:srgbClr val="8B8FA8"/>
                </a:solidFill>
              </a:rPr>
              <a:t>A comprehensive analytics platform tracking brand equity,</a:t>
            </a:r>
            <a:endParaRPr lang="en-US" sz="1100" dirty="0"/>
          </a:p>
          <a:p>
            <a:pPr marL="0" indent="0">
              <a:lnSpc>
                <a:spcPct val="140000"/>
              </a:lnSpc>
              <a:buNone/>
            </a:pPr>
            <a:r>
              <a:rPr lang="en-US" sz="1100" dirty="0">
                <a:solidFill>
                  <a:srgbClr val="8B8FA8"/>
                </a:solidFill>
              </a:rPr>
              <a:t>client lifetime value &amp; omnichannel performance</a:t>
            </a:r>
            <a:endParaRPr lang="en-US" sz="1100" dirty="0"/>
          </a:p>
          <a:p>
            <a:pPr marL="0" indent="0">
              <a:lnSpc>
                <a:spcPct val="140000"/>
              </a:lnSpc>
              <a:buNone/>
            </a:pPr>
            <a:r>
              <a:rPr lang="en-US" sz="1100" dirty="0">
                <a:solidFill>
                  <a:srgbClr val="8B8FA8"/>
                </a:solidFill>
              </a:rPr>
              <a:t>across luxury goods segments.</a:t>
            </a:r>
            <a:endParaRPr lang="en-US" sz="1100" dirty="0"/>
          </a:p>
        </p:txBody>
      </p:sp>
      <p:sp>
        <p:nvSpPr>
          <p:cNvPr id="8" name="Shape 6"/>
          <p:cNvSpPr/>
          <p:nvPr/>
        </p:nvSpPr>
        <p:spPr>
          <a:xfrm>
            <a:off x="457200" y="3474720"/>
            <a:ext cx="1188720" cy="685800"/>
          </a:xfrm>
          <a:prstGeom prst="rect">
            <a:avLst/>
          </a:prstGeom>
          <a:solidFill>
            <a:srgbClr val="1A1F2E"/>
          </a:solidFill>
          <a:ln w="12700">
            <a:solidFill>
              <a:srgbClr val="C9A84C"/>
            </a:solidFill>
            <a:prstDash val="solid"/>
          </a:ln>
          <a:effectLst>
            <a:outerShdw blurRad="101600" dist="38100" dir="8100000" algn="bl" rotWithShape="0">
              <a:srgbClr val="000000">
                <a:alpha val="25000"/>
              </a:srgbClr>
            </a:outerShdw>
          </a:effectLst>
        </p:spPr>
        <p:txBody>
          <a:bodyPr/>
          <a:lstStyle/>
          <a:p>
            <a:endParaRPr lang="en-IN"/>
          </a:p>
        </p:txBody>
      </p:sp>
      <p:sp>
        <p:nvSpPr>
          <p:cNvPr id="9" name="Text 7"/>
          <p:cNvSpPr/>
          <p:nvPr/>
        </p:nvSpPr>
        <p:spPr>
          <a:xfrm>
            <a:off x="457200" y="3493008"/>
            <a:ext cx="1188720" cy="320040"/>
          </a:xfrm>
          <a:prstGeom prst="rect">
            <a:avLst/>
          </a:prstGeom>
          <a:noFill/>
          <a:ln/>
        </p:spPr>
        <p:txBody>
          <a:bodyPr wrap="square" lIns="0" tIns="0" rIns="0" bIns="0" rtlCol="0" anchor="ctr"/>
          <a:lstStyle/>
          <a:p>
            <a:pPr marL="0" indent="0" algn="ctr">
              <a:buNone/>
            </a:pPr>
            <a:r>
              <a:rPr lang="en-US" sz="1800" b="1" dirty="0">
                <a:solidFill>
                  <a:srgbClr val="C9A84C"/>
                </a:solidFill>
              </a:rPr>
              <a:t>1,200</a:t>
            </a:r>
            <a:endParaRPr lang="en-US" sz="1800" dirty="0"/>
          </a:p>
        </p:txBody>
      </p:sp>
      <p:sp>
        <p:nvSpPr>
          <p:cNvPr id="10" name="Text 8"/>
          <p:cNvSpPr/>
          <p:nvPr/>
        </p:nvSpPr>
        <p:spPr>
          <a:xfrm>
            <a:off x="457200" y="3785616"/>
            <a:ext cx="1188720" cy="182880"/>
          </a:xfrm>
          <a:prstGeom prst="rect">
            <a:avLst/>
          </a:prstGeom>
          <a:noFill/>
          <a:ln/>
        </p:spPr>
        <p:txBody>
          <a:bodyPr wrap="square" lIns="0" tIns="0" rIns="0" bIns="0" rtlCol="0" anchor="ctr"/>
          <a:lstStyle/>
          <a:p>
            <a:pPr marL="0" indent="0" algn="ctr">
              <a:buNone/>
            </a:pPr>
            <a:r>
              <a:rPr lang="en-US" sz="800" dirty="0">
                <a:solidFill>
                  <a:srgbClr val="8B8FA8"/>
                </a:solidFill>
              </a:rPr>
              <a:t>Transactions</a:t>
            </a:r>
            <a:endParaRPr lang="en-US" sz="800" dirty="0"/>
          </a:p>
        </p:txBody>
      </p:sp>
      <p:sp>
        <p:nvSpPr>
          <p:cNvPr id="11" name="Shape 9"/>
          <p:cNvSpPr/>
          <p:nvPr/>
        </p:nvSpPr>
        <p:spPr>
          <a:xfrm>
            <a:off x="1783080" y="3474720"/>
            <a:ext cx="1188720" cy="685800"/>
          </a:xfrm>
          <a:prstGeom prst="rect">
            <a:avLst/>
          </a:prstGeom>
          <a:solidFill>
            <a:srgbClr val="1A1F2E"/>
          </a:solidFill>
          <a:ln w="12700">
            <a:solidFill>
              <a:srgbClr val="C9A84C"/>
            </a:solidFill>
            <a:prstDash val="solid"/>
          </a:ln>
          <a:effectLst>
            <a:outerShdw blurRad="101600" dist="38100" dir="8100000" algn="bl" rotWithShape="0">
              <a:srgbClr val="000000">
                <a:alpha val="25000"/>
              </a:srgbClr>
            </a:outerShdw>
          </a:effectLst>
        </p:spPr>
        <p:txBody>
          <a:bodyPr/>
          <a:lstStyle/>
          <a:p>
            <a:endParaRPr lang="en-IN"/>
          </a:p>
        </p:txBody>
      </p:sp>
      <p:sp>
        <p:nvSpPr>
          <p:cNvPr id="12" name="Text 10"/>
          <p:cNvSpPr/>
          <p:nvPr/>
        </p:nvSpPr>
        <p:spPr>
          <a:xfrm>
            <a:off x="1783080" y="3493008"/>
            <a:ext cx="1188720" cy="320040"/>
          </a:xfrm>
          <a:prstGeom prst="rect">
            <a:avLst/>
          </a:prstGeom>
          <a:noFill/>
          <a:ln/>
        </p:spPr>
        <p:txBody>
          <a:bodyPr wrap="square" lIns="0" tIns="0" rIns="0" bIns="0" rtlCol="0" anchor="ctr"/>
          <a:lstStyle/>
          <a:p>
            <a:pPr marL="0" indent="0" algn="ctr">
              <a:buNone/>
            </a:pPr>
            <a:r>
              <a:rPr lang="en-US" sz="1800" b="1" dirty="0">
                <a:solidFill>
                  <a:srgbClr val="C9A84C"/>
                </a:solidFill>
              </a:rPr>
              <a:t>10</a:t>
            </a:r>
            <a:endParaRPr lang="en-US" sz="1800" dirty="0"/>
          </a:p>
        </p:txBody>
      </p:sp>
      <p:sp>
        <p:nvSpPr>
          <p:cNvPr id="13" name="Text 11"/>
          <p:cNvSpPr/>
          <p:nvPr/>
        </p:nvSpPr>
        <p:spPr>
          <a:xfrm>
            <a:off x="1783080" y="3785616"/>
            <a:ext cx="1188720" cy="182880"/>
          </a:xfrm>
          <a:prstGeom prst="rect">
            <a:avLst/>
          </a:prstGeom>
          <a:noFill/>
          <a:ln/>
        </p:spPr>
        <p:txBody>
          <a:bodyPr wrap="square" lIns="0" tIns="0" rIns="0" bIns="0" rtlCol="0" anchor="ctr"/>
          <a:lstStyle/>
          <a:p>
            <a:pPr marL="0" indent="0" algn="ctr">
              <a:buNone/>
            </a:pPr>
            <a:r>
              <a:rPr lang="en-US" sz="800" dirty="0">
                <a:solidFill>
                  <a:srgbClr val="8B8FA8"/>
                </a:solidFill>
              </a:rPr>
              <a:t>Brand Houses</a:t>
            </a:r>
            <a:endParaRPr lang="en-US" sz="800" dirty="0"/>
          </a:p>
        </p:txBody>
      </p:sp>
      <p:sp>
        <p:nvSpPr>
          <p:cNvPr id="14" name="Shape 12"/>
          <p:cNvSpPr/>
          <p:nvPr/>
        </p:nvSpPr>
        <p:spPr>
          <a:xfrm>
            <a:off x="3108960" y="3474720"/>
            <a:ext cx="1188720" cy="685800"/>
          </a:xfrm>
          <a:prstGeom prst="rect">
            <a:avLst/>
          </a:prstGeom>
          <a:solidFill>
            <a:srgbClr val="1A1F2E"/>
          </a:solidFill>
          <a:ln w="12700">
            <a:solidFill>
              <a:srgbClr val="C9A84C"/>
            </a:solidFill>
            <a:prstDash val="solid"/>
          </a:ln>
          <a:effectLst>
            <a:outerShdw blurRad="101600" dist="38100" dir="8100000" algn="bl" rotWithShape="0">
              <a:srgbClr val="000000">
                <a:alpha val="25000"/>
              </a:srgbClr>
            </a:outerShdw>
          </a:effectLst>
        </p:spPr>
        <p:txBody>
          <a:bodyPr/>
          <a:lstStyle/>
          <a:p>
            <a:endParaRPr lang="en-IN"/>
          </a:p>
        </p:txBody>
      </p:sp>
      <p:sp>
        <p:nvSpPr>
          <p:cNvPr id="15" name="Text 13"/>
          <p:cNvSpPr/>
          <p:nvPr/>
        </p:nvSpPr>
        <p:spPr>
          <a:xfrm>
            <a:off x="3108960" y="3493008"/>
            <a:ext cx="1188720" cy="320040"/>
          </a:xfrm>
          <a:prstGeom prst="rect">
            <a:avLst/>
          </a:prstGeom>
          <a:noFill/>
          <a:ln/>
        </p:spPr>
        <p:txBody>
          <a:bodyPr wrap="square" lIns="0" tIns="0" rIns="0" bIns="0" rtlCol="0" anchor="ctr"/>
          <a:lstStyle/>
          <a:p>
            <a:pPr marL="0" indent="0" algn="ctr">
              <a:buNone/>
            </a:pPr>
            <a:r>
              <a:rPr lang="en-US" sz="1800" b="1" dirty="0">
                <a:solidFill>
                  <a:srgbClr val="C9A84C"/>
                </a:solidFill>
              </a:rPr>
              <a:t>300</a:t>
            </a:r>
            <a:endParaRPr lang="en-US" sz="1800" dirty="0"/>
          </a:p>
        </p:txBody>
      </p:sp>
      <p:sp>
        <p:nvSpPr>
          <p:cNvPr id="16" name="Text 14"/>
          <p:cNvSpPr/>
          <p:nvPr/>
        </p:nvSpPr>
        <p:spPr>
          <a:xfrm>
            <a:off x="3108960" y="3785616"/>
            <a:ext cx="1188720" cy="182880"/>
          </a:xfrm>
          <a:prstGeom prst="rect">
            <a:avLst/>
          </a:prstGeom>
          <a:noFill/>
          <a:ln/>
        </p:spPr>
        <p:txBody>
          <a:bodyPr wrap="square" lIns="0" tIns="0" rIns="0" bIns="0" rtlCol="0" anchor="ctr"/>
          <a:lstStyle/>
          <a:p>
            <a:pPr marL="0" indent="0" algn="ctr">
              <a:buNone/>
            </a:pPr>
            <a:r>
              <a:rPr lang="en-US" sz="800" dirty="0">
                <a:solidFill>
                  <a:srgbClr val="8B8FA8"/>
                </a:solidFill>
              </a:rPr>
              <a:t>Client Profiles</a:t>
            </a:r>
            <a:endParaRPr lang="en-US" sz="800" dirty="0"/>
          </a:p>
        </p:txBody>
      </p:sp>
      <p:sp>
        <p:nvSpPr>
          <p:cNvPr id="17" name="Shape 15"/>
          <p:cNvSpPr/>
          <p:nvPr/>
        </p:nvSpPr>
        <p:spPr>
          <a:xfrm>
            <a:off x="4434840" y="3474720"/>
            <a:ext cx="1188720" cy="685800"/>
          </a:xfrm>
          <a:prstGeom prst="rect">
            <a:avLst/>
          </a:prstGeom>
          <a:solidFill>
            <a:srgbClr val="1A1F2E"/>
          </a:solidFill>
          <a:ln w="12700">
            <a:solidFill>
              <a:srgbClr val="C9A84C"/>
            </a:solidFill>
            <a:prstDash val="solid"/>
          </a:ln>
          <a:effectLst>
            <a:outerShdw blurRad="101600" dist="38100" dir="8100000" algn="bl" rotWithShape="0">
              <a:srgbClr val="000000">
                <a:alpha val="25000"/>
              </a:srgbClr>
            </a:outerShdw>
          </a:effectLst>
        </p:spPr>
        <p:txBody>
          <a:bodyPr/>
          <a:lstStyle/>
          <a:p>
            <a:endParaRPr lang="en-IN"/>
          </a:p>
        </p:txBody>
      </p:sp>
      <p:sp>
        <p:nvSpPr>
          <p:cNvPr id="18" name="Text 16"/>
          <p:cNvSpPr/>
          <p:nvPr/>
        </p:nvSpPr>
        <p:spPr>
          <a:xfrm>
            <a:off x="4434840" y="3493008"/>
            <a:ext cx="1188720" cy="320040"/>
          </a:xfrm>
          <a:prstGeom prst="rect">
            <a:avLst/>
          </a:prstGeom>
          <a:noFill/>
          <a:ln/>
        </p:spPr>
        <p:txBody>
          <a:bodyPr wrap="square" lIns="0" tIns="0" rIns="0" bIns="0" rtlCol="0" anchor="ctr"/>
          <a:lstStyle/>
          <a:p>
            <a:pPr marL="0" indent="0" algn="ctr">
              <a:buNone/>
            </a:pPr>
            <a:r>
              <a:rPr lang="en-US" sz="1800" b="1" dirty="0">
                <a:solidFill>
                  <a:srgbClr val="C9A84C"/>
                </a:solidFill>
              </a:rPr>
              <a:t>6</a:t>
            </a:r>
            <a:endParaRPr lang="en-US" sz="1800" dirty="0"/>
          </a:p>
        </p:txBody>
      </p:sp>
      <p:sp>
        <p:nvSpPr>
          <p:cNvPr id="19" name="Text 17"/>
          <p:cNvSpPr/>
          <p:nvPr/>
        </p:nvSpPr>
        <p:spPr>
          <a:xfrm>
            <a:off x="4434840" y="3785616"/>
            <a:ext cx="1188720" cy="182880"/>
          </a:xfrm>
          <a:prstGeom prst="rect">
            <a:avLst/>
          </a:prstGeom>
          <a:noFill/>
          <a:ln/>
        </p:spPr>
        <p:txBody>
          <a:bodyPr wrap="square" lIns="0" tIns="0" rIns="0" bIns="0" rtlCol="0" anchor="ctr"/>
          <a:lstStyle/>
          <a:p>
            <a:pPr marL="0" indent="0" algn="ctr">
              <a:buNone/>
            </a:pPr>
            <a:r>
              <a:rPr lang="en-US" sz="800" dirty="0">
                <a:solidFill>
                  <a:srgbClr val="8B8FA8"/>
                </a:solidFill>
              </a:rPr>
              <a:t>Report Pages</a:t>
            </a:r>
            <a:endParaRPr lang="en-US" sz="800" dirty="0"/>
          </a:p>
        </p:txBody>
      </p:sp>
      <p:sp>
        <p:nvSpPr>
          <p:cNvPr id="20" name="Text 18"/>
          <p:cNvSpPr/>
          <p:nvPr/>
        </p:nvSpPr>
        <p:spPr>
          <a:xfrm>
            <a:off x="6126480" y="320040"/>
            <a:ext cx="2834640" cy="228600"/>
          </a:xfrm>
          <a:prstGeom prst="rect">
            <a:avLst/>
          </a:prstGeom>
          <a:noFill/>
          <a:ln/>
        </p:spPr>
        <p:txBody>
          <a:bodyPr wrap="square" lIns="0" tIns="0" rIns="0" bIns="0" rtlCol="0" anchor="ctr"/>
          <a:lstStyle/>
          <a:p>
            <a:pPr marL="0" indent="0">
              <a:buNone/>
            </a:pPr>
            <a:r>
              <a:rPr lang="en-US" sz="800" b="1" kern="0" spc="300" dirty="0">
                <a:solidFill>
                  <a:srgbClr val="C9A84C"/>
                </a:solidFill>
              </a:rPr>
              <a:t>AUTHOR NAME</a:t>
            </a:r>
            <a:endParaRPr lang="en-US" sz="800" dirty="0"/>
          </a:p>
        </p:txBody>
      </p:sp>
      <p:sp>
        <p:nvSpPr>
          <p:cNvPr id="21" name="Text 19"/>
          <p:cNvSpPr/>
          <p:nvPr/>
        </p:nvSpPr>
        <p:spPr>
          <a:xfrm>
            <a:off x="6126480" y="548640"/>
            <a:ext cx="2834640" cy="457200"/>
          </a:xfrm>
          <a:prstGeom prst="rect">
            <a:avLst/>
          </a:prstGeom>
          <a:noFill/>
          <a:ln/>
        </p:spPr>
        <p:txBody>
          <a:bodyPr wrap="square" lIns="0" tIns="0" rIns="0" bIns="0" rtlCol="0" anchor="ctr"/>
          <a:lstStyle/>
          <a:p>
            <a:pPr marL="0" indent="0">
              <a:buNone/>
            </a:pPr>
            <a:r>
              <a:rPr lang="en-US" sz="2200" b="1" dirty="0">
                <a:solidFill>
                  <a:srgbClr val="F5F0E8"/>
                </a:solidFill>
              </a:rPr>
              <a:t>DENISE MARIA JAMES</a:t>
            </a:r>
            <a:endParaRPr lang="en-US" sz="2200" dirty="0"/>
          </a:p>
        </p:txBody>
      </p:sp>
      <p:sp>
        <p:nvSpPr>
          <p:cNvPr id="22" name="Shape 20"/>
          <p:cNvSpPr/>
          <p:nvPr/>
        </p:nvSpPr>
        <p:spPr>
          <a:xfrm>
            <a:off x="6126480" y="1143000"/>
            <a:ext cx="2788920" cy="402336"/>
          </a:xfrm>
          <a:prstGeom prst="rect">
            <a:avLst/>
          </a:prstGeom>
          <a:solidFill>
            <a:srgbClr val="161B2A"/>
          </a:solidFill>
          <a:ln w="12700">
            <a:solidFill>
              <a:srgbClr val="2A2F40"/>
            </a:solidFill>
            <a:prstDash val="solid"/>
          </a:ln>
        </p:spPr>
        <p:txBody>
          <a:bodyPr/>
          <a:lstStyle/>
          <a:p>
            <a:endParaRPr lang="en-IN"/>
          </a:p>
        </p:txBody>
      </p:sp>
      <p:sp>
        <p:nvSpPr>
          <p:cNvPr id="23" name="Text 21"/>
          <p:cNvSpPr/>
          <p:nvPr/>
        </p:nvSpPr>
        <p:spPr>
          <a:xfrm>
            <a:off x="6263640" y="1179576"/>
            <a:ext cx="1005840" cy="164592"/>
          </a:xfrm>
          <a:prstGeom prst="rect">
            <a:avLst/>
          </a:prstGeom>
          <a:noFill/>
          <a:ln/>
        </p:spPr>
        <p:txBody>
          <a:bodyPr wrap="square" lIns="0" tIns="0" rIns="0" bIns="0" rtlCol="0" anchor="ctr"/>
          <a:lstStyle/>
          <a:p>
            <a:pPr marL="0" indent="0">
              <a:buNone/>
            </a:pPr>
            <a:r>
              <a:rPr lang="en-US" sz="750" b="1" kern="0" spc="100" dirty="0">
                <a:solidFill>
                  <a:srgbClr val="8B8FA8"/>
                </a:solidFill>
              </a:rPr>
              <a:t>Dataset</a:t>
            </a:r>
            <a:endParaRPr lang="en-US" sz="750" dirty="0"/>
          </a:p>
        </p:txBody>
      </p:sp>
      <p:sp>
        <p:nvSpPr>
          <p:cNvPr id="24" name="Text 22"/>
          <p:cNvSpPr/>
          <p:nvPr/>
        </p:nvSpPr>
        <p:spPr>
          <a:xfrm>
            <a:off x="6263640" y="1325880"/>
            <a:ext cx="2468880" cy="164592"/>
          </a:xfrm>
          <a:prstGeom prst="rect">
            <a:avLst/>
          </a:prstGeom>
          <a:noFill/>
          <a:ln/>
        </p:spPr>
        <p:txBody>
          <a:bodyPr wrap="square" lIns="0" tIns="0" rIns="0" bIns="0" rtlCol="0" anchor="ctr"/>
          <a:lstStyle/>
          <a:p>
            <a:pPr marL="0" indent="0">
              <a:buNone/>
            </a:pPr>
            <a:r>
              <a:rPr lang="en-US" sz="1000" dirty="0">
                <a:solidFill>
                  <a:srgbClr val="F5F0E8"/>
                </a:solidFill>
              </a:rPr>
              <a:t>Excel — 7 Sheets</a:t>
            </a:r>
            <a:endParaRPr lang="en-US" sz="1000" dirty="0"/>
          </a:p>
        </p:txBody>
      </p:sp>
      <p:sp>
        <p:nvSpPr>
          <p:cNvPr id="25" name="Shape 23"/>
          <p:cNvSpPr/>
          <p:nvPr/>
        </p:nvSpPr>
        <p:spPr>
          <a:xfrm>
            <a:off x="6126480" y="1645920"/>
            <a:ext cx="2788920" cy="402336"/>
          </a:xfrm>
          <a:prstGeom prst="rect">
            <a:avLst/>
          </a:prstGeom>
          <a:solidFill>
            <a:srgbClr val="161B2A"/>
          </a:solidFill>
          <a:ln w="12700">
            <a:solidFill>
              <a:srgbClr val="2A2F40"/>
            </a:solidFill>
            <a:prstDash val="solid"/>
          </a:ln>
        </p:spPr>
        <p:txBody>
          <a:bodyPr/>
          <a:lstStyle/>
          <a:p>
            <a:endParaRPr lang="en-IN"/>
          </a:p>
        </p:txBody>
      </p:sp>
      <p:sp>
        <p:nvSpPr>
          <p:cNvPr id="26" name="Text 24"/>
          <p:cNvSpPr/>
          <p:nvPr/>
        </p:nvSpPr>
        <p:spPr>
          <a:xfrm>
            <a:off x="6263640" y="1682496"/>
            <a:ext cx="1005840" cy="164592"/>
          </a:xfrm>
          <a:prstGeom prst="rect">
            <a:avLst/>
          </a:prstGeom>
          <a:noFill/>
          <a:ln/>
        </p:spPr>
        <p:txBody>
          <a:bodyPr wrap="square" lIns="0" tIns="0" rIns="0" bIns="0" rtlCol="0" anchor="ctr"/>
          <a:lstStyle/>
          <a:p>
            <a:pPr marL="0" indent="0">
              <a:buNone/>
            </a:pPr>
            <a:r>
              <a:rPr lang="en-US" sz="750" b="1" kern="0" spc="100" dirty="0">
                <a:solidFill>
                  <a:srgbClr val="8B8FA8"/>
                </a:solidFill>
              </a:rPr>
              <a:t>Records</a:t>
            </a:r>
            <a:endParaRPr lang="en-US" sz="750" dirty="0"/>
          </a:p>
        </p:txBody>
      </p:sp>
      <p:sp>
        <p:nvSpPr>
          <p:cNvPr id="27" name="Text 25"/>
          <p:cNvSpPr/>
          <p:nvPr/>
        </p:nvSpPr>
        <p:spPr>
          <a:xfrm>
            <a:off x="6263640" y="1828800"/>
            <a:ext cx="2468880" cy="164592"/>
          </a:xfrm>
          <a:prstGeom prst="rect">
            <a:avLst/>
          </a:prstGeom>
          <a:noFill/>
          <a:ln/>
        </p:spPr>
        <p:txBody>
          <a:bodyPr wrap="square" lIns="0" tIns="0" rIns="0" bIns="0" rtlCol="0" anchor="ctr"/>
          <a:lstStyle/>
          <a:p>
            <a:pPr marL="0" indent="0">
              <a:buNone/>
            </a:pPr>
            <a:r>
              <a:rPr lang="en-US" sz="1000" dirty="0">
                <a:solidFill>
                  <a:srgbClr val="F5F0E8"/>
                </a:solidFill>
              </a:rPr>
              <a:t>1,200 Orders</a:t>
            </a:r>
            <a:endParaRPr lang="en-US" sz="1000" dirty="0"/>
          </a:p>
        </p:txBody>
      </p:sp>
      <p:sp>
        <p:nvSpPr>
          <p:cNvPr id="28" name="Shape 26"/>
          <p:cNvSpPr/>
          <p:nvPr/>
        </p:nvSpPr>
        <p:spPr>
          <a:xfrm>
            <a:off x="6126480" y="2148840"/>
            <a:ext cx="2788920" cy="402336"/>
          </a:xfrm>
          <a:prstGeom prst="rect">
            <a:avLst/>
          </a:prstGeom>
          <a:solidFill>
            <a:srgbClr val="161B2A"/>
          </a:solidFill>
          <a:ln w="12700">
            <a:solidFill>
              <a:srgbClr val="2A2F40"/>
            </a:solidFill>
            <a:prstDash val="solid"/>
          </a:ln>
        </p:spPr>
        <p:txBody>
          <a:bodyPr/>
          <a:lstStyle/>
          <a:p>
            <a:endParaRPr lang="en-IN"/>
          </a:p>
        </p:txBody>
      </p:sp>
      <p:sp>
        <p:nvSpPr>
          <p:cNvPr id="29" name="Text 27"/>
          <p:cNvSpPr/>
          <p:nvPr/>
        </p:nvSpPr>
        <p:spPr>
          <a:xfrm>
            <a:off x="6263640" y="2185416"/>
            <a:ext cx="1005840" cy="164592"/>
          </a:xfrm>
          <a:prstGeom prst="rect">
            <a:avLst/>
          </a:prstGeom>
          <a:noFill/>
          <a:ln/>
        </p:spPr>
        <p:txBody>
          <a:bodyPr wrap="square" lIns="0" tIns="0" rIns="0" bIns="0" rtlCol="0" anchor="ctr"/>
          <a:lstStyle/>
          <a:p>
            <a:pPr marL="0" indent="0">
              <a:buNone/>
            </a:pPr>
            <a:r>
              <a:rPr lang="en-US" sz="750" b="1" kern="0" spc="100" dirty="0">
                <a:solidFill>
                  <a:srgbClr val="8B8FA8"/>
                </a:solidFill>
              </a:rPr>
              <a:t>Clients</a:t>
            </a:r>
            <a:endParaRPr lang="en-US" sz="750" dirty="0"/>
          </a:p>
        </p:txBody>
      </p:sp>
      <p:sp>
        <p:nvSpPr>
          <p:cNvPr id="30" name="Text 28"/>
          <p:cNvSpPr/>
          <p:nvPr/>
        </p:nvSpPr>
        <p:spPr>
          <a:xfrm>
            <a:off x="6263640" y="2331720"/>
            <a:ext cx="2468880" cy="164592"/>
          </a:xfrm>
          <a:prstGeom prst="rect">
            <a:avLst/>
          </a:prstGeom>
          <a:noFill/>
          <a:ln/>
        </p:spPr>
        <p:txBody>
          <a:bodyPr wrap="square" lIns="0" tIns="0" rIns="0" bIns="0" rtlCol="0" anchor="ctr"/>
          <a:lstStyle/>
          <a:p>
            <a:pPr marL="0" indent="0">
              <a:buNone/>
            </a:pPr>
            <a:r>
              <a:rPr lang="en-US" sz="1000" dirty="0">
                <a:solidFill>
                  <a:srgbClr val="F5F0E8"/>
                </a:solidFill>
              </a:rPr>
              <a:t>300 Profiles</a:t>
            </a:r>
            <a:endParaRPr lang="en-US" sz="1000" dirty="0"/>
          </a:p>
        </p:txBody>
      </p:sp>
      <p:sp>
        <p:nvSpPr>
          <p:cNvPr id="31" name="Shape 29"/>
          <p:cNvSpPr/>
          <p:nvPr/>
        </p:nvSpPr>
        <p:spPr>
          <a:xfrm>
            <a:off x="6126480" y="2651760"/>
            <a:ext cx="2788920" cy="402336"/>
          </a:xfrm>
          <a:prstGeom prst="rect">
            <a:avLst/>
          </a:prstGeom>
          <a:solidFill>
            <a:srgbClr val="161B2A"/>
          </a:solidFill>
          <a:ln w="12700">
            <a:solidFill>
              <a:srgbClr val="2A2F40"/>
            </a:solidFill>
            <a:prstDash val="solid"/>
          </a:ln>
        </p:spPr>
        <p:txBody>
          <a:bodyPr/>
          <a:lstStyle/>
          <a:p>
            <a:endParaRPr lang="en-IN"/>
          </a:p>
        </p:txBody>
      </p:sp>
      <p:sp>
        <p:nvSpPr>
          <p:cNvPr id="32" name="Text 30"/>
          <p:cNvSpPr/>
          <p:nvPr/>
        </p:nvSpPr>
        <p:spPr>
          <a:xfrm>
            <a:off x="6263640" y="2688336"/>
            <a:ext cx="1005840" cy="164592"/>
          </a:xfrm>
          <a:prstGeom prst="rect">
            <a:avLst/>
          </a:prstGeom>
          <a:noFill/>
          <a:ln/>
        </p:spPr>
        <p:txBody>
          <a:bodyPr wrap="square" lIns="0" tIns="0" rIns="0" bIns="0" rtlCol="0" anchor="ctr"/>
          <a:lstStyle/>
          <a:p>
            <a:pPr marL="0" indent="0">
              <a:buNone/>
            </a:pPr>
            <a:r>
              <a:rPr lang="en-US" sz="750" b="1" kern="0" spc="100" dirty="0">
                <a:solidFill>
                  <a:srgbClr val="8B8FA8"/>
                </a:solidFill>
              </a:rPr>
              <a:t>SKUs</a:t>
            </a:r>
            <a:endParaRPr lang="en-US" sz="750" dirty="0"/>
          </a:p>
        </p:txBody>
      </p:sp>
      <p:sp>
        <p:nvSpPr>
          <p:cNvPr id="33" name="Text 31"/>
          <p:cNvSpPr/>
          <p:nvPr/>
        </p:nvSpPr>
        <p:spPr>
          <a:xfrm>
            <a:off x="6263640" y="2834640"/>
            <a:ext cx="2468880" cy="164592"/>
          </a:xfrm>
          <a:prstGeom prst="rect">
            <a:avLst/>
          </a:prstGeom>
          <a:noFill/>
          <a:ln/>
        </p:spPr>
        <p:txBody>
          <a:bodyPr wrap="square" lIns="0" tIns="0" rIns="0" bIns="0" rtlCol="0" anchor="ctr"/>
          <a:lstStyle/>
          <a:p>
            <a:pPr marL="0" indent="0">
              <a:buNone/>
            </a:pPr>
            <a:r>
              <a:rPr lang="en-US" sz="1000" dirty="0">
                <a:solidFill>
                  <a:srgbClr val="F5F0E8"/>
                </a:solidFill>
              </a:rPr>
              <a:t>350 Products</a:t>
            </a:r>
            <a:endParaRPr lang="en-US" sz="1000" dirty="0"/>
          </a:p>
        </p:txBody>
      </p:sp>
      <p:sp>
        <p:nvSpPr>
          <p:cNvPr id="34" name="Shape 32"/>
          <p:cNvSpPr/>
          <p:nvPr/>
        </p:nvSpPr>
        <p:spPr>
          <a:xfrm>
            <a:off x="6126480" y="3154680"/>
            <a:ext cx="2788920" cy="402336"/>
          </a:xfrm>
          <a:prstGeom prst="rect">
            <a:avLst/>
          </a:prstGeom>
          <a:solidFill>
            <a:srgbClr val="161B2A"/>
          </a:solidFill>
          <a:ln w="12700">
            <a:solidFill>
              <a:srgbClr val="2A2F40"/>
            </a:solidFill>
            <a:prstDash val="solid"/>
          </a:ln>
        </p:spPr>
        <p:txBody>
          <a:bodyPr/>
          <a:lstStyle/>
          <a:p>
            <a:endParaRPr lang="en-IN"/>
          </a:p>
        </p:txBody>
      </p:sp>
      <p:sp>
        <p:nvSpPr>
          <p:cNvPr id="35" name="Text 33"/>
          <p:cNvSpPr/>
          <p:nvPr/>
        </p:nvSpPr>
        <p:spPr>
          <a:xfrm>
            <a:off x="6263640" y="3191256"/>
            <a:ext cx="1005840" cy="164592"/>
          </a:xfrm>
          <a:prstGeom prst="rect">
            <a:avLst/>
          </a:prstGeom>
          <a:noFill/>
          <a:ln/>
        </p:spPr>
        <p:txBody>
          <a:bodyPr wrap="square" lIns="0" tIns="0" rIns="0" bIns="0" rtlCol="0" anchor="ctr"/>
          <a:lstStyle/>
          <a:p>
            <a:pPr marL="0" indent="0">
              <a:buNone/>
            </a:pPr>
            <a:r>
              <a:rPr lang="en-US" sz="750" b="1" kern="0" spc="100" dirty="0">
                <a:solidFill>
                  <a:srgbClr val="8B8FA8"/>
                </a:solidFill>
              </a:rPr>
              <a:t>Period</a:t>
            </a:r>
            <a:endParaRPr lang="en-US" sz="750" dirty="0"/>
          </a:p>
        </p:txBody>
      </p:sp>
      <p:sp>
        <p:nvSpPr>
          <p:cNvPr id="36" name="Text 34"/>
          <p:cNvSpPr/>
          <p:nvPr/>
        </p:nvSpPr>
        <p:spPr>
          <a:xfrm>
            <a:off x="6263640" y="3337560"/>
            <a:ext cx="2468880" cy="164592"/>
          </a:xfrm>
          <a:prstGeom prst="rect">
            <a:avLst/>
          </a:prstGeom>
          <a:noFill/>
          <a:ln/>
        </p:spPr>
        <p:txBody>
          <a:bodyPr wrap="square" lIns="0" tIns="0" rIns="0" bIns="0" rtlCol="0" anchor="ctr"/>
          <a:lstStyle/>
          <a:p>
            <a:pPr marL="0" indent="0">
              <a:buNone/>
            </a:pPr>
            <a:r>
              <a:rPr lang="en-US" sz="1000" dirty="0">
                <a:solidFill>
                  <a:srgbClr val="F5F0E8"/>
                </a:solidFill>
              </a:rPr>
              <a:t>2023 – 2024</a:t>
            </a:r>
            <a:endParaRPr lang="en-US" sz="1000" dirty="0"/>
          </a:p>
        </p:txBody>
      </p:sp>
      <p:sp>
        <p:nvSpPr>
          <p:cNvPr id="37" name="Shape 35"/>
          <p:cNvSpPr/>
          <p:nvPr/>
        </p:nvSpPr>
        <p:spPr>
          <a:xfrm>
            <a:off x="6126480" y="3657600"/>
            <a:ext cx="2788920" cy="402336"/>
          </a:xfrm>
          <a:prstGeom prst="rect">
            <a:avLst/>
          </a:prstGeom>
          <a:solidFill>
            <a:srgbClr val="161B2A"/>
          </a:solidFill>
          <a:ln w="12700">
            <a:solidFill>
              <a:srgbClr val="2A2F40"/>
            </a:solidFill>
            <a:prstDash val="solid"/>
          </a:ln>
        </p:spPr>
        <p:txBody>
          <a:bodyPr/>
          <a:lstStyle/>
          <a:p>
            <a:endParaRPr lang="en-IN"/>
          </a:p>
        </p:txBody>
      </p:sp>
      <p:sp>
        <p:nvSpPr>
          <p:cNvPr id="38" name="Text 36"/>
          <p:cNvSpPr/>
          <p:nvPr/>
        </p:nvSpPr>
        <p:spPr>
          <a:xfrm>
            <a:off x="6263640" y="3694176"/>
            <a:ext cx="1005840" cy="164592"/>
          </a:xfrm>
          <a:prstGeom prst="rect">
            <a:avLst/>
          </a:prstGeom>
          <a:noFill/>
          <a:ln/>
        </p:spPr>
        <p:txBody>
          <a:bodyPr wrap="square" lIns="0" tIns="0" rIns="0" bIns="0" rtlCol="0" anchor="ctr"/>
          <a:lstStyle/>
          <a:p>
            <a:pPr marL="0" indent="0">
              <a:buNone/>
            </a:pPr>
            <a:r>
              <a:rPr lang="en-US" sz="750" b="1" kern="0" spc="100" dirty="0">
                <a:solidFill>
                  <a:srgbClr val="8B8FA8"/>
                </a:solidFill>
              </a:rPr>
              <a:t>Pages</a:t>
            </a:r>
            <a:endParaRPr lang="en-US" sz="750" dirty="0"/>
          </a:p>
        </p:txBody>
      </p:sp>
      <p:sp>
        <p:nvSpPr>
          <p:cNvPr id="39" name="Text 37"/>
          <p:cNvSpPr/>
          <p:nvPr/>
        </p:nvSpPr>
        <p:spPr>
          <a:xfrm>
            <a:off x="6263640" y="3840480"/>
            <a:ext cx="2468880" cy="164592"/>
          </a:xfrm>
          <a:prstGeom prst="rect">
            <a:avLst/>
          </a:prstGeom>
          <a:noFill/>
          <a:ln/>
        </p:spPr>
        <p:txBody>
          <a:bodyPr wrap="square" lIns="0" tIns="0" rIns="0" bIns="0" rtlCol="0" anchor="ctr"/>
          <a:lstStyle/>
          <a:p>
            <a:pPr marL="0" indent="0">
              <a:buNone/>
            </a:pPr>
            <a:r>
              <a:rPr lang="en-US" sz="1000" dirty="0">
                <a:solidFill>
                  <a:srgbClr val="F5F0E8"/>
                </a:solidFill>
              </a:rPr>
              <a:t>6 Dashboard Pages</a:t>
            </a:r>
            <a:endParaRPr lang="en-US" sz="1000" dirty="0"/>
          </a:p>
        </p:txBody>
      </p:sp>
      <p:sp>
        <p:nvSpPr>
          <p:cNvPr id="40" name="Shape 38"/>
          <p:cNvSpPr/>
          <p:nvPr/>
        </p:nvSpPr>
        <p:spPr>
          <a:xfrm>
            <a:off x="0" y="4846320"/>
            <a:ext cx="9144000" cy="297180"/>
          </a:xfrm>
          <a:prstGeom prst="rect">
            <a:avLst/>
          </a:prstGeom>
          <a:solidFill>
            <a:srgbClr val="C9A84C"/>
          </a:solidFill>
          <a:ln w="12700">
            <a:solidFill>
              <a:srgbClr val="C9A84C"/>
            </a:solidFill>
            <a:prstDash val="solid"/>
          </a:ln>
        </p:spPr>
        <p:txBody>
          <a:bodyPr/>
          <a:lstStyle/>
          <a:p>
            <a:endParaRPr lang="en-IN"/>
          </a:p>
        </p:txBody>
      </p:sp>
      <p:sp>
        <p:nvSpPr>
          <p:cNvPr id="41" name="Text 39"/>
          <p:cNvSpPr/>
          <p:nvPr/>
        </p:nvSpPr>
        <p:spPr>
          <a:xfrm>
            <a:off x="274320" y="4846320"/>
            <a:ext cx="8595360" cy="297180"/>
          </a:xfrm>
          <a:prstGeom prst="rect">
            <a:avLst/>
          </a:prstGeom>
          <a:noFill/>
          <a:ln/>
        </p:spPr>
        <p:txBody>
          <a:bodyPr wrap="square" lIns="0" tIns="0" rIns="0" bIns="0" rtlCol="0" anchor="ctr"/>
          <a:lstStyle/>
          <a:p>
            <a:pPr marL="0" indent="0" algn="ctr">
              <a:buNone/>
            </a:pPr>
            <a:r>
              <a:rPr lang="en-US" sz="800" b="1" kern="0" spc="150" dirty="0">
                <a:solidFill>
                  <a:srgbClr val="0D0D0D"/>
                </a:solidFill>
              </a:rPr>
              <a:t>LUXURY FASHION &amp; APPAREL ANALYTICS  ·  POWER BI INTELLIGENCE DASHBOARD  ·  2023–2024</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9A84C"/>
          </a:solidFill>
          <a:ln w="12700">
            <a:solidFill>
              <a:srgbClr val="C9A84C"/>
            </a:solidFill>
            <a:prstDash val="solid"/>
          </a:ln>
        </p:spPr>
        <p:txBody>
          <a:bodyPr/>
          <a:lstStyle/>
          <a:p>
            <a:endParaRPr lang="en-IN"/>
          </a:p>
        </p:txBody>
      </p:sp>
      <p:sp>
        <p:nvSpPr>
          <p:cNvPr id="3" name="Shape 1"/>
          <p:cNvSpPr/>
          <p:nvPr/>
        </p:nvSpPr>
        <p:spPr>
          <a:xfrm>
            <a:off x="0" y="5074920"/>
            <a:ext cx="9144000" cy="68580"/>
          </a:xfrm>
          <a:prstGeom prst="rect">
            <a:avLst/>
          </a:prstGeom>
          <a:solidFill>
            <a:srgbClr val="1A1F2E"/>
          </a:solidFill>
          <a:ln w="12700">
            <a:solidFill>
              <a:srgbClr val="1A1F2E"/>
            </a:solidFill>
            <a:prstDash val="solid"/>
          </a:ln>
        </p:spPr>
        <p:txBody>
          <a:bodyPr/>
          <a:lstStyle/>
          <a:p>
            <a:endParaRPr lang="en-IN"/>
          </a:p>
        </p:txBody>
      </p:sp>
      <p:sp>
        <p:nvSpPr>
          <p:cNvPr id="4" name="Text 2"/>
          <p:cNvSpPr/>
          <p:nvPr/>
        </p:nvSpPr>
        <p:spPr>
          <a:xfrm>
            <a:off x="274320" y="5074920"/>
            <a:ext cx="6400800" cy="68580"/>
          </a:xfrm>
          <a:prstGeom prst="rect">
            <a:avLst/>
          </a:prstGeom>
          <a:noFill/>
          <a:ln/>
        </p:spPr>
        <p:txBody>
          <a:bodyPr wrap="square" lIns="0" tIns="0" rIns="0" bIns="0" rtlCol="0" anchor="ctr"/>
          <a:lstStyle/>
          <a:p>
            <a:pPr marL="0" indent="0">
              <a:buNone/>
            </a:pPr>
            <a:r>
              <a:rPr lang="en-US" sz="700" dirty="0">
                <a:solidFill>
                  <a:srgbClr val="8B8FA8"/>
                </a:solidFill>
              </a:rPr>
              <a:t>  Luxury Fashion Performance Intelligence</a:t>
            </a:r>
            <a:endParaRPr lang="en-US" sz="700" dirty="0"/>
          </a:p>
        </p:txBody>
      </p:sp>
      <p:sp>
        <p:nvSpPr>
          <p:cNvPr id="6" name="Shape 4"/>
          <p:cNvSpPr/>
          <p:nvPr/>
        </p:nvSpPr>
        <p:spPr>
          <a:xfrm>
            <a:off x="365760" y="164592"/>
            <a:ext cx="2194560" cy="201168"/>
          </a:xfrm>
          <a:prstGeom prst="rect">
            <a:avLst/>
          </a:prstGeom>
          <a:solidFill>
            <a:srgbClr val="C9A84C"/>
          </a:solidFill>
          <a:ln w="12700">
            <a:solidFill>
              <a:srgbClr val="C9A84C"/>
            </a:solidFill>
            <a:prstDash val="solid"/>
          </a:ln>
        </p:spPr>
        <p:txBody>
          <a:bodyPr/>
          <a:lstStyle/>
          <a:p>
            <a:endParaRPr lang="en-IN"/>
          </a:p>
        </p:txBody>
      </p:sp>
      <p:sp>
        <p:nvSpPr>
          <p:cNvPr id="7" name="Text 5"/>
          <p:cNvSpPr/>
          <p:nvPr/>
        </p:nvSpPr>
        <p:spPr>
          <a:xfrm>
            <a:off x="365760" y="164592"/>
            <a:ext cx="2194560" cy="201168"/>
          </a:xfrm>
          <a:prstGeom prst="rect">
            <a:avLst/>
          </a:prstGeom>
          <a:noFill/>
          <a:ln/>
        </p:spPr>
        <p:txBody>
          <a:bodyPr wrap="square" lIns="0" tIns="0" rIns="0" bIns="0" rtlCol="0" anchor="ctr"/>
          <a:lstStyle/>
          <a:p>
            <a:pPr marL="0" indent="0" algn="ctr">
              <a:buNone/>
            </a:pPr>
            <a:r>
              <a:rPr lang="en-US" sz="750" b="1" kern="0" spc="200" dirty="0">
                <a:solidFill>
                  <a:srgbClr val="0D0D0D"/>
                </a:solidFill>
              </a:rPr>
              <a:t>01  ·  INTRODUCTION</a:t>
            </a:r>
            <a:endParaRPr lang="en-US" sz="750" dirty="0"/>
          </a:p>
        </p:txBody>
      </p:sp>
      <p:sp>
        <p:nvSpPr>
          <p:cNvPr id="8" name="Text 6"/>
          <p:cNvSpPr/>
          <p:nvPr/>
        </p:nvSpPr>
        <p:spPr>
          <a:xfrm>
            <a:off x="365760" y="457200"/>
            <a:ext cx="8229600" cy="457200"/>
          </a:xfrm>
          <a:prstGeom prst="rect">
            <a:avLst/>
          </a:prstGeom>
          <a:noFill/>
          <a:ln/>
        </p:spPr>
        <p:txBody>
          <a:bodyPr wrap="square" lIns="0" tIns="0" rIns="0" bIns="0" rtlCol="0" anchor="ctr"/>
          <a:lstStyle/>
          <a:p>
            <a:pPr marL="0" indent="0">
              <a:buNone/>
            </a:pPr>
            <a:r>
              <a:rPr lang="en-US" sz="2600" b="1" dirty="0">
                <a:solidFill>
                  <a:srgbClr val="F5F0E8"/>
                </a:solidFill>
              </a:rPr>
              <a:t>Project Background &amp; Objective</a:t>
            </a:r>
            <a:endParaRPr lang="en-US" sz="2600" dirty="0"/>
          </a:p>
        </p:txBody>
      </p:sp>
      <p:sp>
        <p:nvSpPr>
          <p:cNvPr id="9" name="Text 7"/>
          <p:cNvSpPr/>
          <p:nvPr/>
        </p:nvSpPr>
        <p:spPr>
          <a:xfrm>
            <a:off x="365760" y="896112"/>
            <a:ext cx="8229600" cy="201168"/>
          </a:xfrm>
          <a:prstGeom prst="rect">
            <a:avLst/>
          </a:prstGeom>
          <a:noFill/>
          <a:ln/>
        </p:spPr>
        <p:txBody>
          <a:bodyPr wrap="square" lIns="0" tIns="0" rIns="0" bIns="0" rtlCol="0" anchor="ctr"/>
          <a:lstStyle/>
          <a:p>
            <a:pPr marL="0" indent="0">
              <a:buNone/>
            </a:pPr>
            <a:r>
              <a:rPr lang="en-US" sz="1100" dirty="0">
                <a:solidFill>
                  <a:srgbClr val="8B8FA8"/>
                </a:solidFill>
              </a:rPr>
              <a:t>Analytical approach and business context</a:t>
            </a:r>
            <a:endParaRPr lang="en-US" sz="1100" dirty="0"/>
          </a:p>
        </p:txBody>
      </p:sp>
      <p:sp>
        <p:nvSpPr>
          <p:cNvPr id="10" name="Shape 8"/>
          <p:cNvSpPr/>
          <p:nvPr/>
        </p:nvSpPr>
        <p:spPr>
          <a:xfrm>
            <a:off x="365760" y="1207008"/>
            <a:ext cx="5029200" cy="1371600"/>
          </a:xfrm>
          <a:prstGeom prst="rect">
            <a:avLst/>
          </a:prstGeom>
          <a:solidFill>
            <a:srgbClr val="1A1F2E"/>
          </a:solidFill>
          <a:ln w="12700">
            <a:solidFill>
              <a:srgbClr val="2A2F40"/>
            </a:solidFill>
            <a:prstDash val="solid"/>
          </a:ln>
          <a:effectLst>
            <a:outerShdw blurRad="101600" dist="38100" dir="8100000" algn="bl" rotWithShape="0">
              <a:srgbClr val="000000">
                <a:alpha val="25000"/>
              </a:srgbClr>
            </a:outerShdw>
          </a:effectLst>
        </p:spPr>
        <p:txBody>
          <a:bodyPr/>
          <a:lstStyle/>
          <a:p>
            <a:endParaRPr lang="en-IN"/>
          </a:p>
        </p:txBody>
      </p:sp>
      <p:sp>
        <p:nvSpPr>
          <p:cNvPr id="11" name="Shape 9"/>
          <p:cNvSpPr/>
          <p:nvPr/>
        </p:nvSpPr>
        <p:spPr>
          <a:xfrm>
            <a:off x="365760" y="1207008"/>
            <a:ext cx="54864" cy="1371600"/>
          </a:xfrm>
          <a:prstGeom prst="rect">
            <a:avLst/>
          </a:prstGeom>
          <a:solidFill>
            <a:srgbClr val="C9A84C"/>
          </a:solidFill>
          <a:ln w="12700">
            <a:solidFill>
              <a:srgbClr val="C9A84C"/>
            </a:solidFill>
            <a:prstDash val="solid"/>
          </a:ln>
        </p:spPr>
        <p:txBody>
          <a:bodyPr/>
          <a:lstStyle/>
          <a:p>
            <a:endParaRPr lang="en-IN"/>
          </a:p>
        </p:txBody>
      </p:sp>
      <p:sp>
        <p:nvSpPr>
          <p:cNvPr id="12" name="Text 10"/>
          <p:cNvSpPr/>
          <p:nvPr/>
        </p:nvSpPr>
        <p:spPr>
          <a:xfrm>
            <a:off x="548640" y="1280160"/>
            <a:ext cx="4663440" cy="228600"/>
          </a:xfrm>
          <a:prstGeom prst="rect">
            <a:avLst/>
          </a:prstGeom>
          <a:noFill/>
          <a:ln/>
        </p:spPr>
        <p:txBody>
          <a:bodyPr wrap="square" lIns="0" tIns="0" rIns="0" bIns="0" rtlCol="0" anchor="ctr"/>
          <a:lstStyle/>
          <a:p>
            <a:pPr marL="0" indent="0">
              <a:buNone/>
            </a:pPr>
            <a:r>
              <a:rPr lang="en-US" sz="1100" b="1" dirty="0">
                <a:solidFill>
                  <a:srgbClr val="C9A84C"/>
                </a:solidFill>
              </a:rPr>
              <a:t>About This Study</a:t>
            </a:r>
            <a:endParaRPr lang="en-US" sz="1100" dirty="0"/>
          </a:p>
        </p:txBody>
      </p:sp>
      <p:sp>
        <p:nvSpPr>
          <p:cNvPr id="13" name="Text 11"/>
          <p:cNvSpPr/>
          <p:nvPr/>
        </p:nvSpPr>
        <p:spPr>
          <a:xfrm>
            <a:off x="548640" y="1508760"/>
            <a:ext cx="4663440" cy="960120"/>
          </a:xfrm>
          <a:prstGeom prst="rect">
            <a:avLst/>
          </a:prstGeom>
          <a:noFill/>
          <a:ln/>
        </p:spPr>
        <p:txBody>
          <a:bodyPr wrap="square" lIns="0" tIns="0" rIns="0" bIns="0" rtlCol="0" anchor="ctr"/>
          <a:lstStyle/>
          <a:p>
            <a:pPr marL="0" indent="0">
              <a:lnSpc>
                <a:spcPct val="140000"/>
              </a:lnSpc>
              <a:buNone/>
            </a:pPr>
            <a:r>
              <a:rPr lang="en-US" sz="950" dirty="0">
                <a:solidFill>
                  <a:srgbClr val="8B8FA8"/>
                </a:solidFill>
              </a:rPr>
              <a:t>This platform delivers a comprehensive view of luxury retail performance across 10 brand houses, 300 client profiles, and 1,200 transactions spanning 2023–2024. By combining RFM segmentation, brand equity scoring, and omnichannel attribution, the dashboard transitions from reactive reporting to proactive, client-first intelligence.</a:t>
            </a:r>
            <a:endParaRPr lang="en-US" sz="950" dirty="0"/>
          </a:p>
        </p:txBody>
      </p:sp>
      <p:sp>
        <p:nvSpPr>
          <p:cNvPr id="14" name="Shape 12"/>
          <p:cNvSpPr/>
          <p:nvPr/>
        </p:nvSpPr>
        <p:spPr>
          <a:xfrm>
            <a:off x="5577840" y="1207008"/>
            <a:ext cx="3291840" cy="658368"/>
          </a:xfrm>
          <a:prstGeom prst="rect">
            <a:avLst/>
          </a:prstGeom>
          <a:solidFill>
            <a:srgbClr val="1A1F2E"/>
          </a:solidFill>
          <a:ln w="12700">
            <a:solidFill>
              <a:srgbClr val="2A2F40"/>
            </a:solidFill>
            <a:prstDash val="solid"/>
          </a:ln>
          <a:effectLst>
            <a:outerShdw blurRad="101600" dist="38100" dir="8100000" algn="bl" rotWithShape="0">
              <a:srgbClr val="000000">
                <a:alpha val="25000"/>
              </a:srgbClr>
            </a:outerShdw>
          </a:effectLst>
        </p:spPr>
        <p:txBody>
          <a:bodyPr/>
          <a:lstStyle/>
          <a:p>
            <a:endParaRPr lang="en-IN"/>
          </a:p>
        </p:txBody>
      </p:sp>
      <p:sp>
        <p:nvSpPr>
          <p:cNvPr id="15" name="Shape 13"/>
          <p:cNvSpPr/>
          <p:nvPr/>
        </p:nvSpPr>
        <p:spPr>
          <a:xfrm>
            <a:off x="5577840" y="1207008"/>
            <a:ext cx="54864" cy="658368"/>
          </a:xfrm>
          <a:prstGeom prst="rect">
            <a:avLst/>
          </a:prstGeom>
          <a:solidFill>
            <a:srgbClr val="C9A84C"/>
          </a:solidFill>
          <a:ln w="12700">
            <a:solidFill>
              <a:srgbClr val="C9A84C"/>
            </a:solidFill>
            <a:prstDash val="solid"/>
          </a:ln>
        </p:spPr>
        <p:txBody>
          <a:bodyPr/>
          <a:lstStyle/>
          <a:p>
            <a:endParaRPr lang="en-IN"/>
          </a:p>
        </p:txBody>
      </p:sp>
      <p:sp>
        <p:nvSpPr>
          <p:cNvPr id="16" name="Text 14"/>
          <p:cNvSpPr/>
          <p:nvPr/>
        </p:nvSpPr>
        <p:spPr>
          <a:xfrm>
            <a:off x="5760720" y="1280160"/>
            <a:ext cx="2926080" cy="201168"/>
          </a:xfrm>
          <a:prstGeom prst="rect">
            <a:avLst/>
          </a:prstGeom>
          <a:noFill/>
          <a:ln/>
        </p:spPr>
        <p:txBody>
          <a:bodyPr wrap="square" lIns="0" tIns="0" rIns="0" bIns="0" rtlCol="0" anchor="ctr"/>
          <a:lstStyle/>
          <a:p>
            <a:pPr marL="0" indent="0">
              <a:buNone/>
            </a:pPr>
            <a:r>
              <a:rPr lang="en-US" sz="1100" b="1" dirty="0">
                <a:solidFill>
                  <a:srgbClr val="F5F0E8"/>
                </a:solidFill>
              </a:rPr>
              <a:t>Descriptive Analytics</a:t>
            </a:r>
            <a:endParaRPr lang="en-US" sz="1100" dirty="0"/>
          </a:p>
        </p:txBody>
      </p:sp>
      <p:sp>
        <p:nvSpPr>
          <p:cNvPr id="17" name="Text 15"/>
          <p:cNvSpPr/>
          <p:nvPr/>
        </p:nvSpPr>
        <p:spPr>
          <a:xfrm>
            <a:off x="5760720" y="1481328"/>
            <a:ext cx="2926080" cy="329184"/>
          </a:xfrm>
          <a:prstGeom prst="rect">
            <a:avLst/>
          </a:prstGeom>
          <a:noFill/>
          <a:ln/>
        </p:spPr>
        <p:txBody>
          <a:bodyPr wrap="square" lIns="0" tIns="0" rIns="0" bIns="0" rtlCol="0" anchor="ctr"/>
          <a:lstStyle/>
          <a:p>
            <a:pPr marL="0" indent="0">
              <a:lnSpc>
                <a:spcPct val="130000"/>
              </a:lnSpc>
              <a:buNone/>
            </a:pPr>
            <a:r>
              <a:rPr lang="en-US" sz="1100" dirty="0">
                <a:solidFill>
                  <a:srgbClr val="8B8FA8"/>
                </a:solidFill>
              </a:rPr>
              <a:t>Audit GMV, margin, and client tier performance across brand houses and categories</a:t>
            </a:r>
            <a:endParaRPr lang="en-US" sz="1100" dirty="0"/>
          </a:p>
        </p:txBody>
      </p:sp>
      <p:sp>
        <p:nvSpPr>
          <p:cNvPr id="18" name="Shape 16"/>
          <p:cNvSpPr/>
          <p:nvPr/>
        </p:nvSpPr>
        <p:spPr>
          <a:xfrm>
            <a:off x="5577840" y="1965960"/>
            <a:ext cx="3291840" cy="658368"/>
          </a:xfrm>
          <a:prstGeom prst="rect">
            <a:avLst/>
          </a:prstGeom>
          <a:solidFill>
            <a:srgbClr val="1A1F2E"/>
          </a:solidFill>
          <a:ln w="12700">
            <a:solidFill>
              <a:srgbClr val="2A2F40"/>
            </a:solidFill>
            <a:prstDash val="solid"/>
          </a:ln>
          <a:effectLst>
            <a:outerShdw blurRad="101600" dist="38100" dir="8100000" algn="bl" rotWithShape="0">
              <a:srgbClr val="000000">
                <a:alpha val="25000"/>
              </a:srgbClr>
            </a:outerShdw>
          </a:effectLst>
        </p:spPr>
        <p:txBody>
          <a:bodyPr/>
          <a:lstStyle/>
          <a:p>
            <a:endParaRPr lang="en-IN"/>
          </a:p>
        </p:txBody>
      </p:sp>
      <p:sp>
        <p:nvSpPr>
          <p:cNvPr id="19" name="Shape 17"/>
          <p:cNvSpPr/>
          <p:nvPr/>
        </p:nvSpPr>
        <p:spPr>
          <a:xfrm>
            <a:off x="5577840" y="1965960"/>
            <a:ext cx="54864" cy="658368"/>
          </a:xfrm>
          <a:prstGeom prst="rect">
            <a:avLst/>
          </a:prstGeom>
          <a:solidFill>
            <a:srgbClr val="7F77DD"/>
          </a:solidFill>
          <a:ln w="12700">
            <a:solidFill>
              <a:srgbClr val="7F77DD"/>
            </a:solidFill>
            <a:prstDash val="solid"/>
          </a:ln>
        </p:spPr>
        <p:txBody>
          <a:bodyPr/>
          <a:lstStyle/>
          <a:p>
            <a:endParaRPr lang="en-IN"/>
          </a:p>
        </p:txBody>
      </p:sp>
      <p:sp>
        <p:nvSpPr>
          <p:cNvPr id="20" name="Text 18"/>
          <p:cNvSpPr/>
          <p:nvPr/>
        </p:nvSpPr>
        <p:spPr>
          <a:xfrm>
            <a:off x="5760720" y="2039112"/>
            <a:ext cx="2926080" cy="201168"/>
          </a:xfrm>
          <a:prstGeom prst="rect">
            <a:avLst/>
          </a:prstGeom>
          <a:noFill/>
          <a:ln/>
        </p:spPr>
        <p:txBody>
          <a:bodyPr wrap="square" lIns="0" tIns="0" rIns="0" bIns="0" rtlCol="0" anchor="ctr"/>
          <a:lstStyle/>
          <a:p>
            <a:pPr marL="0" indent="0">
              <a:buNone/>
            </a:pPr>
            <a:r>
              <a:rPr lang="en-US" sz="1100" b="1" dirty="0">
                <a:solidFill>
                  <a:srgbClr val="F5F0E8"/>
                </a:solidFill>
              </a:rPr>
              <a:t>Client Intelligence</a:t>
            </a:r>
            <a:endParaRPr lang="en-US" sz="1100" dirty="0"/>
          </a:p>
        </p:txBody>
      </p:sp>
      <p:sp>
        <p:nvSpPr>
          <p:cNvPr id="21" name="Text 19"/>
          <p:cNvSpPr/>
          <p:nvPr/>
        </p:nvSpPr>
        <p:spPr>
          <a:xfrm>
            <a:off x="5760720" y="2240280"/>
            <a:ext cx="2926080" cy="329184"/>
          </a:xfrm>
          <a:prstGeom prst="rect">
            <a:avLst/>
          </a:prstGeom>
          <a:noFill/>
          <a:ln/>
        </p:spPr>
        <p:txBody>
          <a:bodyPr wrap="square" lIns="0" tIns="0" rIns="0" bIns="0" rtlCol="0" anchor="ctr"/>
          <a:lstStyle/>
          <a:p>
            <a:pPr marL="0" indent="0">
              <a:lnSpc>
                <a:spcPct val="130000"/>
              </a:lnSpc>
              <a:buNone/>
            </a:pPr>
            <a:r>
              <a:rPr lang="en-US" sz="1100" dirty="0">
                <a:solidFill>
                  <a:srgbClr val="8B8FA8"/>
                </a:solidFill>
              </a:rPr>
              <a:t>RFM segmentation, CLTV modelling, and VIC cohort identification across 300 profiles</a:t>
            </a:r>
            <a:endParaRPr lang="en-US" sz="1100" dirty="0"/>
          </a:p>
        </p:txBody>
      </p:sp>
      <p:sp>
        <p:nvSpPr>
          <p:cNvPr id="22" name="Shape 20"/>
          <p:cNvSpPr/>
          <p:nvPr/>
        </p:nvSpPr>
        <p:spPr>
          <a:xfrm>
            <a:off x="5577840" y="2724912"/>
            <a:ext cx="3291840" cy="658368"/>
          </a:xfrm>
          <a:prstGeom prst="rect">
            <a:avLst/>
          </a:prstGeom>
          <a:solidFill>
            <a:srgbClr val="1A1F2E"/>
          </a:solidFill>
          <a:ln w="12700">
            <a:solidFill>
              <a:srgbClr val="2A2F40"/>
            </a:solidFill>
            <a:prstDash val="solid"/>
          </a:ln>
          <a:effectLst>
            <a:outerShdw blurRad="101600" dist="38100" dir="8100000" algn="bl" rotWithShape="0">
              <a:srgbClr val="000000">
                <a:alpha val="25000"/>
              </a:srgbClr>
            </a:outerShdw>
          </a:effectLst>
        </p:spPr>
        <p:txBody>
          <a:bodyPr/>
          <a:lstStyle/>
          <a:p>
            <a:endParaRPr lang="en-IN"/>
          </a:p>
        </p:txBody>
      </p:sp>
      <p:sp>
        <p:nvSpPr>
          <p:cNvPr id="23" name="Shape 21"/>
          <p:cNvSpPr/>
          <p:nvPr/>
        </p:nvSpPr>
        <p:spPr>
          <a:xfrm>
            <a:off x="5577840" y="2724912"/>
            <a:ext cx="54864" cy="658368"/>
          </a:xfrm>
          <a:prstGeom prst="rect">
            <a:avLst/>
          </a:prstGeom>
          <a:solidFill>
            <a:srgbClr val="1D9E75"/>
          </a:solidFill>
          <a:ln w="12700">
            <a:solidFill>
              <a:srgbClr val="1D9E75"/>
            </a:solidFill>
            <a:prstDash val="solid"/>
          </a:ln>
        </p:spPr>
        <p:txBody>
          <a:bodyPr/>
          <a:lstStyle/>
          <a:p>
            <a:endParaRPr lang="en-IN"/>
          </a:p>
        </p:txBody>
      </p:sp>
      <p:sp>
        <p:nvSpPr>
          <p:cNvPr id="24" name="Text 22"/>
          <p:cNvSpPr/>
          <p:nvPr/>
        </p:nvSpPr>
        <p:spPr>
          <a:xfrm>
            <a:off x="5760720" y="2798064"/>
            <a:ext cx="2926080" cy="201168"/>
          </a:xfrm>
          <a:prstGeom prst="rect">
            <a:avLst/>
          </a:prstGeom>
          <a:noFill/>
          <a:ln/>
        </p:spPr>
        <p:txBody>
          <a:bodyPr wrap="square" lIns="0" tIns="0" rIns="0" bIns="0" rtlCol="0" anchor="ctr"/>
          <a:lstStyle/>
          <a:p>
            <a:pPr marL="0" indent="0">
              <a:buNone/>
            </a:pPr>
            <a:r>
              <a:rPr lang="en-US" sz="1100" b="1" dirty="0">
                <a:solidFill>
                  <a:srgbClr val="F5F0E8"/>
                </a:solidFill>
              </a:rPr>
              <a:t>Brand Equity Intelligence</a:t>
            </a:r>
            <a:endParaRPr lang="en-US" sz="1100" dirty="0"/>
          </a:p>
        </p:txBody>
      </p:sp>
      <p:sp>
        <p:nvSpPr>
          <p:cNvPr id="25" name="Text 23"/>
          <p:cNvSpPr/>
          <p:nvPr/>
        </p:nvSpPr>
        <p:spPr>
          <a:xfrm>
            <a:off x="5760720" y="2999232"/>
            <a:ext cx="2926080" cy="329184"/>
          </a:xfrm>
          <a:prstGeom prst="rect">
            <a:avLst/>
          </a:prstGeom>
          <a:noFill/>
          <a:ln/>
        </p:spPr>
        <p:txBody>
          <a:bodyPr wrap="square" lIns="0" tIns="0" rIns="0" bIns="0" rtlCol="0" anchor="ctr"/>
          <a:lstStyle/>
          <a:p>
            <a:pPr marL="0" indent="0">
              <a:lnSpc>
                <a:spcPct val="130000"/>
              </a:lnSpc>
              <a:buNone/>
            </a:pPr>
            <a:r>
              <a:rPr lang="en-US" sz="1100" dirty="0">
                <a:solidFill>
                  <a:srgbClr val="8B8FA8"/>
                </a:solidFill>
              </a:rPr>
              <a:t>Prestige Price Index, limited edition premium, and sell-through matrix analysis</a:t>
            </a:r>
            <a:endParaRPr lang="en-US" sz="1100" dirty="0"/>
          </a:p>
        </p:txBody>
      </p:sp>
      <p:sp>
        <p:nvSpPr>
          <p:cNvPr id="26" name="Shape 24"/>
          <p:cNvSpPr/>
          <p:nvPr/>
        </p:nvSpPr>
        <p:spPr>
          <a:xfrm>
            <a:off x="365760" y="2697480"/>
            <a:ext cx="8412480" cy="2148840"/>
          </a:xfrm>
          <a:prstGeom prst="rect">
            <a:avLst/>
          </a:prstGeom>
          <a:solidFill>
            <a:srgbClr val="1A1F2E"/>
          </a:solidFill>
          <a:ln w="12700">
            <a:solidFill>
              <a:srgbClr val="2A2F40"/>
            </a:solidFill>
            <a:prstDash val="solid"/>
          </a:ln>
          <a:effectLst>
            <a:outerShdw blurRad="101600" dist="38100" dir="8100000" algn="bl" rotWithShape="0">
              <a:srgbClr val="000000">
                <a:alpha val="25000"/>
              </a:srgbClr>
            </a:outerShdw>
          </a:effectLst>
        </p:spPr>
        <p:txBody>
          <a:bodyPr/>
          <a:lstStyle/>
          <a:p>
            <a:endParaRPr lang="en-IN"/>
          </a:p>
        </p:txBody>
      </p:sp>
      <p:sp>
        <p:nvSpPr>
          <p:cNvPr id="27" name="Shape 25"/>
          <p:cNvSpPr/>
          <p:nvPr/>
        </p:nvSpPr>
        <p:spPr>
          <a:xfrm>
            <a:off x="365760" y="2697480"/>
            <a:ext cx="54864" cy="2148840"/>
          </a:xfrm>
          <a:prstGeom prst="rect">
            <a:avLst/>
          </a:prstGeom>
          <a:solidFill>
            <a:srgbClr val="1D9E75"/>
          </a:solidFill>
          <a:ln w="12700">
            <a:solidFill>
              <a:srgbClr val="1D9E75"/>
            </a:solidFill>
            <a:prstDash val="solid"/>
          </a:ln>
        </p:spPr>
        <p:txBody>
          <a:bodyPr/>
          <a:lstStyle/>
          <a:p>
            <a:endParaRPr lang="en-IN"/>
          </a:p>
        </p:txBody>
      </p:sp>
      <p:sp>
        <p:nvSpPr>
          <p:cNvPr id="28" name="Text 26"/>
          <p:cNvSpPr/>
          <p:nvPr/>
        </p:nvSpPr>
        <p:spPr>
          <a:xfrm>
            <a:off x="548640" y="2761488"/>
            <a:ext cx="7955280" cy="201168"/>
          </a:xfrm>
          <a:prstGeom prst="rect">
            <a:avLst/>
          </a:prstGeom>
          <a:noFill/>
          <a:ln/>
        </p:spPr>
        <p:txBody>
          <a:bodyPr wrap="square" lIns="0" tIns="0" rIns="0" bIns="0" rtlCol="0" anchor="ctr"/>
          <a:lstStyle/>
          <a:p>
            <a:pPr marL="0" indent="0">
              <a:buNone/>
            </a:pPr>
            <a:r>
              <a:rPr lang="en-US" sz="1100" b="1" kern="0" spc="200" dirty="0">
                <a:solidFill>
                  <a:srgbClr val="1D9E75"/>
                </a:solidFill>
              </a:rPr>
              <a:t>WHAT THIS DASHBOARD DELIVERS</a:t>
            </a:r>
            <a:endParaRPr lang="en-US" sz="1100" dirty="0"/>
          </a:p>
        </p:txBody>
      </p:sp>
      <p:sp>
        <p:nvSpPr>
          <p:cNvPr id="29" name="Text 27"/>
          <p:cNvSpPr/>
          <p:nvPr/>
        </p:nvSpPr>
        <p:spPr>
          <a:xfrm>
            <a:off x="548640" y="3017520"/>
            <a:ext cx="3931920" cy="594360"/>
          </a:xfrm>
          <a:prstGeom prst="rect">
            <a:avLst/>
          </a:prstGeom>
          <a:noFill/>
          <a:ln/>
        </p:spPr>
        <p:txBody>
          <a:bodyPr wrap="square" lIns="0" tIns="0" rIns="0" bIns="0" rtlCol="0" anchor="ctr"/>
          <a:lstStyle/>
          <a:p>
            <a:pPr marL="0" indent="0">
              <a:lnSpc>
                <a:spcPct val="140000"/>
              </a:lnSpc>
              <a:buNone/>
            </a:pPr>
            <a:r>
              <a:rPr lang="en-US" sz="1050" b="1" dirty="0">
                <a:solidFill>
                  <a:srgbClr val="F5F0E8"/>
                </a:solidFill>
              </a:rPr>
              <a:t>Track VIC client lifetime value </a:t>
            </a:r>
          </a:p>
          <a:p>
            <a:pPr marL="0" indent="0">
              <a:lnSpc>
                <a:spcPct val="140000"/>
              </a:lnSpc>
              <a:buNone/>
            </a:pPr>
            <a:r>
              <a:rPr lang="en-US" sz="1050" b="1" dirty="0">
                <a:solidFill>
                  <a:srgbClr val="F5F0E8"/>
                </a:solidFill>
              </a:rPr>
              <a:t> </a:t>
            </a:r>
            <a:r>
              <a:rPr lang="en-US" sz="1050" dirty="0">
                <a:solidFill>
                  <a:srgbClr val="8B8FA8"/>
                </a:solidFill>
              </a:rPr>
              <a:t>Identify the top 5% of clients driving 40–50% of total GMV with full RFM scoring</a:t>
            </a:r>
            <a:endParaRPr lang="en-US" sz="1050" dirty="0"/>
          </a:p>
        </p:txBody>
      </p:sp>
      <p:sp>
        <p:nvSpPr>
          <p:cNvPr id="30" name="Text 28"/>
          <p:cNvSpPr/>
          <p:nvPr/>
        </p:nvSpPr>
        <p:spPr>
          <a:xfrm>
            <a:off x="548640" y="3749040"/>
            <a:ext cx="3931920" cy="594360"/>
          </a:xfrm>
          <a:prstGeom prst="rect">
            <a:avLst/>
          </a:prstGeom>
          <a:noFill/>
          <a:ln/>
        </p:spPr>
        <p:txBody>
          <a:bodyPr wrap="square" lIns="0" tIns="0" rIns="0" bIns="0" rtlCol="0" anchor="ctr"/>
          <a:lstStyle/>
          <a:p>
            <a:pPr marL="0" indent="0">
              <a:lnSpc>
                <a:spcPct val="140000"/>
              </a:lnSpc>
              <a:buNone/>
            </a:pPr>
            <a:r>
              <a:rPr lang="en-US" sz="1050" b="1" dirty="0">
                <a:solidFill>
                  <a:srgbClr val="F5F0E8"/>
                </a:solidFill>
              </a:rPr>
              <a:t>Measure brand equity </a:t>
            </a:r>
          </a:p>
          <a:p>
            <a:pPr marL="0" indent="0">
              <a:lnSpc>
                <a:spcPct val="140000"/>
              </a:lnSpc>
              <a:buNone/>
            </a:pPr>
            <a:r>
              <a:rPr lang="en-US" sz="1050" b="1" dirty="0">
                <a:solidFill>
                  <a:srgbClr val="F5F0E8"/>
                </a:solidFill>
              </a:rPr>
              <a:t> </a:t>
            </a:r>
            <a:r>
              <a:rPr lang="en-US" sz="1050" dirty="0">
                <a:solidFill>
                  <a:srgbClr val="8B8FA8"/>
                </a:solidFill>
              </a:rPr>
              <a:t>Prestige Price Index vs market benchmark across all 10 luxury houses</a:t>
            </a:r>
            <a:endParaRPr lang="en-US" sz="1050" dirty="0"/>
          </a:p>
        </p:txBody>
      </p:sp>
      <p:sp>
        <p:nvSpPr>
          <p:cNvPr id="31" name="Text 29"/>
          <p:cNvSpPr/>
          <p:nvPr/>
        </p:nvSpPr>
        <p:spPr>
          <a:xfrm>
            <a:off x="4663440" y="3017520"/>
            <a:ext cx="3931920" cy="594360"/>
          </a:xfrm>
          <a:prstGeom prst="rect">
            <a:avLst/>
          </a:prstGeom>
          <a:noFill/>
          <a:ln/>
        </p:spPr>
        <p:txBody>
          <a:bodyPr wrap="square" lIns="0" tIns="0" rIns="0" bIns="0" rtlCol="0" anchor="ctr"/>
          <a:lstStyle/>
          <a:p>
            <a:pPr marL="0" indent="0">
              <a:lnSpc>
                <a:spcPct val="140000"/>
              </a:lnSpc>
              <a:buNone/>
            </a:pPr>
            <a:r>
              <a:rPr lang="en-US" sz="1050" b="1" dirty="0">
                <a:solidFill>
                  <a:srgbClr val="F5F0E8"/>
                </a:solidFill>
              </a:rPr>
              <a:t>Optimise channel mix  </a:t>
            </a:r>
          </a:p>
          <a:p>
            <a:pPr marL="0" indent="0">
              <a:lnSpc>
                <a:spcPct val="140000"/>
              </a:lnSpc>
              <a:buNone/>
            </a:pPr>
            <a:r>
              <a:rPr lang="en-US" sz="1050" dirty="0">
                <a:solidFill>
                  <a:srgbClr val="8B8FA8"/>
                </a:solidFill>
              </a:rPr>
              <a:t>Boutique vs e-commerce revenue split with conversion funnel and AOV comparison</a:t>
            </a:r>
            <a:endParaRPr lang="en-US" sz="1050" dirty="0"/>
          </a:p>
        </p:txBody>
      </p:sp>
      <p:sp>
        <p:nvSpPr>
          <p:cNvPr id="32" name="Text 30"/>
          <p:cNvSpPr/>
          <p:nvPr/>
        </p:nvSpPr>
        <p:spPr>
          <a:xfrm>
            <a:off x="4663440" y="3749040"/>
            <a:ext cx="3931920" cy="594360"/>
          </a:xfrm>
          <a:prstGeom prst="rect">
            <a:avLst/>
          </a:prstGeom>
          <a:noFill/>
          <a:ln/>
        </p:spPr>
        <p:txBody>
          <a:bodyPr wrap="square" lIns="0" tIns="0" rIns="0" bIns="0" rtlCol="0" anchor="ctr"/>
          <a:lstStyle/>
          <a:p>
            <a:pPr marL="0" indent="0">
              <a:lnSpc>
                <a:spcPct val="140000"/>
              </a:lnSpc>
              <a:buNone/>
            </a:pPr>
            <a:r>
              <a:rPr lang="en-US" sz="1050" b="1" dirty="0">
                <a:solidFill>
                  <a:srgbClr val="F5F0E8"/>
                </a:solidFill>
              </a:rPr>
              <a:t>Seasonal intelligence </a:t>
            </a:r>
          </a:p>
          <a:p>
            <a:pPr marL="0" indent="0">
              <a:lnSpc>
                <a:spcPct val="140000"/>
              </a:lnSpc>
              <a:buNone/>
            </a:pPr>
            <a:r>
              <a:rPr lang="en-US" sz="1050" b="1" dirty="0">
                <a:solidFill>
                  <a:srgbClr val="F5F0E8"/>
                </a:solidFill>
              </a:rPr>
              <a:t> </a:t>
            </a:r>
            <a:r>
              <a:rPr lang="en-US" sz="1050" dirty="0">
                <a:solidFill>
                  <a:srgbClr val="8B8FA8"/>
                </a:solidFill>
              </a:rPr>
              <a:t>Fashion week uplift, holiday spike analysis, and FW vs SS category performance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9A84C"/>
          </a:solidFill>
          <a:ln w="12700">
            <a:solidFill>
              <a:srgbClr val="C9A84C"/>
            </a:solidFill>
            <a:prstDash val="solid"/>
          </a:ln>
        </p:spPr>
        <p:txBody>
          <a:bodyPr/>
          <a:lstStyle/>
          <a:p>
            <a:endParaRPr lang="en-IN"/>
          </a:p>
        </p:txBody>
      </p:sp>
      <p:sp>
        <p:nvSpPr>
          <p:cNvPr id="3" name="Shape 1"/>
          <p:cNvSpPr/>
          <p:nvPr/>
        </p:nvSpPr>
        <p:spPr>
          <a:xfrm>
            <a:off x="0" y="5074920"/>
            <a:ext cx="9144000" cy="68580"/>
          </a:xfrm>
          <a:prstGeom prst="rect">
            <a:avLst/>
          </a:prstGeom>
          <a:solidFill>
            <a:srgbClr val="1A1F2E"/>
          </a:solidFill>
          <a:ln w="12700">
            <a:solidFill>
              <a:srgbClr val="1A1F2E"/>
            </a:solidFill>
            <a:prstDash val="solid"/>
          </a:ln>
        </p:spPr>
        <p:txBody>
          <a:bodyPr/>
          <a:lstStyle/>
          <a:p>
            <a:endParaRPr lang="en-IN"/>
          </a:p>
        </p:txBody>
      </p:sp>
      <p:sp>
        <p:nvSpPr>
          <p:cNvPr id="4" name="Text 2"/>
          <p:cNvSpPr/>
          <p:nvPr/>
        </p:nvSpPr>
        <p:spPr>
          <a:xfrm>
            <a:off x="274320" y="5074920"/>
            <a:ext cx="6400800" cy="68580"/>
          </a:xfrm>
          <a:prstGeom prst="rect">
            <a:avLst/>
          </a:prstGeom>
          <a:noFill/>
          <a:ln/>
        </p:spPr>
        <p:txBody>
          <a:bodyPr wrap="square" lIns="0" tIns="0" rIns="0" bIns="0" rtlCol="0" anchor="ctr"/>
          <a:lstStyle/>
          <a:p>
            <a:pPr marL="0" indent="0">
              <a:buNone/>
            </a:pPr>
            <a:r>
              <a:rPr lang="en-US" sz="700" dirty="0">
                <a:solidFill>
                  <a:srgbClr val="8B8FA8"/>
                </a:solidFill>
              </a:rPr>
              <a:t> Luxury Fashion Performance Intelligence</a:t>
            </a:r>
            <a:endParaRPr lang="en-US" sz="700" dirty="0"/>
          </a:p>
        </p:txBody>
      </p:sp>
      <p:sp>
        <p:nvSpPr>
          <p:cNvPr id="6" name="Shape 4"/>
          <p:cNvSpPr/>
          <p:nvPr/>
        </p:nvSpPr>
        <p:spPr>
          <a:xfrm>
            <a:off x="365760" y="164592"/>
            <a:ext cx="2194560" cy="201168"/>
          </a:xfrm>
          <a:prstGeom prst="rect">
            <a:avLst/>
          </a:prstGeom>
          <a:solidFill>
            <a:srgbClr val="C9A84C"/>
          </a:solidFill>
          <a:ln w="12700">
            <a:solidFill>
              <a:srgbClr val="C9A84C"/>
            </a:solidFill>
            <a:prstDash val="solid"/>
          </a:ln>
        </p:spPr>
        <p:txBody>
          <a:bodyPr/>
          <a:lstStyle/>
          <a:p>
            <a:endParaRPr lang="en-IN"/>
          </a:p>
        </p:txBody>
      </p:sp>
      <p:sp>
        <p:nvSpPr>
          <p:cNvPr id="7" name="Text 5"/>
          <p:cNvSpPr/>
          <p:nvPr/>
        </p:nvSpPr>
        <p:spPr>
          <a:xfrm>
            <a:off x="365760" y="164592"/>
            <a:ext cx="2194560" cy="201168"/>
          </a:xfrm>
          <a:prstGeom prst="rect">
            <a:avLst/>
          </a:prstGeom>
          <a:noFill/>
          <a:ln/>
        </p:spPr>
        <p:txBody>
          <a:bodyPr wrap="square" lIns="0" tIns="0" rIns="0" bIns="0" rtlCol="0" anchor="ctr"/>
          <a:lstStyle/>
          <a:p>
            <a:pPr marL="0" indent="0" algn="ctr">
              <a:buNone/>
            </a:pPr>
            <a:r>
              <a:rPr lang="en-US" sz="750" b="1" kern="0" spc="200" dirty="0">
                <a:solidFill>
                  <a:srgbClr val="0D0D0D"/>
                </a:solidFill>
              </a:rPr>
              <a:t>02  ·  OBJECTIVES</a:t>
            </a:r>
            <a:endParaRPr lang="en-US" sz="750" dirty="0"/>
          </a:p>
        </p:txBody>
      </p:sp>
      <p:sp>
        <p:nvSpPr>
          <p:cNvPr id="8" name="Text 6"/>
          <p:cNvSpPr/>
          <p:nvPr/>
        </p:nvSpPr>
        <p:spPr>
          <a:xfrm>
            <a:off x="365760" y="457200"/>
            <a:ext cx="8229600" cy="457200"/>
          </a:xfrm>
          <a:prstGeom prst="rect">
            <a:avLst/>
          </a:prstGeom>
          <a:noFill/>
          <a:ln/>
        </p:spPr>
        <p:txBody>
          <a:bodyPr wrap="square" lIns="0" tIns="0" rIns="0" bIns="0" rtlCol="0" anchor="ctr"/>
          <a:lstStyle/>
          <a:p>
            <a:r>
              <a:rPr lang="en-IN" sz="2800" b="1" dirty="0">
                <a:solidFill>
                  <a:srgbClr val="F5F0E8"/>
                </a:solidFill>
              </a:rPr>
              <a:t>Analytical Objective</a:t>
            </a:r>
            <a:endParaRPr lang="en-US" sz="2600" dirty="0"/>
          </a:p>
        </p:txBody>
      </p:sp>
      <p:sp>
        <p:nvSpPr>
          <p:cNvPr id="9" name="Text 7"/>
          <p:cNvSpPr/>
          <p:nvPr/>
        </p:nvSpPr>
        <p:spPr>
          <a:xfrm>
            <a:off x="365760" y="896112"/>
            <a:ext cx="8229600" cy="201168"/>
          </a:xfrm>
          <a:prstGeom prst="rect">
            <a:avLst/>
          </a:prstGeom>
          <a:noFill/>
          <a:ln/>
        </p:spPr>
        <p:txBody>
          <a:bodyPr wrap="square" lIns="0" tIns="0" rIns="0" bIns="0" rtlCol="0" anchor="ctr"/>
          <a:lstStyle/>
          <a:p>
            <a:pPr marL="0" indent="0">
              <a:buNone/>
            </a:pPr>
            <a:r>
              <a:rPr lang="en-US" sz="1100" dirty="0">
                <a:solidFill>
                  <a:srgbClr val="8B8FA8"/>
                </a:solidFill>
              </a:rPr>
              <a:t>Four strategic pillars driving the analytical framework</a:t>
            </a:r>
            <a:endParaRPr lang="en-US" sz="1100" dirty="0"/>
          </a:p>
        </p:txBody>
      </p:sp>
      <p:sp>
        <p:nvSpPr>
          <p:cNvPr id="10" name="Shape 8"/>
          <p:cNvSpPr/>
          <p:nvPr/>
        </p:nvSpPr>
        <p:spPr>
          <a:xfrm>
            <a:off x="365760" y="1234440"/>
            <a:ext cx="4114800" cy="1600200"/>
          </a:xfrm>
          <a:prstGeom prst="rect">
            <a:avLst/>
          </a:prstGeom>
          <a:solidFill>
            <a:srgbClr val="1A1F2E"/>
          </a:solidFill>
          <a:ln w="12700">
            <a:solidFill>
              <a:srgbClr val="2A2F40"/>
            </a:solidFill>
            <a:prstDash val="solid"/>
          </a:ln>
          <a:effectLst>
            <a:outerShdw blurRad="101600" dist="38100" dir="8100000" algn="bl" rotWithShape="0">
              <a:srgbClr val="000000">
                <a:alpha val="25000"/>
              </a:srgbClr>
            </a:outerShdw>
          </a:effectLst>
        </p:spPr>
        <p:txBody>
          <a:bodyPr/>
          <a:lstStyle/>
          <a:p>
            <a:endParaRPr lang="en-IN"/>
          </a:p>
        </p:txBody>
      </p:sp>
      <p:sp>
        <p:nvSpPr>
          <p:cNvPr id="11" name="Shape 9"/>
          <p:cNvSpPr/>
          <p:nvPr/>
        </p:nvSpPr>
        <p:spPr>
          <a:xfrm>
            <a:off x="365760" y="1234440"/>
            <a:ext cx="54864" cy="1600200"/>
          </a:xfrm>
          <a:prstGeom prst="rect">
            <a:avLst/>
          </a:prstGeom>
          <a:solidFill>
            <a:srgbClr val="C9A84C"/>
          </a:solidFill>
          <a:ln w="12700">
            <a:solidFill>
              <a:srgbClr val="C9A84C"/>
            </a:solidFill>
            <a:prstDash val="solid"/>
          </a:ln>
        </p:spPr>
        <p:txBody>
          <a:bodyPr/>
          <a:lstStyle/>
          <a:p>
            <a:endParaRPr lang="en-IN"/>
          </a:p>
        </p:txBody>
      </p:sp>
      <p:sp>
        <p:nvSpPr>
          <p:cNvPr id="12" name="Shape 10"/>
          <p:cNvSpPr/>
          <p:nvPr/>
        </p:nvSpPr>
        <p:spPr>
          <a:xfrm>
            <a:off x="502920" y="1344168"/>
            <a:ext cx="384048" cy="384048"/>
          </a:xfrm>
          <a:prstGeom prst="rect">
            <a:avLst/>
          </a:prstGeom>
          <a:solidFill>
            <a:srgbClr val="C9A84C"/>
          </a:solidFill>
          <a:ln w="12700">
            <a:solidFill>
              <a:srgbClr val="C9A84C"/>
            </a:solidFill>
            <a:prstDash val="solid"/>
          </a:ln>
        </p:spPr>
        <p:txBody>
          <a:bodyPr/>
          <a:lstStyle/>
          <a:p>
            <a:endParaRPr lang="en-IN"/>
          </a:p>
        </p:txBody>
      </p:sp>
      <p:sp>
        <p:nvSpPr>
          <p:cNvPr id="13" name="Text 11"/>
          <p:cNvSpPr/>
          <p:nvPr/>
        </p:nvSpPr>
        <p:spPr>
          <a:xfrm>
            <a:off x="502920" y="1344168"/>
            <a:ext cx="384048" cy="384048"/>
          </a:xfrm>
          <a:prstGeom prst="rect">
            <a:avLst/>
          </a:prstGeom>
          <a:noFill/>
          <a:ln/>
        </p:spPr>
        <p:txBody>
          <a:bodyPr wrap="square" lIns="0" tIns="0" rIns="0" bIns="0" rtlCol="0" anchor="ctr"/>
          <a:lstStyle/>
          <a:p>
            <a:pPr marL="0" indent="0" algn="ctr">
              <a:buNone/>
            </a:pPr>
            <a:r>
              <a:rPr lang="en-US" sz="1300" b="1" dirty="0">
                <a:solidFill>
                  <a:srgbClr val="0D0D0D"/>
                </a:solidFill>
              </a:rPr>
              <a:t>01</a:t>
            </a:r>
            <a:endParaRPr lang="en-US" sz="1300" dirty="0"/>
          </a:p>
        </p:txBody>
      </p:sp>
      <p:sp>
        <p:nvSpPr>
          <p:cNvPr id="14" name="Text 12"/>
          <p:cNvSpPr/>
          <p:nvPr/>
        </p:nvSpPr>
        <p:spPr>
          <a:xfrm>
            <a:off x="987552" y="1353312"/>
            <a:ext cx="3337560" cy="320040"/>
          </a:xfrm>
          <a:prstGeom prst="rect">
            <a:avLst/>
          </a:prstGeom>
          <a:noFill/>
          <a:ln/>
        </p:spPr>
        <p:txBody>
          <a:bodyPr wrap="square" lIns="0" tIns="0" rIns="0" bIns="0" rtlCol="0" anchor="ctr"/>
          <a:lstStyle/>
          <a:p>
            <a:pPr marL="0" indent="0">
              <a:buNone/>
            </a:pPr>
            <a:r>
              <a:rPr lang="en-US" sz="1200" b="1" dirty="0">
                <a:solidFill>
                  <a:srgbClr val="F5F0E8"/>
                </a:solidFill>
              </a:rPr>
              <a:t>Client Lifetime Value</a:t>
            </a:r>
            <a:endParaRPr lang="en-US" sz="1200" dirty="0"/>
          </a:p>
        </p:txBody>
      </p:sp>
      <p:sp>
        <p:nvSpPr>
          <p:cNvPr id="15" name="Text 13"/>
          <p:cNvSpPr/>
          <p:nvPr/>
        </p:nvSpPr>
        <p:spPr>
          <a:xfrm>
            <a:off x="502920" y="1801368"/>
            <a:ext cx="3840480" cy="914400"/>
          </a:xfrm>
          <a:prstGeom prst="rect">
            <a:avLst/>
          </a:prstGeom>
          <a:noFill/>
          <a:ln/>
        </p:spPr>
        <p:txBody>
          <a:bodyPr wrap="square" lIns="0" tIns="0" rIns="0" bIns="0" rtlCol="0" anchor="ctr"/>
          <a:lstStyle/>
          <a:p>
            <a:pPr marL="0" indent="0">
              <a:lnSpc>
                <a:spcPct val="145000"/>
              </a:lnSpc>
              <a:buNone/>
            </a:pPr>
            <a:r>
              <a:rPr lang="en-US" sz="1050" dirty="0">
                <a:solidFill>
                  <a:srgbClr val="8B8FA8"/>
                </a:solidFill>
              </a:rPr>
              <a:t>Identify and rank the highest-value clients by CLTV, RFM score, and tier. Quantify the VIC segment's disproportionate revenue contribution and build a retention intelligence layer.</a:t>
            </a:r>
            <a:endParaRPr lang="en-US" sz="1050" dirty="0"/>
          </a:p>
        </p:txBody>
      </p:sp>
      <p:sp>
        <p:nvSpPr>
          <p:cNvPr id="16" name="Shape 14"/>
          <p:cNvSpPr/>
          <p:nvPr/>
        </p:nvSpPr>
        <p:spPr>
          <a:xfrm>
            <a:off x="4709160" y="1234440"/>
            <a:ext cx="4114800" cy="1600200"/>
          </a:xfrm>
          <a:prstGeom prst="rect">
            <a:avLst/>
          </a:prstGeom>
          <a:solidFill>
            <a:srgbClr val="1A1F2E"/>
          </a:solidFill>
          <a:ln w="12700">
            <a:solidFill>
              <a:srgbClr val="2A2F40"/>
            </a:solidFill>
            <a:prstDash val="solid"/>
          </a:ln>
          <a:effectLst>
            <a:outerShdw blurRad="101600" dist="38100" dir="8100000" algn="bl" rotWithShape="0">
              <a:srgbClr val="000000">
                <a:alpha val="25000"/>
              </a:srgbClr>
            </a:outerShdw>
          </a:effectLst>
        </p:spPr>
        <p:txBody>
          <a:bodyPr/>
          <a:lstStyle/>
          <a:p>
            <a:endParaRPr lang="en-IN"/>
          </a:p>
        </p:txBody>
      </p:sp>
      <p:sp>
        <p:nvSpPr>
          <p:cNvPr id="17" name="Shape 15"/>
          <p:cNvSpPr/>
          <p:nvPr/>
        </p:nvSpPr>
        <p:spPr>
          <a:xfrm>
            <a:off x="4709160" y="1234440"/>
            <a:ext cx="54864" cy="1600200"/>
          </a:xfrm>
          <a:prstGeom prst="rect">
            <a:avLst/>
          </a:prstGeom>
          <a:solidFill>
            <a:srgbClr val="7F77DD"/>
          </a:solidFill>
          <a:ln w="12700">
            <a:solidFill>
              <a:srgbClr val="7F77DD"/>
            </a:solidFill>
            <a:prstDash val="solid"/>
          </a:ln>
        </p:spPr>
        <p:txBody>
          <a:bodyPr/>
          <a:lstStyle/>
          <a:p>
            <a:endParaRPr lang="en-IN"/>
          </a:p>
        </p:txBody>
      </p:sp>
      <p:sp>
        <p:nvSpPr>
          <p:cNvPr id="18" name="Shape 16"/>
          <p:cNvSpPr/>
          <p:nvPr/>
        </p:nvSpPr>
        <p:spPr>
          <a:xfrm>
            <a:off x="4846320" y="1344168"/>
            <a:ext cx="384048" cy="384048"/>
          </a:xfrm>
          <a:prstGeom prst="rect">
            <a:avLst/>
          </a:prstGeom>
          <a:solidFill>
            <a:srgbClr val="7F77DD"/>
          </a:solidFill>
          <a:ln w="12700">
            <a:solidFill>
              <a:srgbClr val="7F77DD"/>
            </a:solidFill>
            <a:prstDash val="solid"/>
          </a:ln>
        </p:spPr>
        <p:txBody>
          <a:bodyPr/>
          <a:lstStyle/>
          <a:p>
            <a:endParaRPr lang="en-IN"/>
          </a:p>
        </p:txBody>
      </p:sp>
      <p:sp>
        <p:nvSpPr>
          <p:cNvPr id="19" name="Text 17"/>
          <p:cNvSpPr/>
          <p:nvPr/>
        </p:nvSpPr>
        <p:spPr>
          <a:xfrm>
            <a:off x="4846320" y="1344168"/>
            <a:ext cx="384048" cy="384048"/>
          </a:xfrm>
          <a:prstGeom prst="rect">
            <a:avLst/>
          </a:prstGeom>
          <a:noFill/>
          <a:ln/>
        </p:spPr>
        <p:txBody>
          <a:bodyPr wrap="square" lIns="0" tIns="0" rIns="0" bIns="0" rtlCol="0" anchor="ctr"/>
          <a:lstStyle/>
          <a:p>
            <a:pPr marL="0" indent="0" algn="ctr">
              <a:buNone/>
            </a:pPr>
            <a:r>
              <a:rPr lang="en-US" sz="1300" b="1" dirty="0">
                <a:solidFill>
                  <a:srgbClr val="0D0D0D"/>
                </a:solidFill>
              </a:rPr>
              <a:t>02</a:t>
            </a:r>
            <a:endParaRPr lang="en-US" sz="1300" dirty="0"/>
          </a:p>
        </p:txBody>
      </p:sp>
      <p:sp>
        <p:nvSpPr>
          <p:cNvPr id="20" name="Text 18"/>
          <p:cNvSpPr/>
          <p:nvPr/>
        </p:nvSpPr>
        <p:spPr>
          <a:xfrm>
            <a:off x="5330952" y="1353312"/>
            <a:ext cx="3337560" cy="320040"/>
          </a:xfrm>
          <a:prstGeom prst="rect">
            <a:avLst/>
          </a:prstGeom>
          <a:noFill/>
          <a:ln/>
        </p:spPr>
        <p:txBody>
          <a:bodyPr wrap="square" lIns="0" tIns="0" rIns="0" bIns="0" rtlCol="0" anchor="ctr"/>
          <a:lstStyle/>
          <a:p>
            <a:pPr marL="0" indent="0">
              <a:buNone/>
            </a:pPr>
            <a:r>
              <a:rPr lang="en-US" sz="1200" b="1" dirty="0">
                <a:solidFill>
                  <a:srgbClr val="F5F0E8"/>
                </a:solidFill>
              </a:rPr>
              <a:t>Brand &amp; Product Performance</a:t>
            </a:r>
            <a:endParaRPr lang="en-US" sz="1200" dirty="0"/>
          </a:p>
        </p:txBody>
      </p:sp>
      <p:sp>
        <p:nvSpPr>
          <p:cNvPr id="21" name="Text 19"/>
          <p:cNvSpPr/>
          <p:nvPr/>
        </p:nvSpPr>
        <p:spPr>
          <a:xfrm>
            <a:off x="4846320" y="1801368"/>
            <a:ext cx="3840480" cy="914400"/>
          </a:xfrm>
          <a:prstGeom prst="rect">
            <a:avLst/>
          </a:prstGeom>
          <a:noFill/>
          <a:ln/>
        </p:spPr>
        <p:txBody>
          <a:bodyPr wrap="square" lIns="0" tIns="0" rIns="0" bIns="0" rtlCol="0" anchor="ctr"/>
          <a:lstStyle/>
          <a:p>
            <a:pPr marL="0" indent="0">
              <a:lnSpc>
                <a:spcPct val="145000"/>
              </a:lnSpc>
              <a:buNone/>
            </a:pPr>
            <a:r>
              <a:rPr lang="en-US" sz="1050" dirty="0">
                <a:solidFill>
                  <a:srgbClr val="8B8FA8"/>
                </a:solidFill>
              </a:rPr>
              <a:t>Isolate top and underperforming brand houses by margin, sell-through rate, and return rate. Correlate limited edition drops with AOV premium and new client acquisition spikes.</a:t>
            </a:r>
            <a:endParaRPr lang="en-US" sz="1050" dirty="0"/>
          </a:p>
        </p:txBody>
      </p:sp>
      <p:sp>
        <p:nvSpPr>
          <p:cNvPr id="22" name="Shape 20"/>
          <p:cNvSpPr/>
          <p:nvPr/>
        </p:nvSpPr>
        <p:spPr>
          <a:xfrm>
            <a:off x="365760" y="3017520"/>
            <a:ext cx="4114800" cy="1600200"/>
          </a:xfrm>
          <a:prstGeom prst="rect">
            <a:avLst/>
          </a:prstGeom>
          <a:solidFill>
            <a:srgbClr val="1A1F2E"/>
          </a:solidFill>
          <a:ln w="12700">
            <a:solidFill>
              <a:srgbClr val="2A2F40"/>
            </a:solidFill>
            <a:prstDash val="solid"/>
          </a:ln>
          <a:effectLst>
            <a:outerShdw blurRad="101600" dist="38100" dir="8100000" algn="bl" rotWithShape="0">
              <a:srgbClr val="000000">
                <a:alpha val="25000"/>
              </a:srgbClr>
            </a:outerShdw>
          </a:effectLst>
        </p:spPr>
        <p:txBody>
          <a:bodyPr/>
          <a:lstStyle/>
          <a:p>
            <a:endParaRPr lang="en-IN"/>
          </a:p>
        </p:txBody>
      </p:sp>
      <p:sp>
        <p:nvSpPr>
          <p:cNvPr id="23" name="Shape 21"/>
          <p:cNvSpPr/>
          <p:nvPr/>
        </p:nvSpPr>
        <p:spPr>
          <a:xfrm>
            <a:off x="365760" y="3017520"/>
            <a:ext cx="54864" cy="1600200"/>
          </a:xfrm>
          <a:prstGeom prst="rect">
            <a:avLst/>
          </a:prstGeom>
          <a:solidFill>
            <a:srgbClr val="1D9E75"/>
          </a:solidFill>
          <a:ln w="12700">
            <a:solidFill>
              <a:srgbClr val="1D9E75"/>
            </a:solidFill>
            <a:prstDash val="solid"/>
          </a:ln>
        </p:spPr>
        <p:txBody>
          <a:bodyPr/>
          <a:lstStyle/>
          <a:p>
            <a:endParaRPr lang="en-IN"/>
          </a:p>
        </p:txBody>
      </p:sp>
      <p:sp>
        <p:nvSpPr>
          <p:cNvPr id="24" name="Shape 22"/>
          <p:cNvSpPr/>
          <p:nvPr/>
        </p:nvSpPr>
        <p:spPr>
          <a:xfrm>
            <a:off x="502920" y="3127248"/>
            <a:ext cx="384048" cy="384048"/>
          </a:xfrm>
          <a:prstGeom prst="rect">
            <a:avLst/>
          </a:prstGeom>
          <a:solidFill>
            <a:srgbClr val="1D9E75"/>
          </a:solidFill>
          <a:ln w="12700">
            <a:solidFill>
              <a:srgbClr val="1D9E75"/>
            </a:solidFill>
            <a:prstDash val="solid"/>
          </a:ln>
        </p:spPr>
        <p:txBody>
          <a:bodyPr/>
          <a:lstStyle/>
          <a:p>
            <a:endParaRPr lang="en-IN"/>
          </a:p>
        </p:txBody>
      </p:sp>
      <p:sp>
        <p:nvSpPr>
          <p:cNvPr id="25" name="Text 23"/>
          <p:cNvSpPr/>
          <p:nvPr/>
        </p:nvSpPr>
        <p:spPr>
          <a:xfrm>
            <a:off x="502920" y="3127248"/>
            <a:ext cx="384048" cy="384048"/>
          </a:xfrm>
          <a:prstGeom prst="rect">
            <a:avLst/>
          </a:prstGeom>
          <a:noFill/>
          <a:ln/>
        </p:spPr>
        <p:txBody>
          <a:bodyPr wrap="square" lIns="0" tIns="0" rIns="0" bIns="0" rtlCol="0" anchor="ctr"/>
          <a:lstStyle/>
          <a:p>
            <a:pPr marL="0" indent="0" algn="ctr">
              <a:buNone/>
            </a:pPr>
            <a:r>
              <a:rPr lang="en-US" sz="1300" b="1" dirty="0">
                <a:solidFill>
                  <a:srgbClr val="0D0D0D"/>
                </a:solidFill>
              </a:rPr>
              <a:t>03</a:t>
            </a:r>
            <a:endParaRPr lang="en-US" sz="1300" dirty="0"/>
          </a:p>
        </p:txBody>
      </p:sp>
      <p:sp>
        <p:nvSpPr>
          <p:cNvPr id="26" name="Text 24"/>
          <p:cNvSpPr/>
          <p:nvPr/>
        </p:nvSpPr>
        <p:spPr>
          <a:xfrm>
            <a:off x="987552" y="3136392"/>
            <a:ext cx="3337560" cy="320040"/>
          </a:xfrm>
          <a:prstGeom prst="rect">
            <a:avLst/>
          </a:prstGeom>
          <a:noFill/>
          <a:ln/>
        </p:spPr>
        <p:txBody>
          <a:bodyPr wrap="square" lIns="0" tIns="0" rIns="0" bIns="0" rtlCol="0" anchor="ctr"/>
          <a:lstStyle/>
          <a:p>
            <a:pPr marL="0" indent="0">
              <a:buNone/>
            </a:pPr>
            <a:r>
              <a:rPr lang="en-US" sz="1200" b="1" dirty="0">
                <a:solidFill>
                  <a:srgbClr val="F5F0E8"/>
                </a:solidFill>
              </a:rPr>
              <a:t>Omnichannel Attribution</a:t>
            </a:r>
            <a:endParaRPr lang="en-US" sz="1200" dirty="0"/>
          </a:p>
        </p:txBody>
      </p:sp>
      <p:sp>
        <p:nvSpPr>
          <p:cNvPr id="27" name="Text 25"/>
          <p:cNvSpPr/>
          <p:nvPr/>
        </p:nvSpPr>
        <p:spPr>
          <a:xfrm>
            <a:off x="502920" y="3584448"/>
            <a:ext cx="3840480" cy="914400"/>
          </a:xfrm>
          <a:prstGeom prst="rect">
            <a:avLst/>
          </a:prstGeom>
          <a:noFill/>
          <a:ln/>
        </p:spPr>
        <p:txBody>
          <a:bodyPr wrap="square" lIns="0" tIns="0" rIns="0" bIns="0" rtlCol="0" anchor="ctr"/>
          <a:lstStyle/>
          <a:p>
            <a:pPr marL="0" indent="0">
              <a:lnSpc>
                <a:spcPct val="145000"/>
              </a:lnSpc>
              <a:buNone/>
            </a:pPr>
            <a:r>
              <a:rPr lang="en-US" sz="1050" dirty="0">
                <a:solidFill>
                  <a:srgbClr val="8B8FA8"/>
                </a:solidFill>
              </a:rPr>
              <a:t>Map the revenue split between boutique, e-commerce, wholesale, and pop-up channels. Measure digital conversion rates and identify the AOV differential for returning online clients.</a:t>
            </a:r>
            <a:endParaRPr lang="en-US" sz="1050" dirty="0"/>
          </a:p>
        </p:txBody>
      </p:sp>
      <p:sp>
        <p:nvSpPr>
          <p:cNvPr id="28" name="Shape 26"/>
          <p:cNvSpPr/>
          <p:nvPr/>
        </p:nvSpPr>
        <p:spPr>
          <a:xfrm>
            <a:off x="4709160" y="3017520"/>
            <a:ext cx="4114800" cy="1600200"/>
          </a:xfrm>
          <a:prstGeom prst="rect">
            <a:avLst/>
          </a:prstGeom>
          <a:solidFill>
            <a:srgbClr val="1A1F2E"/>
          </a:solidFill>
          <a:ln w="12700">
            <a:solidFill>
              <a:srgbClr val="2A2F40"/>
            </a:solidFill>
            <a:prstDash val="solid"/>
          </a:ln>
          <a:effectLst>
            <a:outerShdw blurRad="101600" dist="38100" dir="8100000" algn="bl" rotWithShape="0">
              <a:srgbClr val="000000">
                <a:alpha val="25000"/>
              </a:srgbClr>
            </a:outerShdw>
          </a:effectLst>
        </p:spPr>
        <p:txBody>
          <a:bodyPr/>
          <a:lstStyle/>
          <a:p>
            <a:endParaRPr lang="en-IN"/>
          </a:p>
        </p:txBody>
      </p:sp>
      <p:sp>
        <p:nvSpPr>
          <p:cNvPr id="29" name="Shape 27"/>
          <p:cNvSpPr/>
          <p:nvPr/>
        </p:nvSpPr>
        <p:spPr>
          <a:xfrm>
            <a:off x="4709160" y="3017520"/>
            <a:ext cx="54864" cy="1600200"/>
          </a:xfrm>
          <a:prstGeom prst="rect">
            <a:avLst/>
          </a:prstGeom>
          <a:solidFill>
            <a:srgbClr val="D4537E"/>
          </a:solidFill>
          <a:ln w="12700">
            <a:solidFill>
              <a:srgbClr val="D4537E"/>
            </a:solidFill>
            <a:prstDash val="solid"/>
          </a:ln>
        </p:spPr>
        <p:txBody>
          <a:bodyPr/>
          <a:lstStyle/>
          <a:p>
            <a:endParaRPr lang="en-IN"/>
          </a:p>
        </p:txBody>
      </p:sp>
      <p:sp>
        <p:nvSpPr>
          <p:cNvPr id="30" name="Shape 28"/>
          <p:cNvSpPr/>
          <p:nvPr/>
        </p:nvSpPr>
        <p:spPr>
          <a:xfrm>
            <a:off x="4846320" y="3127248"/>
            <a:ext cx="384048" cy="384048"/>
          </a:xfrm>
          <a:prstGeom prst="rect">
            <a:avLst/>
          </a:prstGeom>
          <a:solidFill>
            <a:srgbClr val="D4537E"/>
          </a:solidFill>
          <a:ln w="12700">
            <a:solidFill>
              <a:srgbClr val="D4537E"/>
            </a:solidFill>
            <a:prstDash val="solid"/>
          </a:ln>
        </p:spPr>
        <p:txBody>
          <a:bodyPr/>
          <a:lstStyle/>
          <a:p>
            <a:endParaRPr lang="en-IN"/>
          </a:p>
        </p:txBody>
      </p:sp>
      <p:sp>
        <p:nvSpPr>
          <p:cNvPr id="31" name="Text 29"/>
          <p:cNvSpPr/>
          <p:nvPr/>
        </p:nvSpPr>
        <p:spPr>
          <a:xfrm>
            <a:off x="4846320" y="3127248"/>
            <a:ext cx="384048" cy="384048"/>
          </a:xfrm>
          <a:prstGeom prst="rect">
            <a:avLst/>
          </a:prstGeom>
          <a:noFill/>
          <a:ln/>
        </p:spPr>
        <p:txBody>
          <a:bodyPr wrap="square" lIns="0" tIns="0" rIns="0" bIns="0" rtlCol="0" anchor="ctr"/>
          <a:lstStyle/>
          <a:p>
            <a:pPr marL="0" indent="0" algn="ctr">
              <a:buNone/>
            </a:pPr>
            <a:r>
              <a:rPr lang="en-US" sz="1300" b="1" dirty="0">
                <a:solidFill>
                  <a:srgbClr val="0D0D0D"/>
                </a:solidFill>
              </a:rPr>
              <a:t>04</a:t>
            </a:r>
            <a:endParaRPr lang="en-US" sz="1300" dirty="0"/>
          </a:p>
        </p:txBody>
      </p:sp>
      <p:sp>
        <p:nvSpPr>
          <p:cNvPr id="32" name="Text 30"/>
          <p:cNvSpPr/>
          <p:nvPr/>
        </p:nvSpPr>
        <p:spPr>
          <a:xfrm>
            <a:off x="5330952" y="3136392"/>
            <a:ext cx="3337560" cy="320040"/>
          </a:xfrm>
          <a:prstGeom prst="rect">
            <a:avLst/>
          </a:prstGeom>
          <a:noFill/>
          <a:ln/>
        </p:spPr>
        <p:txBody>
          <a:bodyPr wrap="square" lIns="0" tIns="0" rIns="0" bIns="0" rtlCol="0" anchor="ctr"/>
          <a:lstStyle/>
          <a:p>
            <a:pPr marL="0" indent="0">
              <a:buNone/>
            </a:pPr>
            <a:r>
              <a:rPr lang="en-US" sz="1200" b="1" dirty="0">
                <a:solidFill>
                  <a:srgbClr val="F5F0E8"/>
                </a:solidFill>
              </a:rPr>
              <a:t>Seasonal Intelligence</a:t>
            </a:r>
            <a:endParaRPr lang="en-US" sz="1200" dirty="0"/>
          </a:p>
        </p:txBody>
      </p:sp>
      <p:sp>
        <p:nvSpPr>
          <p:cNvPr id="33" name="Text 31"/>
          <p:cNvSpPr/>
          <p:nvPr/>
        </p:nvSpPr>
        <p:spPr>
          <a:xfrm>
            <a:off x="4846320" y="3584448"/>
            <a:ext cx="3840480" cy="914400"/>
          </a:xfrm>
          <a:prstGeom prst="rect">
            <a:avLst/>
          </a:prstGeom>
          <a:noFill/>
          <a:ln/>
        </p:spPr>
        <p:txBody>
          <a:bodyPr wrap="square" lIns="0" tIns="0" rIns="0" bIns="0" rtlCol="0" anchor="ctr"/>
          <a:lstStyle/>
          <a:p>
            <a:pPr marL="0" indent="0">
              <a:lnSpc>
                <a:spcPct val="145000"/>
              </a:lnSpc>
              <a:buNone/>
            </a:pPr>
            <a:r>
              <a:rPr lang="en-US" sz="1050" dirty="0">
                <a:solidFill>
                  <a:srgbClr val="8B8FA8"/>
                </a:solidFill>
              </a:rPr>
              <a:t>Quantify the GMV uplift during fashion week months and holiday periods. Track category rank shifts across SS and FW seasons and identify the highest-performing brand-month intersections.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9A84C"/>
          </a:solidFill>
          <a:ln w="12700">
            <a:solidFill>
              <a:srgbClr val="C9A84C"/>
            </a:solidFill>
            <a:prstDash val="solid"/>
          </a:ln>
        </p:spPr>
        <p:txBody>
          <a:bodyPr/>
          <a:lstStyle/>
          <a:p>
            <a:endParaRPr lang="en-IN"/>
          </a:p>
        </p:txBody>
      </p:sp>
      <p:sp>
        <p:nvSpPr>
          <p:cNvPr id="3" name="Shape 1"/>
          <p:cNvSpPr/>
          <p:nvPr/>
        </p:nvSpPr>
        <p:spPr>
          <a:xfrm>
            <a:off x="0" y="5074920"/>
            <a:ext cx="9144000" cy="68580"/>
          </a:xfrm>
          <a:prstGeom prst="rect">
            <a:avLst/>
          </a:prstGeom>
          <a:solidFill>
            <a:srgbClr val="1A1F2E"/>
          </a:solidFill>
          <a:ln w="12700">
            <a:solidFill>
              <a:srgbClr val="1A1F2E"/>
            </a:solidFill>
            <a:prstDash val="solid"/>
          </a:ln>
        </p:spPr>
        <p:txBody>
          <a:bodyPr/>
          <a:lstStyle/>
          <a:p>
            <a:endParaRPr lang="en-IN"/>
          </a:p>
        </p:txBody>
      </p:sp>
      <p:sp>
        <p:nvSpPr>
          <p:cNvPr id="4" name="Text 2"/>
          <p:cNvSpPr/>
          <p:nvPr/>
        </p:nvSpPr>
        <p:spPr>
          <a:xfrm>
            <a:off x="274320" y="5074920"/>
            <a:ext cx="6400800" cy="68580"/>
          </a:xfrm>
          <a:prstGeom prst="rect">
            <a:avLst/>
          </a:prstGeom>
          <a:noFill/>
          <a:ln/>
        </p:spPr>
        <p:txBody>
          <a:bodyPr wrap="square" lIns="0" tIns="0" rIns="0" bIns="0" rtlCol="0" anchor="ctr"/>
          <a:lstStyle/>
          <a:p>
            <a:pPr marL="0" indent="0">
              <a:buNone/>
            </a:pPr>
            <a:r>
              <a:rPr lang="en-US" sz="700" dirty="0">
                <a:solidFill>
                  <a:srgbClr val="8B8FA8"/>
                </a:solidFill>
              </a:rPr>
              <a:t>Luxury Fashion Performance Intelligence</a:t>
            </a:r>
            <a:endParaRPr lang="en-US" sz="700" dirty="0"/>
          </a:p>
        </p:txBody>
      </p:sp>
      <p:sp>
        <p:nvSpPr>
          <p:cNvPr id="6" name="Shape 4"/>
          <p:cNvSpPr/>
          <p:nvPr/>
        </p:nvSpPr>
        <p:spPr>
          <a:xfrm>
            <a:off x="365760" y="164592"/>
            <a:ext cx="2194560" cy="201168"/>
          </a:xfrm>
          <a:prstGeom prst="rect">
            <a:avLst/>
          </a:prstGeom>
          <a:solidFill>
            <a:srgbClr val="C9A84C"/>
          </a:solidFill>
          <a:ln w="12700">
            <a:solidFill>
              <a:srgbClr val="C9A84C"/>
            </a:solidFill>
            <a:prstDash val="solid"/>
          </a:ln>
        </p:spPr>
        <p:txBody>
          <a:bodyPr/>
          <a:lstStyle/>
          <a:p>
            <a:endParaRPr lang="en-IN"/>
          </a:p>
        </p:txBody>
      </p:sp>
      <p:sp>
        <p:nvSpPr>
          <p:cNvPr id="7" name="Text 5"/>
          <p:cNvSpPr/>
          <p:nvPr/>
        </p:nvSpPr>
        <p:spPr>
          <a:xfrm>
            <a:off x="365760" y="164592"/>
            <a:ext cx="2194560" cy="201168"/>
          </a:xfrm>
          <a:prstGeom prst="rect">
            <a:avLst/>
          </a:prstGeom>
          <a:noFill/>
          <a:ln/>
        </p:spPr>
        <p:txBody>
          <a:bodyPr wrap="square" lIns="0" tIns="0" rIns="0" bIns="0" rtlCol="0" anchor="ctr"/>
          <a:lstStyle/>
          <a:p>
            <a:pPr marL="0" indent="0" algn="ctr">
              <a:buNone/>
            </a:pPr>
            <a:r>
              <a:rPr lang="en-US" sz="750" b="1" kern="0" spc="200" dirty="0">
                <a:solidFill>
                  <a:srgbClr val="0D0D0D"/>
                </a:solidFill>
              </a:rPr>
              <a:t>03  ·  DATASET &amp; OVERVIEW</a:t>
            </a:r>
            <a:endParaRPr lang="en-US" sz="750" dirty="0"/>
          </a:p>
        </p:txBody>
      </p:sp>
      <p:sp>
        <p:nvSpPr>
          <p:cNvPr id="8" name="Text 6"/>
          <p:cNvSpPr/>
          <p:nvPr/>
        </p:nvSpPr>
        <p:spPr>
          <a:xfrm>
            <a:off x="365760" y="457200"/>
            <a:ext cx="8229600" cy="457200"/>
          </a:xfrm>
          <a:prstGeom prst="rect">
            <a:avLst/>
          </a:prstGeom>
          <a:noFill/>
          <a:ln/>
        </p:spPr>
        <p:txBody>
          <a:bodyPr wrap="square" lIns="0" tIns="0" rIns="0" bIns="0" rtlCol="0" anchor="ctr"/>
          <a:lstStyle/>
          <a:p>
            <a:pPr marL="0" indent="0">
              <a:buNone/>
            </a:pPr>
            <a:r>
              <a:rPr lang="en-US" sz="2600" b="1" dirty="0">
                <a:solidFill>
                  <a:srgbClr val="F5F0E8"/>
                </a:solidFill>
              </a:rPr>
              <a:t>Dataset Source &amp; Overview</a:t>
            </a:r>
            <a:endParaRPr lang="en-US" sz="2600" dirty="0"/>
          </a:p>
        </p:txBody>
      </p:sp>
      <p:sp>
        <p:nvSpPr>
          <p:cNvPr id="9" name="Text 7"/>
          <p:cNvSpPr/>
          <p:nvPr/>
        </p:nvSpPr>
        <p:spPr>
          <a:xfrm>
            <a:off x="365760" y="896112"/>
            <a:ext cx="8229600" cy="201168"/>
          </a:xfrm>
          <a:prstGeom prst="rect">
            <a:avLst/>
          </a:prstGeom>
          <a:noFill/>
          <a:ln/>
        </p:spPr>
        <p:txBody>
          <a:bodyPr wrap="square" lIns="0" tIns="0" rIns="0" bIns="0" rtlCol="0" anchor="ctr"/>
          <a:lstStyle/>
          <a:p>
            <a:pPr marL="0" indent="0">
              <a:buNone/>
            </a:pPr>
            <a:r>
              <a:rPr lang="en-US" sz="1100" dirty="0">
                <a:solidFill>
                  <a:srgbClr val="8B8FA8"/>
                </a:solidFill>
              </a:rPr>
              <a:t>Dataset origin, table structure and analytical scope</a:t>
            </a:r>
            <a:endParaRPr lang="en-US" sz="1100" dirty="0"/>
          </a:p>
        </p:txBody>
      </p:sp>
      <p:sp>
        <p:nvSpPr>
          <p:cNvPr id="10" name="Shape 8"/>
          <p:cNvSpPr/>
          <p:nvPr/>
        </p:nvSpPr>
        <p:spPr>
          <a:xfrm>
            <a:off x="365760" y="1170432"/>
            <a:ext cx="8412480" cy="347472"/>
          </a:xfrm>
          <a:prstGeom prst="rect">
            <a:avLst/>
          </a:prstGeom>
          <a:solidFill>
            <a:srgbClr val="C9A84C"/>
          </a:solidFill>
          <a:ln w="12700">
            <a:solidFill>
              <a:srgbClr val="C9A84C"/>
            </a:solidFill>
            <a:prstDash val="solid"/>
          </a:ln>
        </p:spPr>
        <p:txBody>
          <a:bodyPr/>
          <a:lstStyle/>
          <a:p>
            <a:endParaRPr lang="en-IN"/>
          </a:p>
        </p:txBody>
      </p:sp>
      <p:sp>
        <p:nvSpPr>
          <p:cNvPr id="11" name="Text 9"/>
          <p:cNvSpPr/>
          <p:nvPr/>
        </p:nvSpPr>
        <p:spPr>
          <a:xfrm>
            <a:off x="502920" y="1170432"/>
            <a:ext cx="8138160" cy="347472"/>
          </a:xfrm>
          <a:prstGeom prst="rect">
            <a:avLst/>
          </a:prstGeom>
          <a:noFill/>
          <a:ln/>
        </p:spPr>
        <p:txBody>
          <a:bodyPr wrap="square" lIns="0" tIns="0" rIns="0" bIns="0" rtlCol="0" anchor="ctr"/>
          <a:lstStyle/>
          <a:p>
            <a:pPr marL="0" indent="0">
              <a:buNone/>
            </a:pPr>
            <a:r>
              <a:rPr lang="en-US" sz="1050" b="1" dirty="0">
                <a:solidFill>
                  <a:srgbClr val="0D0D0D"/>
                </a:solidFill>
              </a:rPr>
              <a:t>Dataset:  Luxury Fashion &amp; Apparel Retail  |  Source: Synthetically Generated + Kaggle Reference  |  1,200 Orders  ·  300 Clients  ·  ~350 SKUs  ·  10 Brand Houses</a:t>
            </a:r>
            <a:endParaRPr lang="en-US" sz="1050" dirty="0"/>
          </a:p>
        </p:txBody>
      </p:sp>
      <p:sp>
        <p:nvSpPr>
          <p:cNvPr id="12" name="Shape 10"/>
          <p:cNvSpPr/>
          <p:nvPr/>
        </p:nvSpPr>
        <p:spPr>
          <a:xfrm>
            <a:off x="365760" y="1664208"/>
            <a:ext cx="2606040" cy="1417320"/>
          </a:xfrm>
          <a:prstGeom prst="rect">
            <a:avLst/>
          </a:prstGeom>
          <a:solidFill>
            <a:srgbClr val="1A1F2E"/>
          </a:solidFill>
          <a:ln w="12700">
            <a:solidFill>
              <a:srgbClr val="2A2F40"/>
            </a:solidFill>
            <a:prstDash val="solid"/>
          </a:ln>
          <a:effectLst>
            <a:outerShdw blurRad="101600" dist="38100" dir="8100000" algn="bl" rotWithShape="0">
              <a:srgbClr val="000000">
                <a:alpha val="25000"/>
              </a:srgbClr>
            </a:outerShdw>
          </a:effectLst>
        </p:spPr>
        <p:txBody>
          <a:bodyPr/>
          <a:lstStyle/>
          <a:p>
            <a:endParaRPr lang="en-IN"/>
          </a:p>
        </p:txBody>
      </p:sp>
      <p:sp>
        <p:nvSpPr>
          <p:cNvPr id="13" name="Shape 11"/>
          <p:cNvSpPr/>
          <p:nvPr/>
        </p:nvSpPr>
        <p:spPr>
          <a:xfrm>
            <a:off x="365760" y="1664208"/>
            <a:ext cx="54864" cy="1417320"/>
          </a:xfrm>
          <a:prstGeom prst="rect">
            <a:avLst/>
          </a:prstGeom>
          <a:solidFill>
            <a:srgbClr val="C9A84C"/>
          </a:solidFill>
          <a:ln w="12700">
            <a:solidFill>
              <a:srgbClr val="C9A84C"/>
            </a:solidFill>
            <a:prstDash val="solid"/>
          </a:ln>
        </p:spPr>
        <p:txBody>
          <a:bodyPr/>
          <a:lstStyle/>
          <a:p>
            <a:endParaRPr lang="en-IN"/>
          </a:p>
        </p:txBody>
      </p:sp>
      <p:sp>
        <p:nvSpPr>
          <p:cNvPr id="14" name="Text 12"/>
          <p:cNvSpPr/>
          <p:nvPr/>
        </p:nvSpPr>
        <p:spPr>
          <a:xfrm>
            <a:off x="548640" y="1755648"/>
            <a:ext cx="2286000" cy="320040"/>
          </a:xfrm>
          <a:prstGeom prst="rect">
            <a:avLst/>
          </a:prstGeom>
          <a:noFill/>
          <a:ln/>
        </p:spPr>
        <p:txBody>
          <a:bodyPr wrap="square" lIns="0" tIns="0" rIns="0" bIns="0" rtlCol="0" anchor="ctr"/>
          <a:lstStyle/>
          <a:p>
            <a:pPr marL="0" indent="0">
              <a:lnSpc>
                <a:spcPct val="120000"/>
              </a:lnSpc>
              <a:buNone/>
            </a:pPr>
            <a:r>
              <a:rPr lang="en-US" sz="1050" b="1" dirty="0">
                <a:solidFill>
                  <a:srgbClr val="F5F0E8"/>
                </a:solidFill>
              </a:rPr>
              <a:t>Descriptive Analytics</a:t>
            </a:r>
            <a:endParaRPr lang="en-US" sz="1050" dirty="0"/>
          </a:p>
        </p:txBody>
      </p:sp>
      <p:sp>
        <p:nvSpPr>
          <p:cNvPr id="15" name="Text 13"/>
          <p:cNvSpPr/>
          <p:nvPr/>
        </p:nvSpPr>
        <p:spPr>
          <a:xfrm>
            <a:off x="548640" y="2084832"/>
            <a:ext cx="2286000" cy="914400"/>
          </a:xfrm>
          <a:prstGeom prst="rect">
            <a:avLst/>
          </a:prstGeom>
          <a:noFill/>
          <a:ln/>
        </p:spPr>
        <p:txBody>
          <a:bodyPr wrap="square" lIns="0" tIns="0" rIns="0" bIns="0" rtlCol="0" anchor="ctr"/>
          <a:lstStyle/>
          <a:p>
            <a:pPr marL="0" indent="0">
              <a:lnSpc>
                <a:spcPct val="140000"/>
              </a:lnSpc>
              <a:buNone/>
            </a:pPr>
            <a:r>
              <a:rPr lang="en-US" sz="1050" dirty="0">
                <a:solidFill>
                  <a:srgbClr val="8B8FA8"/>
                </a:solidFill>
              </a:rPr>
              <a:t>Auditing GMV, AOV, and margin patterns across brand houses, categories, and channels for 2023–2024.</a:t>
            </a:r>
            <a:endParaRPr lang="en-US" sz="1050" dirty="0"/>
          </a:p>
        </p:txBody>
      </p:sp>
      <p:sp>
        <p:nvSpPr>
          <p:cNvPr id="16" name="Shape 14"/>
          <p:cNvSpPr/>
          <p:nvPr/>
        </p:nvSpPr>
        <p:spPr>
          <a:xfrm>
            <a:off x="3200400" y="1664208"/>
            <a:ext cx="2606040" cy="1417320"/>
          </a:xfrm>
          <a:prstGeom prst="rect">
            <a:avLst/>
          </a:prstGeom>
          <a:solidFill>
            <a:srgbClr val="1A1F2E"/>
          </a:solidFill>
          <a:ln w="12700">
            <a:solidFill>
              <a:srgbClr val="2A2F40"/>
            </a:solidFill>
            <a:prstDash val="solid"/>
          </a:ln>
          <a:effectLst>
            <a:outerShdw blurRad="101600" dist="38100" dir="8100000" algn="bl" rotWithShape="0">
              <a:srgbClr val="000000">
                <a:alpha val="25000"/>
              </a:srgbClr>
            </a:outerShdw>
          </a:effectLst>
        </p:spPr>
        <p:txBody>
          <a:bodyPr/>
          <a:lstStyle/>
          <a:p>
            <a:endParaRPr lang="en-IN"/>
          </a:p>
        </p:txBody>
      </p:sp>
      <p:sp>
        <p:nvSpPr>
          <p:cNvPr id="17" name="Shape 15"/>
          <p:cNvSpPr/>
          <p:nvPr/>
        </p:nvSpPr>
        <p:spPr>
          <a:xfrm>
            <a:off x="3200400" y="1664208"/>
            <a:ext cx="54864" cy="1417320"/>
          </a:xfrm>
          <a:prstGeom prst="rect">
            <a:avLst/>
          </a:prstGeom>
          <a:solidFill>
            <a:srgbClr val="7F77DD"/>
          </a:solidFill>
          <a:ln w="12700">
            <a:solidFill>
              <a:srgbClr val="7F77DD"/>
            </a:solidFill>
            <a:prstDash val="solid"/>
          </a:ln>
        </p:spPr>
        <p:txBody>
          <a:bodyPr/>
          <a:lstStyle/>
          <a:p>
            <a:endParaRPr lang="en-IN"/>
          </a:p>
        </p:txBody>
      </p:sp>
      <p:sp>
        <p:nvSpPr>
          <p:cNvPr id="18" name="Text 16"/>
          <p:cNvSpPr/>
          <p:nvPr/>
        </p:nvSpPr>
        <p:spPr>
          <a:xfrm>
            <a:off x="3383280" y="1755648"/>
            <a:ext cx="2286000" cy="320040"/>
          </a:xfrm>
          <a:prstGeom prst="rect">
            <a:avLst/>
          </a:prstGeom>
          <a:noFill/>
          <a:ln/>
        </p:spPr>
        <p:txBody>
          <a:bodyPr wrap="square" lIns="0" tIns="0" rIns="0" bIns="0" rtlCol="0" anchor="ctr"/>
          <a:lstStyle/>
          <a:p>
            <a:pPr marL="0" indent="0">
              <a:lnSpc>
                <a:spcPct val="120000"/>
              </a:lnSpc>
              <a:buNone/>
            </a:pPr>
            <a:r>
              <a:rPr lang="en-US" sz="1050" b="1" dirty="0">
                <a:solidFill>
                  <a:srgbClr val="F5F0E8"/>
                </a:solidFill>
              </a:rPr>
              <a:t>Client Intelligence</a:t>
            </a:r>
            <a:endParaRPr lang="en-US" sz="1050" dirty="0"/>
          </a:p>
        </p:txBody>
      </p:sp>
      <p:sp>
        <p:nvSpPr>
          <p:cNvPr id="19" name="Text 17"/>
          <p:cNvSpPr/>
          <p:nvPr/>
        </p:nvSpPr>
        <p:spPr>
          <a:xfrm>
            <a:off x="3383280" y="2084832"/>
            <a:ext cx="2286000" cy="914400"/>
          </a:xfrm>
          <a:prstGeom prst="rect">
            <a:avLst/>
          </a:prstGeom>
          <a:noFill/>
          <a:ln/>
        </p:spPr>
        <p:txBody>
          <a:bodyPr wrap="square" lIns="0" tIns="0" rIns="0" bIns="0" rtlCol="0" anchor="ctr"/>
          <a:lstStyle/>
          <a:p>
            <a:pPr marL="0" indent="0">
              <a:lnSpc>
                <a:spcPct val="140000"/>
              </a:lnSpc>
              <a:buNone/>
            </a:pPr>
            <a:r>
              <a:rPr lang="en-US" sz="1050" dirty="0">
                <a:solidFill>
                  <a:srgbClr val="8B8FA8"/>
                </a:solidFill>
              </a:rPr>
              <a:t>RFM segmentation, CLTV modelling, VIC cohort tracking, and churn risk flagging across 300 client profiles.</a:t>
            </a:r>
            <a:endParaRPr lang="en-US" sz="1050" dirty="0"/>
          </a:p>
        </p:txBody>
      </p:sp>
      <p:sp>
        <p:nvSpPr>
          <p:cNvPr id="20" name="Shape 18"/>
          <p:cNvSpPr/>
          <p:nvPr/>
        </p:nvSpPr>
        <p:spPr>
          <a:xfrm>
            <a:off x="6035040" y="1664208"/>
            <a:ext cx="2606040" cy="1417320"/>
          </a:xfrm>
          <a:prstGeom prst="rect">
            <a:avLst/>
          </a:prstGeom>
          <a:solidFill>
            <a:srgbClr val="1A1F2E"/>
          </a:solidFill>
          <a:ln w="12700">
            <a:solidFill>
              <a:srgbClr val="2A2F40"/>
            </a:solidFill>
            <a:prstDash val="solid"/>
          </a:ln>
          <a:effectLst>
            <a:outerShdw blurRad="101600" dist="38100" dir="8100000" algn="bl" rotWithShape="0">
              <a:srgbClr val="000000">
                <a:alpha val="25000"/>
              </a:srgbClr>
            </a:outerShdw>
          </a:effectLst>
        </p:spPr>
        <p:txBody>
          <a:bodyPr/>
          <a:lstStyle/>
          <a:p>
            <a:endParaRPr lang="en-IN"/>
          </a:p>
        </p:txBody>
      </p:sp>
      <p:sp>
        <p:nvSpPr>
          <p:cNvPr id="21" name="Shape 19"/>
          <p:cNvSpPr/>
          <p:nvPr/>
        </p:nvSpPr>
        <p:spPr>
          <a:xfrm>
            <a:off x="6035040" y="1664208"/>
            <a:ext cx="54864" cy="1417320"/>
          </a:xfrm>
          <a:prstGeom prst="rect">
            <a:avLst/>
          </a:prstGeom>
          <a:solidFill>
            <a:srgbClr val="1D9E75"/>
          </a:solidFill>
          <a:ln w="12700">
            <a:solidFill>
              <a:srgbClr val="1D9E75"/>
            </a:solidFill>
            <a:prstDash val="solid"/>
          </a:ln>
        </p:spPr>
        <p:txBody>
          <a:bodyPr/>
          <a:lstStyle/>
          <a:p>
            <a:endParaRPr lang="en-IN"/>
          </a:p>
        </p:txBody>
      </p:sp>
      <p:sp>
        <p:nvSpPr>
          <p:cNvPr id="22" name="Text 20"/>
          <p:cNvSpPr/>
          <p:nvPr/>
        </p:nvSpPr>
        <p:spPr>
          <a:xfrm>
            <a:off x="6217920" y="1755648"/>
            <a:ext cx="2286000" cy="320040"/>
          </a:xfrm>
          <a:prstGeom prst="rect">
            <a:avLst/>
          </a:prstGeom>
          <a:noFill/>
          <a:ln/>
        </p:spPr>
        <p:txBody>
          <a:bodyPr wrap="square" lIns="0" tIns="0" rIns="0" bIns="0" rtlCol="0" anchor="ctr"/>
          <a:lstStyle/>
          <a:p>
            <a:pPr marL="0" indent="0">
              <a:lnSpc>
                <a:spcPct val="120000"/>
              </a:lnSpc>
              <a:buNone/>
            </a:pPr>
            <a:r>
              <a:rPr lang="en-US" sz="1050" b="1" dirty="0">
                <a:solidFill>
                  <a:srgbClr val="F5F0E8"/>
                </a:solidFill>
              </a:rPr>
              <a:t>Brand Equity Intelligence</a:t>
            </a:r>
            <a:endParaRPr lang="en-US" sz="1050" dirty="0"/>
          </a:p>
        </p:txBody>
      </p:sp>
      <p:sp>
        <p:nvSpPr>
          <p:cNvPr id="23" name="Text 21"/>
          <p:cNvSpPr/>
          <p:nvPr/>
        </p:nvSpPr>
        <p:spPr>
          <a:xfrm>
            <a:off x="6217920" y="2084832"/>
            <a:ext cx="2286000" cy="914400"/>
          </a:xfrm>
          <a:prstGeom prst="rect">
            <a:avLst/>
          </a:prstGeom>
          <a:noFill/>
          <a:ln/>
        </p:spPr>
        <p:txBody>
          <a:bodyPr wrap="square" lIns="0" tIns="0" rIns="0" bIns="0" rtlCol="0" anchor="ctr"/>
          <a:lstStyle/>
          <a:p>
            <a:pPr marL="0" indent="0">
              <a:lnSpc>
                <a:spcPct val="140000"/>
              </a:lnSpc>
              <a:buNone/>
            </a:pPr>
            <a:r>
              <a:rPr lang="en-US" sz="1050" dirty="0">
                <a:solidFill>
                  <a:srgbClr val="8B8FA8"/>
                </a:solidFill>
              </a:rPr>
              <a:t>Prestige Price Index vs market benchmark, limited edition premium analysis, and sell-through matrix.</a:t>
            </a:r>
            <a:endParaRPr lang="en-US" sz="1050" dirty="0"/>
          </a:p>
        </p:txBody>
      </p:sp>
      <p:sp>
        <p:nvSpPr>
          <p:cNvPr id="24" name="Text 22"/>
          <p:cNvSpPr/>
          <p:nvPr/>
        </p:nvSpPr>
        <p:spPr>
          <a:xfrm>
            <a:off x="365760" y="3218688"/>
            <a:ext cx="8412480" cy="182880"/>
          </a:xfrm>
          <a:prstGeom prst="rect">
            <a:avLst/>
          </a:prstGeom>
          <a:noFill/>
          <a:ln/>
        </p:spPr>
        <p:txBody>
          <a:bodyPr wrap="square" lIns="0" tIns="0" rIns="0" bIns="0" rtlCol="0" anchor="ctr"/>
          <a:lstStyle/>
          <a:p>
            <a:pPr marL="0" indent="0">
              <a:buNone/>
            </a:pPr>
            <a:r>
              <a:rPr lang="en-US" sz="1100" b="1" kern="0" spc="200" dirty="0">
                <a:solidFill>
                  <a:srgbClr val="C9A84C"/>
                </a:solidFill>
              </a:rPr>
              <a:t>TABLE STRUCTURE</a:t>
            </a:r>
            <a:endParaRPr lang="en-US" sz="1100" dirty="0"/>
          </a:p>
        </p:txBody>
      </p:sp>
      <p:sp>
        <p:nvSpPr>
          <p:cNvPr id="25" name="Shape 23"/>
          <p:cNvSpPr/>
          <p:nvPr/>
        </p:nvSpPr>
        <p:spPr>
          <a:xfrm>
            <a:off x="365760" y="3401568"/>
            <a:ext cx="8412480" cy="210312"/>
          </a:xfrm>
          <a:prstGeom prst="rect">
            <a:avLst/>
          </a:prstGeom>
          <a:solidFill>
            <a:srgbClr val="1A1F2E"/>
          </a:solidFill>
          <a:ln w="12700">
            <a:solidFill>
              <a:srgbClr val="2A2F40"/>
            </a:solidFill>
            <a:prstDash val="solid"/>
          </a:ln>
        </p:spPr>
        <p:txBody>
          <a:bodyPr/>
          <a:lstStyle/>
          <a:p>
            <a:endParaRPr lang="en-IN"/>
          </a:p>
        </p:txBody>
      </p:sp>
      <p:sp>
        <p:nvSpPr>
          <p:cNvPr id="26" name="Text 24"/>
          <p:cNvSpPr/>
          <p:nvPr/>
        </p:nvSpPr>
        <p:spPr>
          <a:xfrm>
            <a:off x="502920" y="3401568"/>
            <a:ext cx="1371600" cy="210312"/>
          </a:xfrm>
          <a:prstGeom prst="rect">
            <a:avLst/>
          </a:prstGeom>
          <a:noFill/>
          <a:ln/>
        </p:spPr>
        <p:txBody>
          <a:bodyPr wrap="square" lIns="0" tIns="0" rIns="0" bIns="0" rtlCol="0" anchor="ctr"/>
          <a:lstStyle/>
          <a:p>
            <a:pPr marL="0" indent="0">
              <a:buNone/>
            </a:pPr>
            <a:r>
              <a:rPr lang="en-US" sz="850" b="1" dirty="0" err="1">
                <a:solidFill>
                  <a:srgbClr val="C9A84C"/>
                </a:solidFill>
              </a:rPr>
              <a:t>Orders_Table</a:t>
            </a:r>
            <a:endParaRPr lang="en-US" sz="850" dirty="0"/>
          </a:p>
        </p:txBody>
      </p:sp>
      <p:sp>
        <p:nvSpPr>
          <p:cNvPr id="27" name="Text 25"/>
          <p:cNvSpPr/>
          <p:nvPr/>
        </p:nvSpPr>
        <p:spPr>
          <a:xfrm>
            <a:off x="1920240" y="3401568"/>
            <a:ext cx="914400" cy="210312"/>
          </a:xfrm>
          <a:prstGeom prst="rect">
            <a:avLst/>
          </a:prstGeom>
          <a:noFill/>
          <a:ln/>
        </p:spPr>
        <p:txBody>
          <a:bodyPr wrap="square" lIns="0" tIns="0" rIns="0" bIns="0" rtlCol="0" anchor="ctr"/>
          <a:lstStyle/>
          <a:p>
            <a:pPr marL="0" indent="0">
              <a:buNone/>
            </a:pPr>
            <a:r>
              <a:rPr lang="en-US" sz="1100" dirty="0">
                <a:solidFill>
                  <a:srgbClr val="1D9E75"/>
                </a:solidFill>
              </a:rPr>
              <a:t>1,200 rows</a:t>
            </a:r>
            <a:endParaRPr lang="en-US" sz="1100" dirty="0"/>
          </a:p>
        </p:txBody>
      </p:sp>
      <p:sp>
        <p:nvSpPr>
          <p:cNvPr id="28" name="Text 26"/>
          <p:cNvSpPr/>
          <p:nvPr/>
        </p:nvSpPr>
        <p:spPr>
          <a:xfrm>
            <a:off x="2926080" y="3401568"/>
            <a:ext cx="5669280" cy="210312"/>
          </a:xfrm>
          <a:prstGeom prst="rect">
            <a:avLst/>
          </a:prstGeom>
          <a:noFill/>
          <a:ln/>
        </p:spPr>
        <p:txBody>
          <a:bodyPr wrap="square" lIns="0" tIns="0" rIns="0" bIns="0" rtlCol="0" anchor="ctr"/>
          <a:lstStyle/>
          <a:p>
            <a:pPr marL="0" indent="0">
              <a:buNone/>
            </a:pPr>
            <a:r>
              <a:rPr lang="en-US" sz="1100" dirty="0">
                <a:solidFill>
                  <a:srgbClr val="8B8FA8"/>
                </a:solidFill>
              </a:rPr>
              <a:t>Core transaction table — OrderID, ClientID, Date, Brand, SKU, Qty, Price, Channel, Country</a:t>
            </a:r>
            <a:endParaRPr lang="en-US" sz="1100" dirty="0"/>
          </a:p>
        </p:txBody>
      </p:sp>
      <p:sp>
        <p:nvSpPr>
          <p:cNvPr id="29" name="Shape 27"/>
          <p:cNvSpPr/>
          <p:nvPr/>
        </p:nvSpPr>
        <p:spPr>
          <a:xfrm>
            <a:off x="365760" y="3616452"/>
            <a:ext cx="8412480" cy="210312"/>
          </a:xfrm>
          <a:prstGeom prst="rect">
            <a:avLst/>
          </a:prstGeom>
          <a:solidFill>
            <a:srgbClr val="161B2A"/>
          </a:solidFill>
          <a:ln w="12700">
            <a:solidFill>
              <a:srgbClr val="2A2F40"/>
            </a:solidFill>
            <a:prstDash val="solid"/>
          </a:ln>
        </p:spPr>
        <p:txBody>
          <a:bodyPr/>
          <a:lstStyle/>
          <a:p>
            <a:endParaRPr lang="en-IN"/>
          </a:p>
        </p:txBody>
      </p:sp>
      <p:sp>
        <p:nvSpPr>
          <p:cNvPr id="30" name="Text 28"/>
          <p:cNvSpPr/>
          <p:nvPr/>
        </p:nvSpPr>
        <p:spPr>
          <a:xfrm>
            <a:off x="502920" y="3616452"/>
            <a:ext cx="1371600" cy="210312"/>
          </a:xfrm>
          <a:prstGeom prst="rect">
            <a:avLst/>
          </a:prstGeom>
          <a:noFill/>
          <a:ln/>
        </p:spPr>
        <p:txBody>
          <a:bodyPr wrap="square" lIns="0" tIns="0" rIns="0" bIns="0" rtlCol="0" anchor="ctr"/>
          <a:lstStyle/>
          <a:p>
            <a:pPr marL="0" indent="0">
              <a:buNone/>
            </a:pPr>
            <a:r>
              <a:rPr lang="en-US" sz="850" b="1" dirty="0" err="1">
                <a:solidFill>
                  <a:srgbClr val="C9A84C"/>
                </a:solidFill>
              </a:rPr>
              <a:t>Client_Table</a:t>
            </a:r>
            <a:endParaRPr lang="en-US" sz="850" dirty="0"/>
          </a:p>
        </p:txBody>
      </p:sp>
      <p:sp>
        <p:nvSpPr>
          <p:cNvPr id="31" name="Text 29"/>
          <p:cNvSpPr/>
          <p:nvPr/>
        </p:nvSpPr>
        <p:spPr>
          <a:xfrm>
            <a:off x="1920240" y="3616452"/>
            <a:ext cx="914400" cy="210312"/>
          </a:xfrm>
          <a:prstGeom prst="rect">
            <a:avLst/>
          </a:prstGeom>
          <a:noFill/>
          <a:ln/>
        </p:spPr>
        <p:txBody>
          <a:bodyPr wrap="square" lIns="0" tIns="0" rIns="0" bIns="0" rtlCol="0" anchor="ctr"/>
          <a:lstStyle/>
          <a:p>
            <a:pPr marL="0" indent="0">
              <a:buNone/>
            </a:pPr>
            <a:r>
              <a:rPr lang="en-US" sz="1100" dirty="0">
                <a:solidFill>
                  <a:srgbClr val="1D9E75"/>
                </a:solidFill>
              </a:rPr>
              <a:t>300 rows</a:t>
            </a:r>
            <a:endParaRPr lang="en-US" sz="1100" dirty="0"/>
          </a:p>
        </p:txBody>
      </p:sp>
      <p:sp>
        <p:nvSpPr>
          <p:cNvPr id="32" name="Text 30"/>
          <p:cNvSpPr/>
          <p:nvPr/>
        </p:nvSpPr>
        <p:spPr>
          <a:xfrm>
            <a:off x="2926080" y="3616452"/>
            <a:ext cx="5669280" cy="210312"/>
          </a:xfrm>
          <a:prstGeom prst="rect">
            <a:avLst/>
          </a:prstGeom>
          <a:noFill/>
          <a:ln/>
        </p:spPr>
        <p:txBody>
          <a:bodyPr wrap="square" lIns="0" tIns="0" rIns="0" bIns="0" rtlCol="0" anchor="ctr"/>
          <a:lstStyle/>
          <a:p>
            <a:pPr marL="0" indent="0">
              <a:buNone/>
            </a:pPr>
            <a:r>
              <a:rPr lang="en-US" sz="1100" dirty="0">
                <a:solidFill>
                  <a:srgbClr val="8B8FA8"/>
                </a:solidFill>
              </a:rPr>
              <a:t>ClientID, Tier (VIC/HNW/Standard), JoinDate, Region, Gender, AgeGroup, LifetimeSpend</a:t>
            </a:r>
            <a:endParaRPr lang="en-US" sz="1100" dirty="0"/>
          </a:p>
        </p:txBody>
      </p:sp>
      <p:sp>
        <p:nvSpPr>
          <p:cNvPr id="33" name="Shape 31"/>
          <p:cNvSpPr/>
          <p:nvPr/>
        </p:nvSpPr>
        <p:spPr>
          <a:xfrm>
            <a:off x="365760" y="3831336"/>
            <a:ext cx="8412480" cy="210312"/>
          </a:xfrm>
          <a:prstGeom prst="rect">
            <a:avLst/>
          </a:prstGeom>
          <a:solidFill>
            <a:srgbClr val="1A1F2E"/>
          </a:solidFill>
          <a:ln w="12700">
            <a:solidFill>
              <a:srgbClr val="2A2F40"/>
            </a:solidFill>
            <a:prstDash val="solid"/>
          </a:ln>
        </p:spPr>
        <p:txBody>
          <a:bodyPr/>
          <a:lstStyle/>
          <a:p>
            <a:endParaRPr lang="en-IN"/>
          </a:p>
        </p:txBody>
      </p:sp>
      <p:sp>
        <p:nvSpPr>
          <p:cNvPr id="34" name="Text 32"/>
          <p:cNvSpPr/>
          <p:nvPr/>
        </p:nvSpPr>
        <p:spPr>
          <a:xfrm>
            <a:off x="502920" y="3831336"/>
            <a:ext cx="1371600" cy="210312"/>
          </a:xfrm>
          <a:prstGeom prst="rect">
            <a:avLst/>
          </a:prstGeom>
          <a:noFill/>
          <a:ln/>
        </p:spPr>
        <p:txBody>
          <a:bodyPr wrap="square" lIns="0" tIns="0" rIns="0" bIns="0" rtlCol="0" anchor="ctr"/>
          <a:lstStyle/>
          <a:p>
            <a:pPr marL="0" indent="0">
              <a:buNone/>
            </a:pPr>
            <a:r>
              <a:rPr lang="en-US" sz="850" b="1" dirty="0" err="1">
                <a:solidFill>
                  <a:srgbClr val="C9A84C"/>
                </a:solidFill>
              </a:rPr>
              <a:t>Product_Table</a:t>
            </a:r>
            <a:endParaRPr lang="en-US" sz="850" dirty="0"/>
          </a:p>
        </p:txBody>
      </p:sp>
      <p:sp>
        <p:nvSpPr>
          <p:cNvPr id="35" name="Text 33"/>
          <p:cNvSpPr/>
          <p:nvPr/>
        </p:nvSpPr>
        <p:spPr>
          <a:xfrm>
            <a:off x="1920240" y="3831336"/>
            <a:ext cx="914400" cy="210312"/>
          </a:xfrm>
          <a:prstGeom prst="rect">
            <a:avLst/>
          </a:prstGeom>
          <a:noFill/>
          <a:ln/>
        </p:spPr>
        <p:txBody>
          <a:bodyPr wrap="square" lIns="0" tIns="0" rIns="0" bIns="0" rtlCol="0" anchor="ctr"/>
          <a:lstStyle/>
          <a:p>
            <a:pPr marL="0" indent="0">
              <a:buNone/>
            </a:pPr>
            <a:r>
              <a:rPr lang="en-US" sz="1100" dirty="0">
                <a:solidFill>
                  <a:srgbClr val="1D9E75"/>
                </a:solidFill>
              </a:rPr>
              <a:t>350 rows</a:t>
            </a:r>
            <a:endParaRPr lang="en-US" sz="1100" dirty="0"/>
          </a:p>
        </p:txBody>
      </p:sp>
      <p:sp>
        <p:nvSpPr>
          <p:cNvPr id="36" name="Text 34"/>
          <p:cNvSpPr/>
          <p:nvPr/>
        </p:nvSpPr>
        <p:spPr>
          <a:xfrm>
            <a:off x="2926080" y="3831336"/>
            <a:ext cx="5669280" cy="210312"/>
          </a:xfrm>
          <a:prstGeom prst="rect">
            <a:avLst/>
          </a:prstGeom>
          <a:noFill/>
          <a:ln/>
        </p:spPr>
        <p:txBody>
          <a:bodyPr wrap="square" lIns="0" tIns="0" rIns="0" bIns="0" rtlCol="0" anchor="ctr"/>
          <a:lstStyle/>
          <a:p>
            <a:pPr marL="0" indent="0">
              <a:buNone/>
            </a:pPr>
            <a:r>
              <a:rPr lang="en-US" sz="1100" dirty="0">
                <a:solidFill>
                  <a:srgbClr val="8B8FA8"/>
                </a:solidFill>
              </a:rPr>
              <a:t>SKU, BrandHouse, Category, Collection, LaunchSeason, RRP, COGS, IsLimitedEdition</a:t>
            </a:r>
            <a:endParaRPr lang="en-US" sz="1100" dirty="0"/>
          </a:p>
        </p:txBody>
      </p:sp>
      <p:sp>
        <p:nvSpPr>
          <p:cNvPr id="37" name="Shape 35"/>
          <p:cNvSpPr/>
          <p:nvPr/>
        </p:nvSpPr>
        <p:spPr>
          <a:xfrm>
            <a:off x="365760" y="4046220"/>
            <a:ext cx="8412480" cy="210312"/>
          </a:xfrm>
          <a:prstGeom prst="rect">
            <a:avLst/>
          </a:prstGeom>
          <a:solidFill>
            <a:srgbClr val="161B2A"/>
          </a:solidFill>
          <a:ln w="12700">
            <a:solidFill>
              <a:srgbClr val="2A2F40"/>
            </a:solidFill>
            <a:prstDash val="solid"/>
          </a:ln>
        </p:spPr>
        <p:txBody>
          <a:bodyPr/>
          <a:lstStyle/>
          <a:p>
            <a:endParaRPr lang="en-IN"/>
          </a:p>
        </p:txBody>
      </p:sp>
      <p:sp>
        <p:nvSpPr>
          <p:cNvPr id="38" name="Text 36"/>
          <p:cNvSpPr/>
          <p:nvPr/>
        </p:nvSpPr>
        <p:spPr>
          <a:xfrm>
            <a:off x="502920" y="4046220"/>
            <a:ext cx="1371600" cy="210312"/>
          </a:xfrm>
          <a:prstGeom prst="rect">
            <a:avLst/>
          </a:prstGeom>
          <a:noFill/>
          <a:ln/>
        </p:spPr>
        <p:txBody>
          <a:bodyPr wrap="square" lIns="0" tIns="0" rIns="0" bIns="0" rtlCol="0" anchor="ctr"/>
          <a:lstStyle/>
          <a:p>
            <a:pPr marL="0" indent="0">
              <a:buNone/>
            </a:pPr>
            <a:r>
              <a:rPr lang="en-US" sz="850" b="1" dirty="0" err="1">
                <a:solidFill>
                  <a:srgbClr val="C9A84C"/>
                </a:solidFill>
              </a:rPr>
              <a:t>Calendar_Table</a:t>
            </a:r>
            <a:endParaRPr lang="en-US" sz="850" dirty="0"/>
          </a:p>
        </p:txBody>
      </p:sp>
      <p:sp>
        <p:nvSpPr>
          <p:cNvPr id="39" name="Text 37"/>
          <p:cNvSpPr/>
          <p:nvPr/>
        </p:nvSpPr>
        <p:spPr>
          <a:xfrm>
            <a:off x="1920240" y="4046220"/>
            <a:ext cx="914400" cy="210312"/>
          </a:xfrm>
          <a:prstGeom prst="rect">
            <a:avLst/>
          </a:prstGeom>
          <a:noFill/>
          <a:ln/>
        </p:spPr>
        <p:txBody>
          <a:bodyPr wrap="square" lIns="0" tIns="0" rIns="0" bIns="0" rtlCol="0" anchor="ctr"/>
          <a:lstStyle/>
          <a:p>
            <a:pPr marL="0" indent="0">
              <a:buNone/>
            </a:pPr>
            <a:r>
              <a:rPr lang="en-US" sz="1100" dirty="0">
                <a:solidFill>
                  <a:srgbClr val="1D9E75"/>
                </a:solidFill>
              </a:rPr>
              <a:t>731 rows</a:t>
            </a:r>
            <a:endParaRPr lang="en-US" sz="1100" dirty="0"/>
          </a:p>
        </p:txBody>
      </p:sp>
      <p:sp>
        <p:nvSpPr>
          <p:cNvPr id="40" name="Text 38"/>
          <p:cNvSpPr/>
          <p:nvPr/>
        </p:nvSpPr>
        <p:spPr>
          <a:xfrm>
            <a:off x="2926080" y="4046220"/>
            <a:ext cx="5669280" cy="210312"/>
          </a:xfrm>
          <a:prstGeom prst="rect">
            <a:avLst/>
          </a:prstGeom>
          <a:noFill/>
          <a:ln/>
        </p:spPr>
        <p:txBody>
          <a:bodyPr wrap="square" lIns="0" tIns="0" rIns="0" bIns="0" rtlCol="0" anchor="ctr"/>
          <a:lstStyle/>
          <a:p>
            <a:pPr marL="0" indent="0">
              <a:buNone/>
            </a:pPr>
            <a:r>
              <a:rPr lang="en-US" sz="1100" dirty="0">
                <a:solidFill>
                  <a:srgbClr val="8B8FA8"/>
                </a:solidFill>
              </a:rPr>
              <a:t>Date, Month, Quarter, Year, Season (SS/FW), FashionWeekFlag, HolidayFlag</a:t>
            </a:r>
            <a:endParaRPr lang="en-US" sz="1100" dirty="0"/>
          </a:p>
        </p:txBody>
      </p:sp>
      <p:sp>
        <p:nvSpPr>
          <p:cNvPr id="41" name="Shape 39"/>
          <p:cNvSpPr/>
          <p:nvPr/>
        </p:nvSpPr>
        <p:spPr>
          <a:xfrm>
            <a:off x="365760" y="4261104"/>
            <a:ext cx="8412480" cy="210312"/>
          </a:xfrm>
          <a:prstGeom prst="rect">
            <a:avLst/>
          </a:prstGeom>
          <a:solidFill>
            <a:srgbClr val="1A1F2E"/>
          </a:solidFill>
          <a:ln w="12700">
            <a:solidFill>
              <a:srgbClr val="2A2F40"/>
            </a:solidFill>
            <a:prstDash val="solid"/>
          </a:ln>
        </p:spPr>
        <p:txBody>
          <a:bodyPr/>
          <a:lstStyle/>
          <a:p>
            <a:endParaRPr lang="en-IN"/>
          </a:p>
        </p:txBody>
      </p:sp>
      <p:sp>
        <p:nvSpPr>
          <p:cNvPr id="42" name="Text 40"/>
          <p:cNvSpPr/>
          <p:nvPr/>
        </p:nvSpPr>
        <p:spPr>
          <a:xfrm>
            <a:off x="502920" y="4261104"/>
            <a:ext cx="1371600" cy="210312"/>
          </a:xfrm>
          <a:prstGeom prst="rect">
            <a:avLst/>
          </a:prstGeom>
          <a:noFill/>
          <a:ln/>
        </p:spPr>
        <p:txBody>
          <a:bodyPr wrap="square" lIns="0" tIns="0" rIns="0" bIns="0" rtlCol="0" anchor="ctr"/>
          <a:lstStyle/>
          <a:p>
            <a:pPr marL="0" indent="0">
              <a:buNone/>
            </a:pPr>
            <a:r>
              <a:rPr lang="en-US" sz="850" b="1" dirty="0">
                <a:solidFill>
                  <a:srgbClr val="C9A84C"/>
                </a:solidFill>
              </a:rPr>
              <a:t>Inventory</a:t>
            </a:r>
            <a:endParaRPr lang="en-US" sz="850" dirty="0"/>
          </a:p>
        </p:txBody>
      </p:sp>
      <p:sp>
        <p:nvSpPr>
          <p:cNvPr id="43" name="Text 41"/>
          <p:cNvSpPr/>
          <p:nvPr/>
        </p:nvSpPr>
        <p:spPr>
          <a:xfrm>
            <a:off x="1920240" y="4261104"/>
            <a:ext cx="914400" cy="210312"/>
          </a:xfrm>
          <a:prstGeom prst="rect">
            <a:avLst/>
          </a:prstGeom>
          <a:noFill/>
          <a:ln/>
        </p:spPr>
        <p:txBody>
          <a:bodyPr wrap="square" lIns="0" tIns="0" rIns="0" bIns="0" rtlCol="0" anchor="ctr"/>
          <a:lstStyle/>
          <a:p>
            <a:pPr marL="0" indent="0">
              <a:buNone/>
            </a:pPr>
            <a:r>
              <a:rPr lang="en-US" sz="1100" dirty="0">
                <a:solidFill>
                  <a:srgbClr val="1D9E75"/>
                </a:solidFill>
              </a:rPr>
              <a:t>20 rows</a:t>
            </a:r>
            <a:endParaRPr lang="en-US" sz="1100" dirty="0"/>
          </a:p>
        </p:txBody>
      </p:sp>
      <p:sp>
        <p:nvSpPr>
          <p:cNvPr id="44" name="Text 42"/>
          <p:cNvSpPr/>
          <p:nvPr/>
        </p:nvSpPr>
        <p:spPr>
          <a:xfrm>
            <a:off x="2926080" y="4261104"/>
            <a:ext cx="5669280" cy="210312"/>
          </a:xfrm>
          <a:prstGeom prst="rect">
            <a:avLst/>
          </a:prstGeom>
          <a:noFill/>
          <a:ln/>
        </p:spPr>
        <p:txBody>
          <a:bodyPr wrap="square" lIns="0" tIns="0" rIns="0" bIns="0" rtlCol="0" anchor="ctr"/>
          <a:lstStyle/>
          <a:p>
            <a:pPr marL="0" indent="0">
              <a:buNone/>
            </a:pPr>
            <a:r>
              <a:rPr lang="en-US" sz="1100" dirty="0">
                <a:solidFill>
                  <a:srgbClr val="8B8FA8"/>
                </a:solidFill>
              </a:rPr>
              <a:t>SKU, BrandHouse, Category, Season, UnitsReceived — supports SellThrough% measure</a:t>
            </a:r>
            <a:endParaRPr lang="en-US" sz="1100" dirty="0"/>
          </a:p>
        </p:txBody>
      </p:sp>
      <p:sp>
        <p:nvSpPr>
          <p:cNvPr id="45" name="Shape 43"/>
          <p:cNvSpPr/>
          <p:nvPr/>
        </p:nvSpPr>
        <p:spPr>
          <a:xfrm>
            <a:off x="365760" y="4475988"/>
            <a:ext cx="8412480" cy="210312"/>
          </a:xfrm>
          <a:prstGeom prst="rect">
            <a:avLst/>
          </a:prstGeom>
          <a:solidFill>
            <a:srgbClr val="161B2A"/>
          </a:solidFill>
          <a:ln w="12700">
            <a:solidFill>
              <a:srgbClr val="2A2F40"/>
            </a:solidFill>
            <a:prstDash val="solid"/>
          </a:ln>
        </p:spPr>
        <p:txBody>
          <a:bodyPr/>
          <a:lstStyle/>
          <a:p>
            <a:endParaRPr lang="en-IN"/>
          </a:p>
        </p:txBody>
      </p:sp>
      <p:sp>
        <p:nvSpPr>
          <p:cNvPr id="46" name="Text 44"/>
          <p:cNvSpPr/>
          <p:nvPr/>
        </p:nvSpPr>
        <p:spPr>
          <a:xfrm>
            <a:off x="502920" y="4475988"/>
            <a:ext cx="1371600" cy="210312"/>
          </a:xfrm>
          <a:prstGeom prst="rect">
            <a:avLst/>
          </a:prstGeom>
          <a:noFill/>
          <a:ln/>
        </p:spPr>
        <p:txBody>
          <a:bodyPr wrap="square" lIns="0" tIns="0" rIns="0" bIns="0" rtlCol="0" anchor="ctr"/>
          <a:lstStyle/>
          <a:p>
            <a:pPr marL="0" indent="0">
              <a:buNone/>
            </a:pPr>
            <a:r>
              <a:rPr lang="en-US" sz="850" b="1" dirty="0">
                <a:solidFill>
                  <a:srgbClr val="C9A84C"/>
                </a:solidFill>
              </a:rPr>
              <a:t>Targets</a:t>
            </a:r>
            <a:endParaRPr lang="en-US" sz="850" dirty="0"/>
          </a:p>
        </p:txBody>
      </p:sp>
      <p:sp>
        <p:nvSpPr>
          <p:cNvPr id="47" name="Text 45"/>
          <p:cNvSpPr/>
          <p:nvPr/>
        </p:nvSpPr>
        <p:spPr>
          <a:xfrm>
            <a:off x="1920240" y="4475988"/>
            <a:ext cx="914400" cy="210312"/>
          </a:xfrm>
          <a:prstGeom prst="rect">
            <a:avLst/>
          </a:prstGeom>
          <a:noFill/>
          <a:ln/>
        </p:spPr>
        <p:txBody>
          <a:bodyPr wrap="square" lIns="0" tIns="0" rIns="0" bIns="0" rtlCol="0" anchor="ctr"/>
          <a:lstStyle/>
          <a:p>
            <a:pPr marL="0" indent="0">
              <a:buNone/>
            </a:pPr>
            <a:r>
              <a:rPr lang="en-US" sz="1100" dirty="0">
                <a:solidFill>
                  <a:srgbClr val="1D9E75"/>
                </a:solidFill>
              </a:rPr>
              <a:t>40 rows</a:t>
            </a:r>
            <a:endParaRPr lang="en-US" sz="1100" dirty="0"/>
          </a:p>
        </p:txBody>
      </p:sp>
      <p:sp>
        <p:nvSpPr>
          <p:cNvPr id="48" name="Text 46"/>
          <p:cNvSpPr/>
          <p:nvPr/>
        </p:nvSpPr>
        <p:spPr>
          <a:xfrm>
            <a:off x="2926080" y="4475988"/>
            <a:ext cx="5669280" cy="210312"/>
          </a:xfrm>
          <a:prstGeom prst="rect">
            <a:avLst/>
          </a:prstGeom>
          <a:noFill/>
          <a:ln/>
        </p:spPr>
        <p:txBody>
          <a:bodyPr wrap="square" lIns="0" tIns="0" rIns="0" bIns="0" rtlCol="0" anchor="ctr"/>
          <a:lstStyle/>
          <a:p>
            <a:pPr marL="0" indent="0">
              <a:buNone/>
            </a:pPr>
            <a:r>
              <a:rPr lang="en-US" sz="1100" dirty="0">
                <a:solidFill>
                  <a:srgbClr val="8B8FA8"/>
                </a:solidFill>
              </a:rPr>
              <a:t>BrandHouse, TargetYear, TargetQuarter, </a:t>
            </a:r>
            <a:r>
              <a:rPr lang="en-US" sz="1100" dirty="0" err="1">
                <a:solidFill>
                  <a:srgbClr val="8B8FA8"/>
                </a:solidFill>
              </a:rPr>
              <a:t>TargetRevenue_EUR</a:t>
            </a:r>
            <a:endParaRPr lang="en-US" sz="1100" dirty="0"/>
          </a:p>
        </p:txBody>
      </p:sp>
      <p:sp>
        <p:nvSpPr>
          <p:cNvPr id="49" name="Shape 47"/>
          <p:cNvSpPr/>
          <p:nvPr/>
        </p:nvSpPr>
        <p:spPr>
          <a:xfrm>
            <a:off x="365760" y="4690872"/>
            <a:ext cx="8412480" cy="210312"/>
          </a:xfrm>
          <a:prstGeom prst="rect">
            <a:avLst/>
          </a:prstGeom>
          <a:solidFill>
            <a:srgbClr val="1A1F2E"/>
          </a:solidFill>
          <a:ln w="12700">
            <a:solidFill>
              <a:srgbClr val="2A2F40"/>
            </a:solidFill>
            <a:prstDash val="solid"/>
          </a:ln>
        </p:spPr>
        <p:txBody>
          <a:bodyPr/>
          <a:lstStyle/>
          <a:p>
            <a:endParaRPr lang="en-IN"/>
          </a:p>
        </p:txBody>
      </p:sp>
      <p:sp>
        <p:nvSpPr>
          <p:cNvPr id="50" name="Text 48"/>
          <p:cNvSpPr/>
          <p:nvPr/>
        </p:nvSpPr>
        <p:spPr>
          <a:xfrm>
            <a:off x="502920" y="4690872"/>
            <a:ext cx="1371600" cy="210312"/>
          </a:xfrm>
          <a:prstGeom prst="rect">
            <a:avLst/>
          </a:prstGeom>
          <a:noFill/>
          <a:ln/>
        </p:spPr>
        <p:txBody>
          <a:bodyPr wrap="square" lIns="0" tIns="0" rIns="0" bIns="0" rtlCol="0" anchor="ctr"/>
          <a:lstStyle/>
          <a:p>
            <a:pPr marL="0" indent="0">
              <a:buNone/>
            </a:pPr>
            <a:r>
              <a:rPr lang="en-US" sz="850" b="1" dirty="0">
                <a:solidFill>
                  <a:srgbClr val="C9A84C"/>
                </a:solidFill>
              </a:rPr>
              <a:t>WebAnalytics</a:t>
            </a:r>
            <a:endParaRPr lang="en-US" sz="850" dirty="0"/>
          </a:p>
        </p:txBody>
      </p:sp>
      <p:sp>
        <p:nvSpPr>
          <p:cNvPr id="51" name="Text 49"/>
          <p:cNvSpPr/>
          <p:nvPr/>
        </p:nvSpPr>
        <p:spPr>
          <a:xfrm>
            <a:off x="1920240" y="4690872"/>
            <a:ext cx="914400" cy="210312"/>
          </a:xfrm>
          <a:prstGeom prst="rect">
            <a:avLst/>
          </a:prstGeom>
          <a:noFill/>
          <a:ln/>
        </p:spPr>
        <p:txBody>
          <a:bodyPr wrap="square" lIns="0" tIns="0" rIns="0" bIns="0" rtlCol="0" anchor="ctr"/>
          <a:lstStyle/>
          <a:p>
            <a:pPr marL="0" indent="0">
              <a:buNone/>
            </a:pPr>
            <a:r>
              <a:rPr lang="en-US" sz="1100" dirty="0">
                <a:solidFill>
                  <a:srgbClr val="1D9E75"/>
                </a:solidFill>
              </a:rPr>
              <a:t>731 rows</a:t>
            </a:r>
            <a:endParaRPr lang="en-US" sz="1100" dirty="0"/>
          </a:p>
        </p:txBody>
      </p:sp>
      <p:sp>
        <p:nvSpPr>
          <p:cNvPr id="52" name="Text 50"/>
          <p:cNvSpPr/>
          <p:nvPr/>
        </p:nvSpPr>
        <p:spPr>
          <a:xfrm>
            <a:off x="2926080" y="4690872"/>
            <a:ext cx="5669280" cy="210312"/>
          </a:xfrm>
          <a:prstGeom prst="rect">
            <a:avLst/>
          </a:prstGeom>
          <a:noFill/>
          <a:ln/>
        </p:spPr>
        <p:txBody>
          <a:bodyPr wrap="square" lIns="0" tIns="0" rIns="0" bIns="0" rtlCol="0" anchor="ctr"/>
          <a:lstStyle/>
          <a:p>
            <a:pPr marL="0" indent="0">
              <a:buNone/>
            </a:pPr>
            <a:r>
              <a:rPr lang="en-US" sz="1100" dirty="0">
                <a:solidFill>
                  <a:srgbClr val="8B8FA8"/>
                </a:solidFill>
              </a:rPr>
              <a:t>Date, Channel, SessionCount, PageViews, BounceRate — powers Digital Funnel page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9A84C"/>
          </a:solidFill>
          <a:ln w="12700">
            <a:solidFill>
              <a:srgbClr val="C9A84C"/>
            </a:solidFill>
            <a:prstDash val="solid"/>
          </a:ln>
        </p:spPr>
        <p:txBody>
          <a:bodyPr/>
          <a:lstStyle/>
          <a:p>
            <a:endParaRPr lang="en-IN"/>
          </a:p>
        </p:txBody>
      </p:sp>
      <p:sp>
        <p:nvSpPr>
          <p:cNvPr id="3" name="Shape 1"/>
          <p:cNvSpPr/>
          <p:nvPr/>
        </p:nvSpPr>
        <p:spPr>
          <a:xfrm>
            <a:off x="0" y="5074920"/>
            <a:ext cx="9144000" cy="68580"/>
          </a:xfrm>
          <a:prstGeom prst="rect">
            <a:avLst/>
          </a:prstGeom>
          <a:solidFill>
            <a:srgbClr val="1A1F2E"/>
          </a:solidFill>
          <a:ln w="12700">
            <a:solidFill>
              <a:srgbClr val="1A1F2E"/>
            </a:solidFill>
            <a:prstDash val="solid"/>
          </a:ln>
        </p:spPr>
        <p:txBody>
          <a:bodyPr/>
          <a:lstStyle/>
          <a:p>
            <a:endParaRPr lang="en-IN"/>
          </a:p>
        </p:txBody>
      </p:sp>
      <p:sp>
        <p:nvSpPr>
          <p:cNvPr id="4" name="Text 2"/>
          <p:cNvSpPr/>
          <p:nvPr/>
        </p:nvSpPr>
        <p:spPr>
          <a:xfrm>
            <a:off x="274320" y="5074920"/>
            <a:ext cx="6400800" cy="68580"/>
          </a:xfrm>
          <a:prstGeom prst="rect">
            <a:avLst/>
          </a:prstGeom>
          <a:noFill/>
          <a:ln/>
        </p:spPr>
        <p:txBody>
          <a:bodyPr wrap="square" lIns="0" tIns="0" rIns="0" bIns="0" rtlCol="0" anchor="ctr"/>
          <a:lstStyle/>
          <a:p>
            <a:pPr marL="0" indent="0">
              <a:buNone/>
            </a:pPr>
            <a:r>
              <a:rPr lang="en-US" sz="700" dirty="0">
                <a:solidFill>
                  <a:srgbClr val="8B8FA8"/>
                </a:solidFill>
              </a:rPr>
              <a:t> Luxury Fashion Performance Intelligence</a:t>
            </a:r>
            <a:endParaRPr lang="en-US" sz="700" dirty="0"/>
          </a:p>
        </p:txBody>
      </p:sp>
      <p:sp>
        <p:nvSpPr>
          <p:cNvPr id="6" name="Shape 4"/>
          <p:cNvSpPr/>
          <p:nvPr/>
        </p:nvSpPr>
        <p:spPr>
          <a:xfrm>
            <a:off x="365760" y="164592"/>
            <a:ext cx="2194560" cy="201168"/>
          </a:xfrm>
          <a:prstGeom prst="rect">
            <a:avLst/>
          </a:prstGeom>
          <a:solidFill>
            <a:srgbClr val="C9A84C"/>
          </a:solidFill>
          <a:ln w="12700">
            <a:solidFill>
              <a:srgbClr val="C9A84C"/>
            </a:solidFill>
            <a:prstDash val="solid"/>
          </a:ln>
        </p:spPr>
        <p:txBody>
          <a:bodyPr/>
          <a:lstStyle/>
          <a:p>
            <a:endParaRPr lang="en-IN"/>
          </a:p>
        </p:txBody>
      </p:sp>
      <p:sp>
        <p:nvSpPr>
          <p:cNvPr id="7" name="Text 5"/>
          <p:cNvSpPr/>
          <p:nvPr/>
        </p:nvSpPr>
        <p:spPr>
          <a:xfrm>
            <a:off x="365760" y="164592"/>
            <a:ext cx="2194560" cy="201168"/>
          </a:xfrm>
          <a:prstGeom prst="rect">
            <a:avLst/>
          </a:prstGeom>
          <a:noFill/>
          <a:ln/>
        </p:spPr>
        <p:txBody>
          <a:bodyPr wrap="square" lIns="0" tIns="0" rIns="0" bIns="0" rtlCol="0" anchor="ctr"/>
          <a:lstStyle/>
          <a:p>
            <a:pPr marL="0" indent="0" algn="ctr">
              <a:buNone/>
            </a:pPr>
            <a:r>
              <a:rPr lang="en-US" sz="750" b="1" kern="0" spc="200" dirty="0">
                <a:solidFill>
                  <a:srgbClr val="0D0D0D"/>
                </a:solidFill>
              </a:rPr>
              <a:t>04  ·  SCHEMA OVERVIEW</a:t>
            </a:r>
            <a:endParaRPr lang="en-US" sz="750" dirty="0"/>
          </a:p>
        </p:txBody>
      </p:sp>
      <p:sp>
        <p:nvSpPr>
          <p:cNvPr id="8" name="Text 6"/>
          <p:cNvSpPr/>
          <p:nvPr/>
        </p:nvSpPr>
        <p:spPr>
          <a:xfrm>
            <a:off x="365760" y="457200"/>
            <a:ext cx="8229600" cy="457200"/>
          </a:xfrm>
          <a:prstGeom prst="rect">
            <a:avLst/>
          </a:prstGeom>
          <a:noFill/>
          <a:ln/>
        </p:spPr>
        <p:txBody>
          <a:bodyPr wrap="square" lIns="0" tIns="0" rIns="0" bIns="0" rtlCol="0" anchor="ctr"/>
          <a:lstStyle/>
          <a:p>
            <a:pPr marL="0" indent="0">
              <a:buNone/>
            </a:pPr>
            <a:r>
              <a:rPr lang="en-US" sz="2600" b="1" dirty="0">
                <a:solidFill>
                  <a:srgbClr val="F5F0E8"/>
                </a:solidFill>
              </a:rPr>
              <a:t>Key Columns &amp; Data Types</a:t>
            </a:r>
            <a:endParaRPr lang="en-US" sz="2600" dirty="0"/>
          </a:p>
        </p:txBody>
      </p:sp>
      <p:sp>
        <p:nvSpPr>
          <p:cNvPr id="9" name="Text 7"/>
          <p:cNvSpPr/>
          <p:nvPr/>
        </p:nvSpPr>
        <p:spPr>
          <a:xfrm>
            <a:off x="365760" y="896112"/>
            <a:ext cx="8229600" cy="201168"/>
          </a:xfrm>
          <a:prstGeom prst="rect">
            <a:avLst/>
          </a:prstGeom>
          <a:noFill/>
          <a:ln/>
        </p:spPr>
        <p:txBody>
          <a:bodyPr wrap="square" lIns="0" tIns="0" rIns="0" bIns="0" rtlCol="0" anchor="ctr"/>
          <a:lstStyle/>
          <a:p>
            <a:pPr marL="0" indent="0">
              <a:buNone/>
            </a:pPr>
            <a:r>
              <a:rPr lang="en-US" sz="1100" dirty="0">
                <a:solidFill>
                  <a:srgbClr val="8B8FA8"/>
                </a:solidFill>
              </a:rPr>
              <a:t>Schema overview of the 1,200-record transaction dataset</a:t>
            </a:r>
            <a:endParaRPr lang="en-US" sz="1100" dirty="0"/>
          </a:p>
        </p:txBody>
      </p:sp>
      <p:sp>
        <p:nvSpPr>
          <p:cNvPr id="10" name="Shape 8"/>
          <p:cNvSpPr/>
          <p:nvPr/>
        </p:nvSpPr>
        <p:spPr>
          <a:xfrm>
            <a:off x="365760" y="1188720"/>
            <a:ext cx="8412480" cy="292608"/>
          </a:xfrm>
          <a:prstGeom prst="rect">
            <a:avLst/>
          </a:prstGeom>
          <a:solidFill>
            <a:srgbClr val="C9A84C"/>
          </a:solidFill>
          <a:ln w="12700">
            <a:solidFill>
              <a:srgbClr val="C9A84C"/>
            </a:solidFill>
            <a:prstDash val="solid"/>
          </a:ln>
        </p:spPr>
        <p:txBody>
          <a:bodyPr/>
          <a:lstStyle/>
          <a:p>
            <a:endParaRPr lang="en-IN"/>
          </a:p>
        </p:txBody>
      </p:sp>
      <p:sp>
        <p:nvSpPr>
          <p:cNvPr id="11" name="Text 9"/>
          <p:cNvSpPr/>
          <p:nvPr/>
        </p:nvSpPr>
        <p:spPr>
          <a:xfrm>
            <a:off x="502920" y="1188720"/>
            <a:ext cx="1737360" cy="292608"/>
          </a:xfrm>
          <a:prstGeom prst="rect">
            <a:avLst/>
          </a:prstGeom>
          <a:noFill/>
          <a:ln/>
        </p:spPr>
        <p:txBody>
          <a:bodyPr wrap="square" lIns="0" tIns="0" rIns="0" bIns="0" rtlCol="0" anchor="ctr"/>
          <a:lstStyle/>
          <a:p>
            <a:pPr marL="0" indent="0">
              <a:buNone/>
            </a:pPr>
            <a:r>
              <a:rPr lang="en-US" sz="1050" b="1" dirty="0">
                <a:solidFill>
                  <a:srgbClr val="0D0D0D"/>
                </a:solidFill>
              </a:rPr>
              <a:t>Column</a:t>
            </a:r>
            <a:endParaRPr lang="en-US" sz="1050" dirty="0"/>
          </a:p>
        </p:txBody>
      </p:sp>
      <p:sp>
        <p:nvSpPr>
          <p:cNvPr id="12" name="Text 10"/>
          <p:cNvSpPr/>
          <p:nvPr/>
        </p:nvSpPr>
        <p:spPr>
          <a:xfrm>
            <a:off x="3017520" y="1188720"/>
            <a:ext cx="1737360" cy="292608"/>
          </a:xfrm>
          <a:prstGeom prst="rect">
            <a:avLst/>
          </a:prstGeom>
          <a:noFill/>
          <a:ln/>
        </p:spPr>
        <p:txBody>
          <a:bodyPr wrap="square" lIns="0" tIns="0" rIns="0" bIns="0" rtlCol="0" anchor="ctr"/>
          <a:lstStyle/>
          <a:p>
            <a:pPr marL="0" indent="0">
              <a:buNone/>
            </a:pPr>
            <a:r>
              <a:rPr lang="en-US" sz="1050" b="1" dirty="0">
                <a:solidFill>
                  <a:srgbClr val="0D0D0D"/>
                </a:solidFill>
              </a:rPr>
              <a:t>Type</a:t>
            </a:r>
            <a:endParaRPr lang="en-US" sz="1050" dirty="0"/>
          </a:p>
        </p:txBody>
      </p:sp>
      <p:sp>
        <p:nvSpPr>
          <p:cNvPr id="13" name="Text 11"/>
          <p:cNvSpPr/>
          <p:nvPr/>
        </p:nvSpPr>
        <p:spPr>
          <a:xfrm>
            <a:off x="4663440" y="1188720"/>
            <a:ext cx="3931920" cy="292608"/>
          </a:xfrm>
          <a:prstGeom prst="rect">
            <a:avLst/>
          </a:prstGeom>
          <a:noFill/>
          <a:ln/>
        </p:spPr>
        <p:txBody>
          <a:bodyPr wrap="square" lIns="0" tIns="0" rIns="0" bIns="0" rtlCol="0" anchor="ctr"/>
          <a:lstStyle/>
          <a:p>
            <a:pPr marL="0" indent="0">
              <a:buNone/>
            </a:pPr>
            <a:r>
              <a:rPr lang="en-US" sz="1050" b="1" dirty="0">
                <a:solidFill>
                  <a:srgbClr val="0D0D0D"/>
                </a:solidFill>
              </a:rPr>
              <a:t>Purpose in Dashboard</a:t>
            </a:r>
            <a:endParaRPr lang="en-US" sz="1050" dirty="0"/>
          </a:p>
        </p:txBody>
      </p:sp>
      <p:sp>
        <p:nvSpPr>
          <p:cNvPr id="14" name="Shape 12"/>
          <p:cNvSpPr/>
          <p:nvPr/>
        </p:nvSpPr>
        <p:spPr>
          <a:xfrm>
            <a:off x="365760" y="1481328"/>
            <a:ext cx="8412480" cy="283464"/>
          </a:xfrm>
          <a:prstGeom prst="rect">
            <a:avLst/>
          </a:prstGeom>
          <a:solidFill>
            <a:srgbClr val="1A1F2E"/>
          </a:solidFill>
          <a:ln w="12700">
            <a:solidFill>
              <a:srgbClr val="2A2F40"/>
            </a:solidFill>
            <a:prstDash val="solid"/>
          </a:ln>
        </p:spPr>
        <p:txBody>
          <a:bodyPr/>
          <a:lstStyle/>
          <a:p>
            <a:endParaRPr lang="en-IN"/>
          </a:p>
        </p:txBody>
      </p:sp>
      <p:sp>
        <p:nvSpPr>
          <p:cNvPr id="15" name="Text 13"/>
          <p:cNvSpPr/>
          <p:nvPr/>
        </p:nvSpPr>
        <p:spPr>
          <a:xfrm>
            <a:off x="502920" y="1481328"/>
            <a:ext cx="1737360" cy="283464"/>
          </a:xfrm>
          <a:prstGeom prst="rect">
            <a:avLst/>
          </a:prstGeom>
          <a:noFill/>
          <a:ln/>
        </p:spPr>
        <p:txBody>
          <a:bodyPr wrap="square" lIns="0" tIns="0" rIns="0" bIns="0" rtlCol="0" anchor="ctr"/>
          <a:lstStyle/>
          <a:p>
            <a:pPr marL="0" indent="0">
              <a:buNone/>
            </a:pPr>
            <a:r>
              <a:rPr lang="en-US" sz="1050" b="1" dirty="0">
                <a:solidFill>
                  <a:srgbClr val="C9A84C"/>
                </a:solidFill>
              </a:rPr>
              <a:t>OrderID</a:t>
            </a:r>
            <a:endParaRPr lang="en-US" sz="1050" dirty="0"/>
          </a:p>
        </p:txBody>
      </p:sp>
      <p:sp>
        <p:nvSpPr>
          <p:cNvPr id="16" name="Shape 14"/>
          <p:cNvSpPr/>
          <p:nvPr/>
        </p:nvSpPr>
        <p:spPr>
          <a:xfrm>
            <a:off x="3017520" y="1545336"/>
            <a:ext cx="822960" cy="155448"/>
          </a:xfrm>
          <a:prstGeom prst="rect">
            <a:avLst/>
          </a:prstGeom>
          <a:solidFill>
            <a:srgbClr val="1A1F2E"/>
          </a:solidFill>
          <a:ln w="12700">
            <a:solidFill>
              <a:srgbClr val="7F77DD"/>
            </a:solidFill>
            <a:prstDash val="solid"/>
          </a:ln>
        </p:spPr>
        <p:txBody>
          <a:bodyPr/>
          <a:lstStyle/>
          <a:p>
            <a:endParaRPr lang="en-IN"/>
          </a:p>
        </p:txBody>
      </p:sp>
      <p:sp>
        <p:nvSpPr>
          <p:cNvPr id="17" name="Text 15"/>
          <p:cNvSpPr/>
          <p:nvPr/>
        </p:nvSpPr>
        <p:spPr>
          <a:xfrm>
            <a:off x="3017520" y="1545336"/>
            <a:ext cx="822960" cy="155448"/>
          </a:xfrm>
          <a:prstGeom prst="rect">
            <a:avLst/>
          </a:prstGeom>
          <a:noFill/>
          <a:ln/>
        </p:spPr>
        <p:txBody>
          <a:bodyPr wrap="square" lIns="0" tIns="0" rIns="0" bIns="0" rtlCol="0" anchor="ctr"/>
          <a:lstStyle/>
          <a:p>
            <a:pPr marL="0" indent="0" algn="ctr">
              <a:buNone/>
            </a:pPr>
            <a:r>
              <a:rPr lang="en-US" sz="750" dirty="0">
                <a:solidFill>
                  <a:srgbClr val="7F77DD"/>
                </a:solidFill>
              </a:rPr>
              <a:t>Text</a:t>
            </a:r>
            <a:endParaRPr lang="en-US" sz="750" dirty="0"/>
          </a:p>
        </p:txBody>
      </p:sp>
      <p:sp>
        <p:nvSpPr>
          <p:cNvPr id="18" name="Text 16"/>
          <p:cNvSpPr/>
          <p:nvPr/>
        </p:nvSpPr>
        <p:spPr>
          <a:xfrm>
            <a:off x="4663440" y="1481328"/>
            <a:ext cx="3977640" cy="283464"/>
          </a:xfrm>
          <a:prstGeom prst="rect">
            <a:avLst/>
          </a:prstGeom>
          <a:noFill/>
          <a:ln/>
        </p:spPr>
        <p:txBody>
          <a:bodyPr wrap="square" lIns="0" tIns="0" rIns="0" bIns="0" rtlCol="0" anchor="ctr"/>
          <a:lstStyle/>
          <a:p>
            <a:pPr marL="0" indent="0">
              <a:buNone/>
            </a:pPr>
            <a:r>
              <a:rPr lang="en-US" sz="850" dirty="0">
                <a:solidFill>
                  <a:srgbClr val="8B8FA8"/>
                </a:solidFill>
              </a:rPr>
              <a:t>Unique transaction identifier — primary key for FactOrders</a:t>
            </a:r>
            <a:endParaRPr lang="en-US" sz="850" dirty="0"/>
          </a:p>
        </p:txBody>
      </p:sp>
      <p:sp>
        <p:nvSpPr>
          <p:cNvPr id="19" name="Shape 17"/>
          <p:cNvSpPr/>
          <p:nvPr/>
        </p:nvSpPr>
        <p:spPr>
          <a:xfrm>
            <a:off x="365760" y="1769364"/>
            <a:ext cx="8412480" cy="283464"/>
          </a:xfrm>
          <a:prstGeom prst="rect">
            <a:avLst/>
          </a:prstGeom>
          <a:solidFill>
            <a:srgbClr val="161B2A"/>
          </a:solidFill>
          <a:ln w="12700">
            <a:solidFill>
              <a:srgbClr val="2A2F40"/>
            </a:solidFill>
            <a:prstDash val="solid"/>
          </a:ln>
        </p:spPr>
        <p:txBody>
          <a:bodyPr/>
          <a:lstStyle/>
          <a:p>
            <a:endParaRPr lang="en-IN"/>
          </a:p>
        </p:txBody>
      </p:sp>
      <p:sp>
        <p:nvSpPr>
          <p:cNvPr id="20" name="Text 18"/>
          <p:cNvSpPr/>
          <p:nvPr/>
        </p:nvSpPr>
        <p:spPr>
          <a:xfrm>
            <a:off x="502920" y="1769364"/>
            <a:ext cx="1737360" cy="283464"/>
          </a:xfrm>
          <a:prstGeom prst="rect">
            <a:avLst/>
          </a:prstGeom>
          <a:noFill/>
          <a:ln/>
        </p:spPr>
        <p:txBody>
          <a:bodyPr wrap="square" lIns="0" tIns="0" rIns="0" bIns="0" rtlCol="0" anchor="ctr"/>
          <a:lstStyle/>
          <a:p>
            <a:pPr marL="0" indent="0">
              <a:buNone/>
            </a:pPr>
            <a:r>
              <a:rPr lang="en-US" sz="1050" b="1" dirty="0">
                <a:solidFill>
                  <a:srgbClr val="C9A84C"/>
                </a:solidFill>
              </a:rPr>
              <a:t>OrderDate</a:t>
            </a:r>
            <a:endParaRPr lang="en-US" sz="1050" dirty="0"/>
          </a:p>
        </p:txBody>
      </p:sp>
      <p:sp>
        <p:nvSpPr>
          <p:cNvPr id="21" name="Shape 19"/>
          <p:cNvSpPr/>
          <p:nvPr/>
        </p:nvSpPr>
        <p:spPr>
          <a:xfrm>
            <a:off x="3017520" y="1833372"/>
            <a:ext cx="822960" cy="155448"/>
          </a:xfrm>
          <a:prstGeom prst="rect">
            <a:avLst/>
          </a:prstGeom>
          <a:solidFill>
            <a:srgbClr val="1A1F2E"/>
          </a:solidFill>
          <a:ln w="12700">
            <a:solidFill>
              <a:srgbClr val="1D9E75"/>
            </a:solidFill>
            <a:prstDash val="solid"/>
          </a:ln>
        </p:spPr>
        <p:txBody>
          <a:bodyPr/>
          <a:lstStyle/>
          <a:p>
            <a:endParaRPr lang="en-IN"/>
          </a:p>
        </p:txBody>
      </p:sp>
      <p:sp>
        <p:nvSpPr>
          <p:cNvPr id="22" name="Text 20"/>
          <p:cNvSpPr/>
          <p:nvPr/>
        </p:nvSpPr>
        <p:spPr>
          <a:xfrm>
            <a:off x="3017520" y="1833372"/>
            <a:ext cx="822960" cy="155448"/>
          </a:xfrm>
          <a:prstGeom prst="rect">
            <a:avLst/>
          </a:prstGeom>
          <a:noFill/>
          <a:ln/>
        </p:spPr>
        <p:txBody>
          <a:bodyPr wrap="square" lIns="0" tIns="0" rIns="0" bIns="0" rtlCol="0" anchor="ctr"/>
          <a:lstStyle/>
          <a:p>
            <a:pPr marL="0" indent="0" algn="ctr">
              <a:buNone/>
            </a:pPr>
            <a:r>
              <a:rPr lang="en-US" sz="750" dirty="0">
                <a:solidFill>
                  <a:srgbClr val="1D9E75"/>
                </a:solidFill>
              </a:rPr>
              <a:t>Date</a:t>
            </a:r>
            <a:endParaRPr lang="en-US" sz="750" dirty="0"/>
          </a:p>
        </p:txBody>
      </p:sp>
      <p:sp>
        <p:nvSpPr>
          <p:cNvPr id="23" name="Text 21"/>
          <p:cNvSpPr/>
          <p:nvPr/>
        </p:nvSpPr>
        <p:spPr>
          <a:xfrm>
            <a:off x="4663440" y="1769364"/>
            <a:ext cx="3977640" cy="283464"/>
          </a:xfrm>
          <a:prstGeom prst="rect">
            <a:avLst/>
          </a:prstGeom>
          <a:noFill/>
          <a:ln/>
        </p:spPr>
        <p:txBody>
          <a:bodyPr wrap="square" lIns="0" tIns="0" rIns="0" bIns="0" rtlCol="0" anchor="ctr"/>
          <a:lstStyle/>
          <a:p>
            <a:pPr marL="0" indent="0">
              <a:buNone/>
            </a:pPr>
            <a:r>
              <a:rPr lang="en-US" sz="850" dirty="0">
                <a:solidFill>
                  <a:srgbClr val="8B8FA8"/>
                </a:solidFill>
              </a:rPr>
              <a:t>Critical for time intelligence — MTD, YTD, SAMEPERIODLASTYEAR</a:t>
            </a:r>
            <a:endParaRPr lang="en-US" sz="850" dirty="0"/>
          </a:p>
        </p:txBody>
      </p:sp>
      <p:sp>
        <p:nvSpPr>
          <p:cNvPr id="24" name="Shape 22"/>
          <p:cNvSpPr/>
          <p:nvPr/>
        </p:nvSpPr>
        <p:spPr>
          <a:xfrm>
            <a:off x="365760" y="2057400"/>
            <a:ext cx="8412480" cy="283464"/>
          </a:xfrm>
          <a:prstGeom prst="rect">
            <a:avLst/>
          </a:prstGeom>
          <a:solidFill>
            <a:srgbClr val="1A1F2E"/>
          </a:solidFill>
          <a:ln w="12700">
            <a:solidFill>
              <a:srgbClr val="2A2F40"/>
            </a:solidFill>
            <a:prstDash val="solid"/>
          </a:ln>
        </p:spPr>
        <p:txBody>
          <a:bodyPr/>
          <a:lstStyle/>
          <a:p>
            <a:endParaRPr lang="en-IN"/>
          </a:p>
        </p:txBody>
      </p:sp>
      <p:sp>
        <p:nvSpPr>
          <p:cNvPr id="25" name="Text 23"/>
          <p:cNvSpPr/>
          <p:nvPr/>
        </p:nvSpPr>
        <p:spPr>
          <a:xfrm>
            <a:off x="502920" y="2057400"/>
            <a:ext cx="1737360" cy="283464"/>
          </a:xfrm>
          <a:prstGeom prst="rect">
            <a:avLst/>
          </a:prstGeom>
          <a:noFill/>
          <a:ln/>
        </p:spPr>
        <p:txBody>
          <a:bodyPr wrap="square" lIns="0" tIns="0" rIns="0" bIns="0" rtlCol="0" anchor="ctr"/>
          <a:lstStyle/>
          <a:p>
            <a:pPr marL="0" indent="0">
              <a:buNone/>
            </a:pPr>
            <a:r>
              <a:rPr lang="en-US" sz="1050" b="1" dirty="0">
                <a:solidFill>
                  <a:srgbClr val="C9A84C"/>
                </a:solidFill>
              </a:rPr>
              <a:t>ClientID</a:t>
            </a:r>
            <a:endParaRPr lang="en-US" sz="1050" dirty="0"/>
          </a:p>
        </p:txBody>
      </p:sp>
      <p:sp>
        <p:nvSpPr>
          <p:cNvPr id="26" name="Shape 24"/>
          <p:cNvSpPr/>
          <p:nvPr/>
        </p:nvSpPr>
        <p:spPr>
          <a:xfrm>
            <a:off x="3017520" y="2121408"/>
            <a:ext cx="822960" cy="155448"/>
          </a:xfrm>
          <a:prstGeom prst="rect">
            <a:avLst/>
          </a:prstGeom>
          <a:solidFill>
            <a:srgbClr val="1A1F2E"/>
          </a:solidFill>
          <a:ln w="12700">
            <a:solidFill>
              <a:srgbClr val="7F77DD"/>
            </a:solidFill>
            <a:prstDash val="solid"/>
          </a:ln>
        </p:spPr>
        <p:txBody>
          <a:bodyPr/>
          <a:lstStyle/>
          <a:p>
            <a:endParaRPr lang="en-IN"/>
          </a:p>
        </p:txBody>
      </p:sp>
      <p:sp>
        <p:nvSpPr>
          <p:cNvPr id="27" name="Text 25"/>
          <p:cNvSpPr/>
          <p:nvPr/>
        </p:nvSpPr>
        <p:spPr>
          <a:xfrm>
            <a:off x="3017520" y="2121408"/>
            <a:ext cx="822960" cy="155448"/>
          </a:xfrm>
          <a:prstGeom prst="rect">
            <a:avLst/>
          </a:prstGeom>
          <a:noFill/>
          <a:ln/>
        </p:spPr>
        <p:txBody>
          <a:bodyPr wrap="square" lIns="0" tIns="0" rIns="0" bIns="0" rtlCol="0" anchor="ctr"/>
          <a:lstStyle/>
          <a:p>
            <a:pPr marL="0" indent="0" algn="ctr">
              <a:buNone/>
            </a:pPr>
            <a:r>
              <a:rPr lang="en-US" sz="750" dirty="0">
                <a:solidFill>
                  <a:srgbClr val="7F77DD"/>
                </a:solidFill>
              </a:rPr>
              <a:t>Text</a:t>
            </a:r>
            <a:endParaRPr lang="en-US" sz="750" dirty="0"/>
          </a:p>
        </p:txBody>
      </p:sp>
      <p:sp>
        <p:nvSpPr>
          <p:cNvPr id="28" name="Text 26"/>
          <p:cNvSpPr/>
          <p:nvPr/>
        </p:nvSpPr>
        <p:spPr>
          <a:xfrm>
            <a:off x="4663440" y="2057400"/>
            <a:ext cx="3977640" cy="283464"/>
          </a:xfrm>
          <a:prstGeom prst="rect">
            <a:avLst/>
          </a:prstGeom>
          <a:noFill/>
          <a:ln/>
        </p:spPr>
        <p:txBody>
          <a:bodyPr wrap="square" lIns="0" tIns="0" rIns="0" bIns="0" rtlCol="0" anchor="ctr"/>
          <a:lstStyle/>
          <a:p>
            <a:pPr marL="0" indent="0">
              <a:buNone/>
            </a:pPr>
            <a:r>
              <a:rPr lang="en-US" sz="850" dirty="0">
                <a:solidFill>
                  <a:srgbClr val="8B8FA8"/>
                </a:solidFill>
              </a:rPr>
              <a:t>Foreign key linking to DimClient — enables RFM and CLTV analysis</a:t>
            </a:r>
            <a:endParaRPr lang="en-US" sz="850" dirty="0"/>
          </a:p>
        </p:txBody>
      </p:sp>
      <p:sp>
        <p:nvSpPr>
          <p:cNvPr id="29" name="Shape 27"/>
          <p:cNvSpPr/>
          <p:nvPr/>
        </p:nvSpPr>
        <p:spPr>
          <a:xfrm>
            <a:off x="365760" y="2345436"/>
            <a:ext cx="8412480" cy="283464"/>
          </a:xfrm>
          <a:prstGeom prst="rect">
            <a:avLst/>
          </a:prstGeom>
          <a:solidFill>
            <a:srgbClr val="161B2A"/>
          </a:solidFill>
          <a:ln w="12700">
            <a:solidFill>
              <a:srgbClr val="2A2F40"/>
            </a:solidFill>
            <a:prstDash val="solid"/>
          </a:ln>
        </p:spPr>
        <p:txBody>
          <a:bodyPr/>
          <a:lstStyle/>
          <a:p>
            <a:endParaRPr lang="en-IN"/>
          </a:p>
        </p:txBody>
      </p:sp>
      <p:sp>
        <p:nvSpPr>
          <p:cNvPr id="30" name="Text 28"/>
          <p:cNvSpPr/>
          <p:nvPr/>
        </p:nvSpPr>
        <p:spPr>
          <a:xfrm>
            <a:off x="502920" y="2345436"/>
            <a:ext cx="1737360" cy="283464"/>
          </a:xfrm>
          <a:prstGeom prst="rect">
            <a:avLst/>
          </a:prstGeom>
          <a:noFill/>
          <a:ln/>
        </p:spPr>
        <p:txBody>
          <a:bodyPr wrap="square" lIns="0" tIns="0" rIns="0" bIns="0" rtlCol="0" anchor="ctr"/>
          <a:lstStyle/>
          <a:p>
            <a:pPr marL="0" indent="0">
              <a:buNone/>
            </a:pPr>
            <a:r>
              <a:rPr lang="en-US" sz="1050" b="1" dirty="0">
                <a:solidFill>
                  <a:srgbClr val="C9A84C"/>
                </a:solidFill>
              </a:rPr>
              <a:t>BrandHouse</a:t>
            </a:r>
            <a:endParaRPr lang="en-US" sz="1050" dirty="0"/>
          </a:p>
        </p:txBody>
      </p:sp>
      <p:sp>
        <p:nvSpPr>
          <p:cNvPr id="31" name="Shape 29"/>
          <p:cNvSpPr/>
          <p:nvPr/>
        </p:nvSpPr>
        <p:spPr>
          <a:xfrm>
            <a:off x="3017520" y="2409444"/>
            <a:ext cx="822960" cy="155448"/>
          </a:xfrm>
          <a:prstGeom prst="rect">
            <a:avLst/>
          </a:prstGeom>
          <a:solidFill>
            <a:srgbClr val="1A1F2E"/>
          </a:solidFill>
          <a:ln w="12700">
            <a:solidFill>
              <a:srgbClr val="7F77DD"/>
            </a:solidFill>
            <a:prstDash val="solid"/>
          </a:ln>
        </p:spPr>
        <p:txBody>
          <a:bodyPr/>
          <a:lstStyle/>
          <a:p>
            <a:endParaRPr lang="en-IN"/>
          </a:p>
        </p:txBody>
      </p:sp>
      <p:sp>
        <p:nvSpPr>
          <p:cNvPr id="32" name="Text 30"/>
          <p:cNvSpPr/>
          <p:nvPr/>
        </p:nvSpPr>
        <p:spPr>
          <a:xfrm>
            <a:off x="3017520" y="2409444"/>
            <a:ext cx="822960" cy="155448"/>
          </a:xfrm>
          <a:prstGeom prst="rect">
            <a:avLst/>
          </a:prstGeom>
          <a:noFill/>
          <a:ln/>
        </p:spPr>
        <p:txBody>
          <a:bodyPr wrap="square" lIns="0" tIns="0" rIns="0" bIns="0" rtlCol="0" anchor="ctr"/>
          <a:lstStyle/>
          <a:p>
            <a:pPr marL="0" indent="0" algn="ctr">
              <a:buNone/>
            </a:pPr>
            <a:r>
              <a:rPr lang="en-US" sz="750" dirty="0">
                <a:solidFill>
                  <a:srgbClr val="7F77DD"/>
                </a:solidFill>
              </a:rPr>
              <a:t>Text</a:t>
            </a:r>
            <a:endParaRPr lang="en-US" sz="750" dirty="0"/>
          </a:p>
        </p:txBody>
      </p:sp>
      <p:sp>
        <p:nvSpPr>
          <p:cNvPr id="33" name="Text 31"/>
          <p:cNvSpPr/>
          <p:nvPr/>
        </p:nvSpPr>
        <p:spPr>
          <a:xfrm>
            <a:off x="4663440" y="2345436"/>
            <a:ext cx="3977640" cy="283464"/>
          </a:xfrm>
          <a:prstGeom prst="rect">
            <a:avLst/>
          </a:prstGeom>
          <a:noFill/>
          <a:ln/>
        </p:spPr>
        <p:txBody>
          <a:bodyPr wrap="square" lIns="0" tIns="0" rIns="0" bIns="0" rtlCol="0" anchor="ctr"/>
          <a:lstStyle/>
          <a:p>
            <a:pPr marL="0" indent="0">
              <a:buNone/>
            </a:pPr>
            <a:r>
              <a:rPr lang="en-US" sz="850" dirty="0">
                <a:solidFill>
                  <a:srgbClr val="8B8FA8"/>
                </a:solidFill>
              </a:rPr>
              <a:t>10 luxury brand houses — Hermès, Chanel, LV, Gucci, Dior and more</a:t>
            </a:r>
            <a:endParaRPr lang="en-US" sz="850" dirty="0"/>
          </a:p>
        </p:txBody>
      </p:sp>
      <p:sp>
        <p:nvSpPr>
          <p:cNvPr id="34" name="Shape 32"/>
          <p:cNvSpPr/>
          <p:nvPr/>
        </p:nvSpPr>
        <p:spPr>
          <a:xfrm>
            <a:off x="365760" y="2633472"/>
            <a:ext cx="8412480" cy="283464"/>
          </a:xfrm>
          <a:prstGeom prst="rect">
            <a:avLst/>
          </a:prstGeom>
          <a:solidFill>
            <a:srgbClr val="1A1F2E"/>
          </a:solidFill>
          <a:ln w="12700">
            <a:solidFill>
              <a:srgbClr val="2A2F40"/>
            </a:solidFill>
            <a:prstDash val="solid"/>
          </a:ln>
        </p:spPr>
        <p:txBody>
          <a:bodyPr/>
          <a:lstStyle/>
          <a:p>
            <a:endParaRPr lang="en-IN"/>
          </a:p>
        </p:txBody>
      </p:sp>
      <p:sp>
        <p:nvSpPr>
          <p:cNvPr id="35" name="Text 33"/>
          <p:cNvSpPr/>
          <p:nvPr/>
        </p:nvSpPr>
        <p:spPr>
          <a:xfrm>
            <a:off x="502920" y="2633472"/>
            <a:ext cx="1737360" cy="283464"/>
          </a:xfrm>
          <a:prstGeom prst="rect">
            <a:avLst/>
          </a:prstGeom>
          <a:noFill/>
          <a:ln/>
        </p:spPr>
        <p:txBody>
          <a:bodyPr wrap="square" lIns="0" tIns="0" rIns="0" bIns="0" rtlCol="0" anchor="ctr"/>
          <a:lstStyle/>
          <a:p>
            <a:pPr marL="0" indent="0">
              <a:buNone/>
            </a:pPr>
            <a:r>
              <a:rPr lang="en-US" sz="1050" b="1" dirty="0">
                <a:solidFill>
                  <a:srgbClr val="C9A84C"/>
                </a:solidFill>
              </a:rPr>
              <a:t>Category</a:t>
            </a:r>
            <a:endParaRPr lang="en-US" sz="1050" dirty="0"/>
          </a:p>
        </p:txBody>
      </p:sp>
      <p:sp>
        <p:nvSpPr>
          <p:cNvPr id="36" name="Shape 34"/>
          <p:cNvSpPr/>
          <p:nvPr/>
        </p:nvSpPr>
        <p:spPr>
          <a:xfrm>
            <a:off x="3017520" y="2697480"/>
            <a:ext cx="822960" cy="155448"/>
          </a:xfrm>
          <a:prstGeom prst="rect">
            <a:avLst/>
          </a:prstGeom>
          <a:solidFill>
            <a:srgbClr val="1A1F2E"/>
          </a:solidFill>
          <a:ln w="12700">
            <a:solidFill>
              <a:srgbClr val="7F77DD"/>
            </a:solidFill>
            <a:prstDash val="solid"/>
          </a:ln>
        </p:spPr>
        <p:txBody>
          <a:bodyPr/>
          <a:lstStyle/>
          <a:p>
            <a:endParaRPr lang="en-IN"/>
          </a:p>
        </p:txBody>
      </p:sp>
      <p:sp>
        <p:nvSpPr>
          <p:cNvPr id="37" name="Text 35"/>
          <p:cNvSpPr/>
          <p:nvPr/>
        </p:nvSpPr>
        <p:spPr>
          <a:xfrm>
            <a:off x="3017520" y="2697480"/>
            <a:ext cx="822960" cy="155448"/>
          </a:xfrm>
          <a:prstGeom prst="rect">
            <a:avLst/>
          </a:prstGeom>
          <a:noFill/>
          <a:ln/>
        </p:spPr>
        <p:txBody>
          <a:bodyPr wrap="square" lIns="0" tIns="0" rIns="0" bIns="0" rtlCol="0" anchor="ctr"/>
          <a:lstStyle/>
          <a:p>
            <a:pPr marL="0" indent="0" algn="ctr">
              <a:buNone/>
            </a:pPr>
            <a:r>
              <a:rPr lang="en-US" sz="750" dirty="0">
                <a:solidFill>
                  <a:srgbClr val="7F77DD"/>
                </a:solidFill>
              </a:rPr>
              <a:t>Text</a:t>
            </a:r>
            <a:endParaRPr lang="en-US" sz="750" dirty="0"/>
          </a:p>
        </p:txBody>
      </p:sp>
      <p:sp>
        <p:nvSpPr>
          <p:cNvPr id="38" name="Text 36"/>
          <p:cNvSpPr/>
          <p:nvPr/>
        </p:nvSpPr>
        <p:spPr>
          <a:xfrm>
            <a:off x="4663440" y="2633472"/>
            <a:ext cx="3977640" cy="283464"/>
          </a:xfrm>
          <a:prstGeom prst="rect">
            <a:avLst/>
          </a:prstGeom>
          <a:noFill/>
          <a:ln/>
        </p:spPr>
        <p:txBody>
          <a:bodyPr wrap="square" lIns="0" tIns="0" rIns="0" bIns="0" rtlCol="0" anchor="ctr"/>
          <a:lstStyle/>
          <a:p>
            <a:pPr marL="0" indent="0">
              <a:buNone/>
            </a:pPr>
            <a:r>
              <a:rPr lang="en-US" sz="850" dirty="0">
                <a:solidFill>
                  <a:srgbClr val="8B8FA8"/>
                </a:solidFill>
              </a:rPr>
              <a:t>6 product categories — Handbags, RTW, Footwear, Fine Jewellery, Accessories, Fragrances</a:t>
            </a:r>
            <a:endParaRPr lang="en-US" sz="850" dirty="0"/>
          </a:p>
        </p:txBody>
      </p:sp>
      <p:sp>
        <p:nvSpPr>
          <p:cNvPr id="39" name="Shape 37"/>
          <p:cNvSpPr/>
          <p:nvPr/>
        </p:nvSpPr>
        <p:spPr>
          <a:xfrm>
            <a:off x="365760" y="2921508"/>
            <a:ext cx="8412480" cy="283464"/>
          </a:xfrm>
          <a:prstGeom prst="rect">
            <a:avLst/>
          </a:prstGeom>
          <a:solidFill>
            <a:srgbClr val="161B2A"/>
          </a:solidFill>
          <a:ln w="12700">
            <a:solidFill>
              <a:srgbClr val="2A2F40"/>
            </a:solidFill>
            <a:prstDash val="solid"/>
          </a:ln>
        </p:spPr>
        <p:txBody>
          <a:bodyPr/>
          <a:lstStyle/>
          <a:p>
            <a:endParaRPr lang="en-IN"/>
          </a:p>
        </p:txBody>
      </p:sp>
      <p:sp>
        <p:nvSpPr>
          <p:cNvPr id="40" name="Text 38"/>
          <p:cNvSpPr/>
          <p:nvPr/>
        </p:nvSpPr>
        <p:spPr>
          <a:xfrm>
            <a:off x="502920" y="2921508"/>
            <a:ext cx="1737360" cy="283464"/>
          </a:xfrm>
          <a:prstGeom prst="rect">
            <a:avLst/>
          </a:prstGeom>
          <a:noFill/>
          <a:ln/>
        </p:spPr>
        <p:txBody>
          <a:bodyPr wrap="square" lIns="0" tIns="0" rIns="0" bIns="0" rtlCol="0" anchor="ctr"/>
          <a:lstStyle/>
          <a:p>
            <a:pPr marL="0" indent="0">
              <a:buNone/>
            </a:pPr>
            <a:r>
              <a:rPr lang="en-US" sz="1050" b="1" dirty="0">
                <a:solidFill>
                  <a:srgbClr val="C9A84C"/>
                </a:solidFill>
              </a:rPr>
              <a:t>SKU</a:t>
            </a:r>
            <a:endParaRPr lang="en-US" sz="1050" dirty="0"/>
          </a:p>
        </p:txBody>
      </p:sp>
      <p:sp>
        <p:nvSpPr>
          <p:cNvPr id="41" name="Shape 39"/>
          <p:cNvSpPr/>
          <p:nvPr/>
        </p:nvSpPr>
        <p:spPr>
          <a:xfrm>
            <a:off x="3017520" y="2985516"/>
            <a:ext cx="822960" cy="155448"/>
          </a:xfrm>
          <a:prstGeom prst="rect">
            <a:avLst/>
          </a:prstGeom>
          <a:solidFill>
            <a:srgbClr val="1A1F2E"/>
          </a:solidFill>
          <a:ln w="12700">
            <a:solidFill>
              <a:srgbClr val="7F77DD"/>
            </a:solidFill>
            <a:prstDash val="solid"/>
          </a:ln>
        </p:spPr>
        <p:txBody>
          <a:bodyPr/>
          <a:lstStyle/>
          <a:p>
            <a:endParaRPr lang="en-IN"/>
          </a:p>
        </p:txBody>
      </p:sp>
      <p:sp>
        <p:nvSpPr>
          <p:cNvPr id="42" name="Text 40"/>
          <p:cNvSpPr/>
          <p:nvPr/>
        </p:nvSpPr>
        <p:spPr>
          <a:xfrm>
            <a:off x="3017520" y="2985516"/>
            <a:ext cx="822960" cy="155448"/>
          </a:xfrm>
          <a:prstGeom prst="rect">
            <a:avLst/>
          </a:prstGeom>
          <a:noFill/>
          <a:ln/>
        </p:spPr>
        <p:txBody>
          <a:bodyPr wrap="square" lIns="0" tIns="0" rIns="0" bIns="0" rtlCol="0" anchor="ctr"/>
          <a:lstStyle/>
          <a:p>
            <a:pPr marL="0" indent="0" algn="ctr">
              <a:buNone/>
            </a:pPr>
            <a:r>
              <a:rPr lang="en-US" sz="750" dirty="0">
                <a:solidFill>
                  <a:srgbClr val="7F77DD"/>
                </a:solidFill>
              </a:rPr>
              <a:t>Text</a:t>
            </a:r>
            <a:endParaRPr lang="en-US" sz="750" dirty="0"/>
          </a:p>
        </p:txBody>
      </p:sp>
      <p:sp>
        <p:nvSpPr>
          <p:cNvPr id="43" name="Text 41"/>
          <p:cNvSpPr/>
          <p:nvPr/>
        </p:nvSpPr>
        <p:spPr>
          <a:xfrm>
            <a:off x="4663440" y="2921508"/>
            <a:ext cx="3977640" cy="283464"/>
          </a:xfrm>
          <a:prstGeom prst="rect">
            <a:avLst/>
          </a:prstGeom>
          <a:noFill/>
          <a:ln/>
        </p:spPr>
        <p:txBody>
          <a:bodyPr wrap="square" lIns="0" tIns="0" rIns="0" bIns="0" rtlCol="0" anchor="ctr"/>
          <a:lstStyle/>
          <a:p>
            <a:pPr marL="0" indent="0">
              <a:buNone/>
            </a:pPr>
            <a:r>
              <a:rPr lang="en-US" sz="850" dirty="0">
                <a:solidFill>
                  <a:srgbClr val="8B8FA8"/>
                </a:solidFill>
              </a:rPr>
              <a:t>Foreign key to DimProduct — enables sell-through and margin analysis</a:t>
            </a:r>
            <a:endParaRPr lang="en-US" sz="850" dirty="0"/>
          </a:p>
        </p:txBody>
      </p:sp>
      <p:sp>
        <p:nvSpPr>
          <p:cNvPr id="44" name="Shape 42"/>
          <p:cNvSpPr/>
          <p:nvPr/>
        </p:nvSpPr>
        <p:spPr>
          <a:xfrm>
            <a:off x="365760" y="3209544"/>
            <a:ext cx="8412480" cy="283464"/>
          </a:xfrm>
          <a:prstGeom prst="rect">
            <a:avLst/>
          </a:prstGeom>
          <a:solidFill>
            <a:srgbClr val="1A1F2E"/>
          </a:solidFill>
          <a:ln w="12700">
            <a:solidFill>
              <a:srgbClr val="2A2F40"/>
            </a:solidFill>
            <a:prstDash val="solid"/>
          </a:ln>
        </p:spPr>
        <p:txBody>
          <a:bodyPr/>
          <a:lstStyle/>
          <a:p>
            <a:endParaRPr lang="en-IN"/>
          </a:p>
        </p:txBody>
      </p:sp>
      <p:sp>
        <p:nvSpPr>
          <p:cNvPr id="45" name="Text 43"/>
          <p:cNvSpPr/>
          <p:nvPr/>
        </p:nvSpPr>
        <p:spPr>
          <a:xfrm>
            <a:off x="502920" y="3209544"/>
            <a:ext cx="1737360" cy="283464"/>
          </a:xfrm>
          <a:prstGeom prst="rect">
            <a:avLst/>
          </a:prstGeom>
          <a:noFill/>
          <a:ln/>
        </p:spPr>
        <p:txBody>
          <a:bodyPr wrap="square" lIns="0" tIns="0" rIns="0" bIns="0" rtlCol="0" anchor="ctr"/>
          <a:lstStyle/>
          <a:p>
            <a:pPr marL="0" indent="0">
              <a:buNone/>
            </a:pPr>
            <a:r>
              <a:rPr lang="en-US" sz="1050" b="1" dirty="0">
                <a:solidFill>
                  <a:srgbClr val="C9A84C"/>
                </a:solidFill>
              </a:rPr>
              <a:t>Qty</a:t>
            </a:r>
            <a:endParaRPr lang="en-US" sz="1050" dirty="0"/>
          </a:p>
        </p:txBody>
      </p:sp>
      <p:sp>
        <p:nvSpPr>
          <p:cNvPr id="46" name="Shape 44"/>
          <p:cNvSpPr/>
          <p:nvPr/>
        </p:nvSpPr>
        <p:spPr>
          <a:xfrm>
            <a:off x="3017520" y="3273552"/>
            <a:ext cx="822960" cy="155448"/>
          </a:xfrm>
          <a:prstGeom prst="rect">
            <a:avLst/>
          </a:prstGeom>
          <a:solidFill>
            <a:srgbClr val="1A1F2E"/>
          </a:solidFill>
          <a:ln w="12700">
            <a:solidFill>
              <a:srgbClr val="EF9F27"/>
            </a:solidFill>
            <a:prstDash val="solid"/>
          </a:ln>
        </p:spPr>
        <p:txBody>
          <a:bodyPr/>
          <a:lstStyle/>
          <a:p>
            <a:endParaRPr lang="en-IN"/>
          </a:p>
        </p:txBody>
      </p:sp>
      <p:sp>
        <p:nvSpPr>
          <p:cNvPr id="47" name="Text 45"/>
          <p:cNvSpPr/>
          <p:nvPr/>
        </p:nvSpPr>
        <p:spPr>
          <a:xfrm>
            <a:off x="3017520" y="3273552"/>
            <a:ext cx="822960" cy="155448"/>
          </a:xfrm>
          <a:prstGeom prst="rect">
            <a:avLst/>
          </a:prstGeom>
          <a:noFill/>
          <a:ln/>
        </p:spPr>
        <p:txBody>
          <a:bodyPr wrap="square" lIns="0" tIns="0" rIns="0" bIns="0" rtlCol="0" anchor="ctr"/>
          <a:lstStyle/>
          <a:p>
            <a:pPr marL="0" indent="0" algn="ctr">
              <a:buNone/>
            </a:pPr>
            <a:r>
              <a:rPr lang="en-US" sz="750" dirty="0">
                <a:solidFill>
                  <a:srgbClr val="EF9F27"/>
                </a:solidFill>
              </a:rPr>
              <a:t>Integer</a:t>
            </a:r>
            <a:endParaRPr lang="en-US" sz="750" dirty="0"/>
          </a:p>
        </p:txBody>
      </p:sp>
      <p:sp>
        <p:nvSpPr>
          <p:cNvPr id="48" name="Text 46"/>
          <p:cNvSpPr/>
          <p:nvPr/>
        </p:nvSpPr>
        <p:spPr>
          <a:xfrm>
            <a:off x="4663440" y="3209544"/>
            <a:ext cx="3977640" cy="283464"/>
          </a:xfrm>
          <a:prstGeom prst="rect">
            <a:avLst/>
          </a:prstGeom>
          <a:noFill/>
          <a:ln/>
        </p:spPr>
        <p:txBody>
          <a:bodyPr wrap="square" lIns="0" tIns="0" rIns="0" bIns="0" rtlCol="0" anchor="ctr"/>
          <a:lstStyle/>
          <a:p>
            <a:pPr marL="0" indent="0">
              <a:buNone/>
            </a:pPr>
            <a:r>
              <a:rPr lang="en-US" sz="850" dirty="0">
                <a:solidFill>
                  <a:srgbClr val="8B8FA8"/>
                </a:solidFill>
              </a:rPr>
              <a:t>Units per order — used in SellThrough%, GMV, and UnitsSold measures</a:t>
            </a:r>
            <a:endParaRPr lang="en-US" sz="850" dirty="0"/>
          </a:p>
        </p:txBody>
      </p:sp>
      <p:sp>
        <p:nvSpPr>
          <p:cNvPr id="49" name="Shape 47"/>
          <p:cNvSpPr/>
          <p:nvPr/>
        </p:nvSpPr>
        <p:spPr>
          <a:xfrm>
            <a:off x="365760" y="3497580"/>
            <a:ext cx="8412480" cy="283464"/>
          </a:xfrm>
          <a:prstGeom prst="rect">
            <a:avLst/>
          </a:prstGeom>
          <a:solidFill>
            <a:srgbClr val="161B2A"/>
          </a:solidFill>
          <a:ln w="12700">
            <a:solidFill>
              <a:srgbClr val="2A2F40"/>
            </a:solidFill>
            <a:prstDash val="solid"/>
          </a:ln>
        </p:spPr>
        <p:txBody>
          <a:bodyPr/>
          <a:lstStyle/>
          <a:p>
            <a:endParaRPr lang="en-IN"/>
          </a:p>
        </p:txBody>
      </p:sp>
      <p:sp>
        <p:nvSpPr>
          <p:cNvPr id="50" name="Text 48"/>
          <p:cNvSpPr/>
          <p:nvPr/>
        </p:nvSpPr>
        <p:spPr>
          <a:xfrm>
            <a:off x="502920" y="3497580"/>
            <a:ext cx="1737360" cy="283464"/>
          </a:xfrm>
          <a:prstGeom prst="rect">
            <a:avLst/>
          </a:prstGeom>
          <a:noFill/>
          <a:ln/>
        </p:spPr>
        <p:txBody>
          <a:bodyPr wrap="square" lIns="0" tIns="0" rIns="0" bIns="0" rtlCol="0" anchor="ctr"/>
          <a:lstStyle/>
          <a:p>
            <a:pPr marL="0" indent="0">
              <a:buNone/>
            </a:pPr>
            <a:r>
              <a:rPr lang="en-US" sz="1050" b="1" dirty="0">
                <a:solidFill>
                  <a:srgbClr val="C9A84C"/>
                </a:solidFill>
              </a:rPr>
              <a:t>UnitPrice_EUR</a:t>
            </a:r>
            <a:endParaRPr lang="en-US" sz="1050" dirty="0"/>
          </a:p>
        </p:txBody>
      </p:sp>
      <p:sp>
        <p:nvSpPr>
          <p:cNvPr id="51" name="Shape 49"/>
          <p:cNvSpPr/>
          <p:nvPr/>
        </p:nvSpPr>
        <p:spPr>
          <a:xfrm>
            <a:off x="3017520" y="3561588"/>
            <a:ext cx="822960" cy="155448"/>
          </a:xfrm>
          <a:prstGeom prst="rect">
            <a:avLst/>
          </a:prstGeom>
          <a:solidFill>
            <a:srgbClr val="1A1F2E"/>
          </a:solidFill>
          <a:ln w="12700">
            <a:solidFill>
              <a:srgbClr val="D4537E"/>
            </a:solidFill>
            <a:prstDash val="solid"/>
          </a:ln>
        </p:spPr>
        <p:txBody>
          <a:bodyPr/>
          <a:lstStyle/>
          <a:p>
            <a:endParaRPr lang="en-IN"/>
          </a:p>
        </p:txBody>
      </p:sp>
      <p:sp>
        <p:nvSpPr>
          <p:cNvPr id="52" name="Text 50"/>
          <p:cNvSpPr/>
          <p:nvPr/>
        </p:nvSpPr>
        <p:spPr>
          <a:xfrm>
            <a:off x="3017520" y="3561588"/>
            <a:ext cx="822960" cy="155448"/>
          </a:xfrm>
          <a:prstGeom prst="rect">
            <a:avLst/>
          </a:prstGeom>
          <a:noFill/>
          <a:ln/>
        </p:spPr>
        <p:txBody>
          <a:bodyPr wrap="square" lIns="0" tIns="0" rIns="0" bIns="0" rtlCol="0" anchor="ctr"/>
          <a:lstStyle/>
          <a:p>
            <a:pPr marL="0" indent="0" algn="ctr">
              <a:buNone/>
            </a:pPr>
            <a:r>
              <a:rPr lang="en-US" sz="750" dirty="0">
                <a:solidFill>
                  <a:srgbClr val="D4537E"/>
                </a:solidFill>
              </a:rPr>
              <a:t>Decimal</a:t>
            </a:r>
            <a:endParaRPr lang="en-US" sz="750" dirty="0"/>
          </a:p>
        </p:txBody>
      </p:sp>
      <p:sp>
        <p:nvSpPr>
          <p:cNvPr id="53" name="Text 51"/>
          <p:cNvSpPr/>
          <p:nvPr/>
        </p:nvSpPr>
        <p:spPr>
          <a:xfrm>
            <a:off x="4663440" y="3497580"/>
            <a:ext cx="3977640" cy="283464"/>
          </a:xfrm>
          <a:prstGeom prst="rect">
            <a:avLst/>
          </a:prstGeom>
          <a:noFill/>
          <a:ln/>
        </p:spPr>
        <p:txBody>
          <a:bodyPr wrap="square" lIns="0" tIns="0" rIns="0" bIns="0" rtlCol="0" anchor="ctr"/>
          <a:lstStyle/>
          <a:p>
            <a:pPr marL="0" indent="0">
              <a:buNone/>
            </a:pPr>
            <a:r>
              <a:rPr lang="en-US" sz="850" dirty="0">
                <a:solidFill>
                  <a:srgbClr val="8B8FA8"/>
                </a:solidFill>
              </a:rPr>
              <a:t>Selling price in EUR — base for GMV, AOV, and Prestige Price Index</a:t>
            </a:r>
            <a:endParaRPr lang="en-US" sz="850" dirty="0"/>
          </a:p>
        </p:txBody>
      </p:sp>
      <p:sp>
        <p:nvSpPr>
          <p:cNvPr id="54" name="Shape 52"/>
          <p:cNvSpPr/>
          <p:nvPr/>
        </p:nvSpPr>
        <p:spPr>
          <a:xfrm>
            <a:off x="365760" y="3785616"/>
            <a:ext cx="8412480" cy="283464"/>
          </a:xfrm>
          <a:prstGeom prst="rect">
            <a:avLst/>
          </a:prstGeom>
          <a:solidFill>
            <a:srgbClr val="1A1F2E"/>
          </a:solidFill>
          <a:ln w="12700">
            <a:solidFill>
              <a:srgbClr val="2A2F40"/>
            </a:solidFill>
            <a:prstDash val="solid"/>
          </a:ln>
        </p:spPr>
        <p:txBody>
          <a:bodyPr/>
          <a:lstStyle/>
          <a:p>
            <a:endParaRPr lang="en-IN"/>
          </a:p>
        </p:txBody>
      </p:sp>
      <p:sp>
        <p:nvSpPr>
          <p:cNvPr id="55" name="Text 53"/>
          <p:cNvSpPr/>
          <p:nvPr/>
        </p:nvSpPr>
        <p:spPr>
          <a:xfrm>
            <a:off x="502920" y="3785616"/>
            <a:ext cx="1737360" cy="283464"/>
          </a:xfrm>
          <a:prstGeom prst="rect">
            <a:avLst/>
          </a:prstGeom>
          <a:noFill/>
          <a:ln/>
        </p:spPr>
        <p:txBody>
          <a:bodyPr wrap="square" lIns="0" tIns="0" rIns="0" bIns="0" rtlCol="0" anchor="ctr"/>
          <a:lstStyle/>
          <a:p>
            <a:pPr marL="0" indent="0">
              <a:buNone/>
            </a:pPr>
            <a:r>
              <a:rPr lang="en-US" sz="1050" b="1" dirty="0">
                <a:solidFill>
                  <a:srgbClr val="C9A84C"/>
                </a:solidFill>
              </a:rPr>
              <a:t>Channel</a:t>
            </a:r>
            <a:endParaRPr lang="en-US" sz="1050" dirty="0"/>
          </a:p>
        </p:txBody>
      </p:sp>
      <p:sp>
        <p:nvSpPr>
          <p:cNvPr id="56" name="Shape 54"/>
          <p:cNvSpPr/>
          <p:nvPr/>
        </p:nvSpPr>
        <p:spPr>
          <a:xfrm>
            <a:off x="3017520" y="3849624"/>
            <a:ext cx="822960" cy="155448"/>
          </a:xfrm>
          <a:prstGeom prst="rect">
            <a:avLst/>
          </a:prstGeom>
          <a:solidFill>
            <a:srgbClr val="1A1F2E"/>
          </a:solidFill>
          <a:ln w="12700">
            <a:solidFill>
              <a:srgbClr val="7F77DD"/>
            </a:solidFill>
            <a:prstDash val="solid"/>
          </a:ln>
        </p:spPr>
        <p:txBody>
          <a:bodyPr/>
          <a:lstStyle/>
          <a:p>
            <a:endParaRPr lang="en-IN"/>
          </a:p>
        </p:txBody>
      </p:sp>
      <p:sp>
        <p:nvSpPr>
          <p:cNvPr id="57" name="Text 55"/>
          <p:cNvSpPr/>
          <p:nvPr/>
        </p:nvSpPr>
        <p:spPr>
          <a:xfrm>
            <a:off x="3017520" y="3849624"/>
            <a:ext cx="822960" cy="155448"/>
          </a:xfrm>
          <a:prstGeom prst="rect">
            <a:avLst/>
          </a:prstGeom>
          <a:noFill/>
          <a:ln/>
        </p:spPr>
        <p:txBody>
          <a:bodyPr wrap="square" lIns="0" tIns="0" rIns="0" bIns="0" rtlCol="0" anchor="ctr"/>
          <a:lstStyle/>
          <a:p>
            <a:pPr marL="0" indent="0" algn="ctr">
              <a:buNone/>
            </a:pPr>
            <a:r>
              <a:rPr lang="en-US" sz="750" dirty="0">
                <a:solidFill>
                  <a:srgbClr val="7F77DD"/>
                </a:solidFill>
              </a:rPr>
              <a:t>Text</a:t>
            </a:r>
            <a:endParaRPr lang="en-US" sz="750" dirty="0"/>
          </a:p>
        </p:txBody>
      </p:sp>
      <p:sp>
        <p:nvSpPr>
          <p:cNvPr id="58" name="Text 56"/>
          <p:cNvSpPr/>
          <p:nvPr/>
        </p:nvSpPr>
        <p:spPr>
          <a:xfrm>
            <a:off x="4663440" y="3785616"/>
            <a:ext cx="3977640" cy="283464"/>
          </a:xfrm>
          <a:prstGeom prst="rect">
            <a:avLst/>
          </a:prstGeom>
          <a:noFill/>
          <a:ln/>
        </p:spPr>
        <p:txBody>
          <a:bodyPr wrap="square" lIns="0" tIns="0" rIns="0" bIns="0" rtlCol="0" anchor="ctr"/>
          <a:lstStyle/>
          <a:p>
            <a:pPr marL="0" indent="0">
              <a:buNone/>
            </a:pPr>
            <a:r>
              <a:rPr lang="en-US" sz="850" dirty="0">
                <a:solidFill>
                  <a:srgbClr val="8B8FA8"/>
                </a:solidFill>
              </a:rPr>
              <a:t>4 channels — Boutique, E-Commerce, Wholesale, Pop-Up</a:t>
            </a:r>
            <a:endParaRPr lang="en-US" sz="850" dirty="0"/>
          </a:p>
        </p:txBody>
      </p:sp>
      <p:sp>
        <p:nvSpPr>
          <p:cNvPr id="59" name="Shape 57"/>
          <p:cNvSpPr/>
          <p:nvPr/>
        </p:nvSpPr>
        <p:spPr>
          <a:xfrm>
            <a:off x="365760" y="4073652"/>
            <a:ext cx="8412480" cy="283464"/>
          </a:xfrm>
          <a:prstGeom prst="rect">
            <a:avLst/>
          </a:prstGeom>
          <a:solidFill>
            <a:srgbClr val="161B2A"/>
          </a:solidFill>
          <a:ln w="12700">
            <a:solidFill>
              <a:srgbClr val="2A2F40"/>
            </a:solidFill>
            <a:prstDash val="solid"/>
          </a:ln>
        </p:spPr>
        <p:txBody>
          <a:bodyPr/>
          <a:lstStyle/>
          <a:p>
            <a:endParaRPr lang="en-IN"/>
          </a:p>
        </p:txBody>
      </p:sp>
      <p:sp>
        <p:nvSpPr>
          <p:cNvPr id="60" name="Text 58"/>
          <p:cNvSpPr/>
          <p:nvPr/>
        </p:nvSpPr>
        <p:spPr>
          <a:xfrm>
            <a:off x="502920" y="4073652"/>
            <a:ext cx="1737360" cy="283464"/>
          </a:xfrm>
          <a:prstGeom prst="rect">
            <a:avLst/>
          </a:prstGeom>
          <a:noFill/>
          <a:ln/>
        </p:spPr>
        <p:txBody>
          <a:bodyPr wrap="square" lIns="0" tIns="0" rIns="0" bIns="0" rtlCol="0" anchor="ctr"/>
          <a:lstStyle/>
          <a:p>
            <a:pPr marL="0" indent="0">
              <a:buNone/>
            </a:pPr>
            <a:r>
              <a:rPr lang="en-US" sz="1050" b="1" dirty="0">
                <a:solidFill>
                  <a:srgbClr val="C9A84C"/>
                </a:solidFill>
              </a:rPr>
              <a:t>Country</a:t>
            </a:r>
            <a:endParaRPr lang="en-US" sz="1050" dirty="0"/>
          </a:p>
        </p:txBody>
      </p:sp>
      <p:sp>
        <p:nvSpPr>
          <p:cNvPr id="61" name="Shape 59"/>
          <p:cNvSpPr/>
          <p:nvPr/>
        </p:nvSpPr>
        <p:spPr>
          <a:xfrm>
            <a:off x="3017520" y="4137660"/>
            <a:ext cx="822960" cy="155448"/>
          </a:xfrm>
          <a:prstGeom prst="rect">
            <a:avLst/>
          </a:prstGeom>
          <a:solidFill>
            <a:srgbClr val="1A1F2E"/>
          </a:solidFill>
          <a:ln w="12700">
            <a:solidFill>
              <a:srgbClr val="7F77DD"/>
            </a:solidFill>
            <a:prstDash val="solid"/>
          </a:ln>
        </p:spPr>
        <p:txBody>
          <a:bodyPr/>
          <a:lstStyle/>
          <a:p>
            <a:endParaRPr lang="en-IN"/>
          </a:p>
        </p:txBody>
      </p:sp>
      <p:sp>
        <p:nvSpPr>
          <p:cNvPr id="62" name="Text 60"/>
          <p:cNvSpPr/>
          <p:nvPr/>
        </p:nvSpPr>
        <p:spPr>
          <a:xfrm>
            <a:off x="3017520" y="4137660"/>
            <a:ext cx="822960" cy="155448"/>
          </a:xfrm>
          <a:prstGeom prst="rect">
            <a:avLst/>
          </a:prstGeom>
          <a:noFill/>
          <a:ln/>
        </p:spPr>
        <p:txBody>
          <a:bodyPr wrap="square" lIns="0" tIns="0" rIns="0" bIns="0" rtlCol="0" anchor="ctr"/>
          <a:lstStyle/>
          <a:p>
            <a:pPr marL="0" indent="0" algn="ctr">
              <a:buNone/>
            </a:pPr>
            <a:r>
              <a:rPr lang="en-US" sz="750" dirty="0">
                <a:solidFill>
                  <a:srgbClr val="7F77DD"/>
                </a:solidFill>
              </a:rPr>
              <a:t>Text</a:t>
            </a:r>
            <a:endParaRPr lang="en-US" sz="750" dirty="0"/>
          </a:p>
        </p:txBody>
      </p:sp>
      <p:sp>
        <p:nvSpPr>
          <p:cNvPr id="63" name="Text 61"/>
          <p:cNvSpPr/>
          <p:nvPr/>
        </p:nvSpPr>
        <p:spPr>
          <a:xfrm>
            <a:off x="4663440" y="4073652"/>
            <a:ext cx="3977640" cy="283464"/>
          </a:xfrm>
          <a:prstGeom prst="rect">
            <a:avLst/>
          </a:prstGeom>
          <a:noFill/>
          <a:ln/>
        </p:spPr>
        <p:txBody>
          <a:bodyPr wrap="square" lIns="0" tIns="0" rIns="0" bIns="0" rtlCol="0" anchor="ctr"/>
          <a:lstStyle/>
          <a:p>
            <a:pPr marL="0" indent="0">
              <a:buNone/>
            </a:pPr>
            <a:r>
              <a:rPr lang="en-US" sz="850" dirty="0">
                <a:solidFill>
                  <a:srgbClr val="8B8FA8"/>
                </a:solidFill>
              </a:rPr>
              <a:t>10 markets — UAE, France, UK, USA, Singapore, Italy, Japan and more</a:t>
            </a:r>
            <a:endParaRPr lang="en-US" sz="850" dirty="0"/>
          </a:p>
        </p:txBody>
      </p:sp>
      <p:sp>
        <p:nvSpPr>
          <p:cNvPr id="64" name="Shape 62"/>
          <p:cNvSpPr/>
          <p:nvPr/>
        </p:nvSpPr>
        <p:spPr>
          <a:xfrm>
            <a:off x="365760" y="4361688"/>
            <a:ext cx="8412480" cy="283464"/>
          </a:xfrm>
          <a:prstGeom prst="rect">
            <a:avLst/>
          </a:prstGeom>
          <a:solidFill>
            <a:srgbClr val="1A1F2E"/>
          </a:solidFill>
          <a:ln w="12700">
            <a:solidFill>
              <a:srgbClr val="2A2F40"/>
            </a:solidFill>
            <a:prstDash val="solid"/>
          </a:ln>
        </p:spPr>
        <p:txBody>
          <a:bodyPr/>
          <a:lstStyle/>
          <a:p>
            <a:endParaRPr lang="en-IN"/>
          </a:p>
        </p:txBody>
      </p:sp>
      <p:sp>
        <p:nvSpPr>
          <p:cNvPr id="65" name="Text 63"/>
          <p:cNvSpPr/>
          <p:nvPr/>
        </p:nvSpPr>
        <p:spPr>
          <a:xfrm>
            <a:off x="502920" y="4361688"/>
            <a:ext cx="1737360" cy="283464"/>
          </a:xfrm>
          <a:prstGeom prst="rect">
            <a:avLst/>
          </a:prstGeom>
          <a:noFill/>
          <a:ln/>
        </p:spPr>
        <p:txBody>
          <a:bodyPr wrap="square" lIns="0" tIns="0" rIns="0" bIns="0" rtlCol="0" anchor="ctr"/>
          <a:lstStyle/>
          <a:p>
            <a:pPr marL="0" indent="0">
              <a:buNone/>
            </a:pPr>
            <a:r>
              <a:rPr lang="en-US" sz="1050" b="1" dirty="0">
                <a:solidFill>
                  <a:srgbClr val="C9A84C"/>
                </a:solidFill>
              </a:rPr>
              <a:t>ReturnFlag</a:t>
            </a:r>
            <a:endParaRPr lang="en-US" sz="1050" dirty="0"/>
          </a:p>
        </p:txBody>
      </p:sp>
      <p:sp>
        <p:nvSpPr>
          <p:cNvPr id="66" name="Shape 64"/>
          <p:cNvSpPr/>
          <p:nvPr/>
        </p:nvSpPr>
        <p:spPr>
          <a:xfrm>
            <a:off x="3017520" y="4425696"/>
            <a:ext cx="822960" cy="155448"/>
          </a:xfrm>
          <a:prstGeom prst="rect">
            <a:avLst/>
          </a:prstGeom>
          <a:solidFill>
            <a:srgbClr val="1A1F2E"/>
          </a:solidFill>
          <a:ln w="12700">
            <a:solidFill>
              <a:srgbClr val="7F77DD"/>
            </a:solidFill>
            <a:prstDash val="solid"/>
          </a:ln>
        </p:spPr>
        <p:txBody>
          <a:bodyPr/>
          <a:lstStyle/>
          <a:p>
            <a:endParaRPr lang="en-IN"/>
          </a:p>
        </p:txBody>
      </p:sp>
      <p:sp>
        <p:nvSpPr>
          <p:cNvPr id="67" name="Text 65"/>
          <p:cNvSpPr/>
          <p:nvPr/>
        </p:nvSpPr>
        <p:spPr>
          <a:xfrm>
            <a:off x="3017520" y="4425696"/>
            <a:ext cx="822960" cy="155448"/>
          </a:xfrm>
          <a:prstGeom prst="rect">
            <a:avLst/>
          </a:prstGeom>
          <a:noFill/>
          <a:ln/>
        </p:spPr>
        <p:txBody>
          <a:bodyPr wrap="square" lIns="0" tIns="0" rIns="0" bIns="0" rtlCol="0" anchor="ctr"/>
          <a:lstStyle/>
          <a:p>
            <a:pPr marL="0" indent="0" algn="ctr">
              <a:buNone/>
            </a:pPr>
            <a:r>
              <a:rPr lang="en-US" sz="750" dirty="0">
                <a:solidFill>
                  <a:srgbClr val="7F77DD"/>
                </a:solidFill>
              </a:rPr>
              <a:t>Text</a:t>
            </a:r>
            <a:endParaRPr lang="en-US" sz="750" dirty="0"/>
          </a:p>
        </p:txBody>
      </p:sp>
      <p:sp>
        <p:nvSpPr>
          <p:cNvPr id="68" name="Text 66"/>
          <p:cNvSpPr/>
          <p:nvPr/>
        </p:nvSpPr>
        <p:spPr>
          <a:xfrm>
            <a:off x="4663440" y="4361688"/>
            <a:ext cx="3977640" cy="283464"/>
          </a:xfrm>
          <a:prstGeom prst="rect">
            <a:avLst/>
          </a:prstGeom>
          <a:noFill/>
          <a:ln/>
        </p:spPr>
        <p:txBody>
          <a:bodyPr wrap="square" lIns="0" tIns="0" rIns="0" bIns="0" rtlCol="0" anchor="ctr"/>
          <a:lstStyle/>
          <a:p>
            <a:pPr marL="0" indent="0">
              <a:buNone/>
            </a:pPr>
            <a:r>
              <a:rPr lang="en-US" sz="850" dirty="0">
                <a:solidFill>
                  <a:srgbClr val="8B8FA8"/>
                </a:solidFill>
              </a:rPr>
              <a:t>Yes/No — drives ReturnRate%, Net Revenue, and waterfall chart</a:t>
            </a:r>
            <a:endParaRPr lang="en-US" sz="850" dirty="0"/>
          </a:p>
        </p:txBody>
      </p:sp>
      <p:sp>
        <p:nvSpPr>
          <p:cNvPr id="69" name="Shape 67"/>
          <p:cNvSpPr/>
          <p:nvPr/>
        </p:nvSpPr>
        <p:spPr>
          <a:xfrm>
            <a:off x="365760" y="4649724"/>
            <a:ext cx="8412480" cy="283464"/>
          </a:xfrm>
          <a:prstGeom prst="rect">
            <a:avLst/>
          </a:prstGeom>
          <a:solidFill>
            <a:srgbClr val="161B2A"/>
          </a:solidFill>
          <a:ln w="12700">
            <a:solidFill>
              <a:srgbClr val="2A2F40"/>
            </a:solidFill>
            <a:prstDash val="solid"/>
          </a:ln>
        </p:spPr>
        <p:txBody>
          <a:bodyPr/>
          <a:lstStyle/>
          <a:p>
            <a:endParaRPr lang="en-IN"/>
          </a:p>
        </p:txBody>
      </p:sp>
      <p:sp>
        <p:nvSpPr>
          <p:cNvPr id="70" name="Text 68"/>
          <p:cNvSpPr/>
          <p:nvPr/>
        </p:nvSpPr>
        <p:spPr>
          <a:xfrm>
            <a:off x="502920" y="4649724"/>
            <a:ext cx="1737360" cy="283464"/>
          </a:xfrm>
          <a:prstGeom prst="rect">
            <a:avLst/>
          </a:prstGeom>
          <a:noFill/>
          <a:ln/>
        </p:spPr>
        <p:txBody>
          <a:bodyPr wrap="square" lIns="0" tIns="0" rIns="0" bIns="0" rtlCol="0" anchor="ctr"/>
          <a:lstStyle/>
          <a:p>
            <a:pPr marL="0" indent="0">
              <a:buNone/>
            </a:pPr>
            <a:r>
              <a:rPr lang="en-US" sz="1050" b="1" dirty="0">
                <a:solidFill>
                  <a:srgbClr val="C9A84C"/>
                </a:solidFill>
              </a:rPr>
              <a:t>Season</a:t>
            </a:r>
            <a:endParaRPr lang="en-US" sz="1050" dirty="0"/>
          </a:p>
        </p:txBody>
      </p:sp>
      <p:sp>
        <p:nvSpPr>
          <p:cNvPr id="71" name="Shape 69"/>
          <p:cNvSpPr/>
          <p:nvPr/>
        </p:nvSpPr>
        <p:spPr>
          <a:xfrm>
            <a:off x="3017520" y="4713732"/>
            <a:ext cx="822960" cy="155448"/>
          </a:xfrm>
          <a:prstGeom prst="rect">
            <a:avLst/>
          </a:prstGeom>
          <a:solidFill>
            <a:srgbClr val="1A1F2E"/>
          </a:solidFill>
          <a:ln w="12700">
            <a:solidFill>
              <a:srgbClr val="7F77DD"/>
            </a:solidFill>
            <a:prstDash val="solid"/>
          </a:ln>
        </p:spPr>
        <p:txBody>
          <a:bodyPr/>
          <a:lstStyle/>
          <a:p>
            <a:endParaRPr lang="en-IN"/>
          </a:p>
        </p:txBody>
      </p:sp>
      <p:sp>
        <p:nvSpPr>
          <p:cNvPr id="72" name="Text 70"/>
          <p:cNvSpPr/>
          <p:nvPr/>
        </p:nvSpPr>
        <p:spPr>
          <a:xfrm>
            <a:off x="3017520" y="4713732"/>
            <a:ext cx="822960" cy="155448"/>
          </a:xfrm>
          <a:prstGeom prst="rect">
            <a:avLst/>
          </a:prstGeom>
          <a:noFill/>
          <a:ln/>
        </p:spPr>
        <p:txBody>
          <a:bodyPr wrap="square" lIns="0" tIns="0" rIns="0" bIns="0" rtlCol="0" anchor="ctr"/>
          <a:lstStyle/>
          <a:p>
            <a:pPr marL="0" indent="0" algn="ctr">
              <a:buNone/>
            </a:pPr>
            <a:r>
              <a:rPr lang="en-US" sz="750" dirty="0">
                <a:solidFill>
                  <a:srgbClr val="7F77DD"/>
                </a:solidFill>
              </a:rPr>
              <a:t>Text</a:t>
            </a:r>
            <a:endParaRPr lang="en-US" sz="750" dirty="0"/>
          </a:p>
        </p:txBody>
      </p:sp>
      <p:sp>
        <p:nvSpPr>
          <p:cNvPr id="73" name="Text 71"/>
          <p:cNvSpPr/>
          <p:nvPr/>
        </p:nvSpPr>
        <p:spPr>
          <a:xfrm>
            <a:off x="4663440" y="4649724"/>
            <a:ext cx="3977640" cy="283464"/>
          </a:xfrm>
          <a:prstGeom prst="rect">
            <a:avLst/>
          </a:prstGeom>
          <a:noFill/>
          <a:ln/>
        </p:spPr>
        <p:txBody>
          <a:bodyPr wrap="square" lIns="0" tIns="0" rIns="0" bIns="0" rtlCol="0" anchor="ctr"/>
          <a:lstStyle/>
          <a:p>
            <a:pPr marL="0" indent="0">
              <a:buNone/>
            </a:pPr>
            <a:r>
              <a:rPr lang="en-US" sz="850" dirty="0">
                <a:solidFill>
                  <a:srgbClr val="8B8FA8"/>
                </a:solidFill>
              </a:rPr>
              <a:t>SS or FW — connects to FashionWeekFlag and seasonal trend analysis</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9A84C"/>
          </a:solidFill>
          <a:ln w="12700">
            <a:solidFill>
              <a:srgbClr val="C9A84C"/>
            </a:solidFill>
            <a:prstDash val="solid"/>
          </a:ln>
        </p:spPr>
        <p:txBody>
          <a:bodyPr/>
          <a:lstStyle/>
          <a:p>
            <a:endParaRPr lang="en-IN"/>
          </a:p>
        </p:txBody>
      </p:sp>
      <p:sp>
        <p:nvSpPr>
          <p:cNvPr id="3" name="Shape 1"/>
          <p:cNvSpPr/>
          <p:nvPr/>
        </p:nvSpPr>
        <p:spPr>
          <a:xfrm>
            <a:off x="0" y="5074920"/>
            <a:ext cx="9144000" cy="68580"/>
          </a:xfrm>
          <a:prstGeom prst="rect">
            <a:avLst/>
          </a:prstGeom>
          <a:solidFill>
            <a:srgbClr val="1A1F2E"/>
          </a:solidFill>
          <a:ln w="12700">
            <a:solidFill>
              <a:srgbClr val="1A1F2E"/>
            </a:solidFill>
            <a:prstDash val="solid"/>
          </a:ln>
        </p:spPr>
        <p:txBody>
          <a:bodyPr/>
          <a:lstStyle/>
          <a:p>
            <a:endParaRPr lang="en-IN"/>
          </a:p>
        </p:txBody>
      </p:sp>
      <p:sp>
        <p:nvSpPr>
          <p:cNvPr id="4" name="Text 2"/>
          <p:cNvSpPr/>
          <p:nvPr/>
        </p:nvSpPr>
        <p:spPr>
          <a:xfrm>
            <a:off x="274320" y="5074920"/>
            <a:ext cx="6400800" cy="68580"/>
          </a:xfrm>
          <a:prstGeom prst="rect">
            <a:avLst/>
          </a:prstGeom>
          <a:noFill/>
          <a:ln/>
        </p:spPr>
        <p:txBody>
          <a:bodyPr wrap="square" lIns="0" tIns="0" rIns="0" bIns="0" rtlCol="0" anchor="ctr"/>
          <a:lstStyle/>
          <a:p>
            <a:pPr marL="0" indent="0">
              <a:buNone/>
            </a:pPr>
            <a:r>
              <a:rPr lang="en-US" sz="700" dirty="0">
                <a:solidFill>
                  <a:srgbClr val="8B8FA8"/>
                </a:solidFill>
              </a:rPr>
              <a:t> Luxury Fashion Performance Intelligence</a:t>
            </a:r>
            <a:endParaRPr lang="en-US" sz="700" dirty="0"/>
          </a:p>
        </p:txBody>
      </p:sp>
      <p:sp>
        <p:nvSpPr>
          <p:cNvPr id="6" name="Shape 4"/>
          <p:cNvSpPr/>
          <p:nvPr/>
        </p:nvSpPr>
        <p:spPr>
          <a:xfrm>
            <a:off x="365760" y="164592"/>
            <a:ext cx="2194560" cy="201168"/>
          </a:xfrm>
          <a:prstGeom prst="rect">
            <a:avLst/>
          </a:prstGeom>
          <a:solidFill>
            <a:srgbClr val="C9A84C"/>
          </a:solidFill>
          <a:ln w="12700">
            <a:solidFill>
              <a:srgbClr val="C9A84C"/>
            </a:solidFill>
            <a:prstDash val="solid"/>
          </a:ln>
        </p:spPr>
        <p:txBody>
          <a:bodyPr/>
          <a:lstStyle/>
          <a:p>
            <a:endParaRPr lang="en-IN"/>
          </a:p>
        </p:txBody>
      </p:sp>
      <p:sp>
        <p:nvSpPr>
          <p:cNvPr id="7" name="Text 5"/>
          <p:cNvSpPr/>
          <p:nvPr/>
        </p:nvSpPr>
        <p:spPr>
          <a:xfrm>
            <a:off x="365760" y="164592"/>
            <a:ext cx="2194560" cy="201168"/>
          </a:xfrm>
          <a:prstGeom prst="rect">
            <a:avLst/>
          </a:prstGeom>
          <a:noFill/>
          <a:ln/>
        </p:spPr>
        <p:txBody>
          <a:bodyPr wrap="square" lIns="0" tIns="0" rIns="0" bIns="0" rtlCol="0" anchor="ctr"/>
          <a:lstStyle/>
          <a:p>
            <a:pPr marL="0" indent="0" algn="ctr">
              <a:buNone/>
            </a:pPr>
            <a:r>
              <a:rPr lang="en-US" sz="750" b="1" kern="0" spc="200" dirty="0">
                <a:solidFill>
                  <a:srgbClr val="0D0D0D"/>
                </a:solidFill>
              </a:rPr>
              <a:t>05  ·  DATA PREPARATION</a:t>
            </a:r>
            <a:endParaRPr lang="en-US" sz="750" dirty="0"/>
          </a:p>
        </p:txBody>
      </p:sp>
      <p:sp>
        <p:nvSpPr>
          <p:cNvPr id="8" name="Text 6"/>
          <p:cNvSpPr/>
          <p:nvPr/>
        </p:nvSpPr>
        <p:spPr>
          <a:xfrm>
            <a:off x="365760" y="457200"/>
            <a:ext cx="8229600" cy="457200"/>
          </a:xfrm>
          <a:prstGeom prst="rect">
            <a:avLst/>
          </a:prstGeom>
          <a:noFill/>
          <a:ln/>
        </p:spPr>
        <p:txBody>
          <a:bodyPr wrap="square" lIns="0" tIns="0" rIns="0" bIns="0" rtlCol="0" anchor="ctr"/>
          <a:lstStyle/>
          <a:p>
            <a:pPr marL="0" indent="0">
              <a:buNone/>
            </a:pPr>
            <a:r>
              <a:rPr lang="en-US" sz="2600" b="1" dirty="0">
                <a:solidFill>
                  <a:srgbClr val="F5F0E8"/>
                </a:solidFill>
              </a:rPr>
              <a:t>Data Cleaning &amp; Transformation</a:t>
            </a:r>
            <a:endParaRPr lang="en-US" sz="2600" dirty="0"/>
          </a:p>
        </p:txBody>
      </p:sp>
      <p:sp>
        <p:nvSpPr>
          <p:cNvPr id="9" name="Text 7"/>
          <p:cNvSpPr/>
          <p:nvPr/>
        </p:nvSpPr>
        <p:spPr>
          <a:xfrm>
            <a:off x="365760" y="896112"/>
            <a:ext cx="8229600" cy="201168"/>
          </a:xfrm>
          <a:prstGeom prst="rect">
            <a:avLst/>
          </a:prstGeom>
          <a:noFill/>
          <a:ln/>
        </p:spPr>
        <p:txBody>
          <a:bodyPr wrap="square" lIns="0" tIns="0" rIns="0" bIns="0" rtlCol="0" anchor="ctr"/>
          <a:lstStyle/>
          <a:p>
            <a:pPr marL="0" indent="0">
              <a:buNone/>
            </a:pPr>
            <a:r>
              <a:rPr lang="en-US" sz="1100" dirty="0">
                <a:solidFill>
                  <a:srgbClr val="8B8FA8"/>
                </a:solidFill>
              </a:rPr>
              <a:t>Power Query pipeline for data preparation</a:t>
            </a:r>
            <a:endParaRPr lang="en-US" sz="1100" dirty="0"/>
          </a:p>
        </p:txBody>
      </p:sp>
      <p:sp>
        <p:nvSpPr>
          <p:cNvPr id="10" name="Shape 8"/>
          <p:cNvSpPr/>
          <p:nvPr/>
        </p:nvSpPr>
        <p:spPr>
          <a:xfrm>
            <a:off x="365760" y="1207008"/>
            <a:ext cx="2011680" cy="1600200"/>
          </a:xfrm>
          <a:prstGeom prst="rect">
            <a:avLst/>
          </a:prstGeom>
          <a:solidFill>
            <a:srgbClr val="1A1F2E"/>
          </a:solidFill>
          <a:ln w="12700">
            <a:solidFill>
              <a:srgbClr val="2A2F40"/>
            </a:solidFill>
            <a:prstDash val="solid"/>
          </a:ln>
          <a:effectLst>
            <a:outerShdw blurRad="101600" dist="38100" dir="8100000" algn="bl" rotWithShape="0">
              <a:srgbClr val="000000">
                <a:alpha val="25000"/>
              </a:srgbClr>
            </a:outerShdw>
          </a:effectLst>
        </p:spPr>
        <p:txBody>
          <a:bodyPr/>
          <a:lstStyle/>
          <a:p>
            <a:endParaRPr lang="en-IN"/>
          </a:p>
        </p:txBody>
      </p:sp>
      <p:sp>
        <p:nvSpPr>
          <p:cNvPr id="11" name="Shape 9"/>
          <p:cNvSpPr/>
          <p:nvPr/>
        </p:nvSpPr>
        <p:spPr>
          <a:xfrm>
            <a:off x="365760" y="1207008"/>
            <a:ext cx="2011680" cy="54864"/>
          </a:xfrm>
          <a:prstGeom prst="rect">
            <a:avLst/>
          </a:prstGeom>
          <a:solidFill>
            <a:srgbClr val="C9A84C"/>
          </a:solidFill>
          <a:ln w="12700">
            <a:solidFill>
              <a:srgbClr val="C9A84C"/>
            </a:solidFill>
            <a:prstDash val="solid"/>
          </a:ln>
        </p:spPr>
        <p:txBody>
          <a:bodyPr/>
          <a:lstStyle/>
          <a:p>
            <a:endParaRPr lang="en-IN"/>
          </a:p>
        </p:txBody>
      </p:sp>
      <p:sp>
        <p:nvSpPr>
          <p:cNvPr id="12" name="Shape 10"/>
          <p:cNvSpPr/>
          <p:nvPr/>
        </p:nvSpPr>
        <p:spPr>
          <a:xfrm>
            <a:off x="475488" y="1353312"/>
            <a:ext cx="347472" cy="347472"/>
          </a:xfrm>
          <a:prstGeom prst="rect">
            <a:avLst/>
          </a:prstGeom>
          <a:solidFill>
            <a:srgbClr val="C9A84C"/>
          </a:solidFill>
          <a:ln w="12700">
            <a:solidFill>
              <a:srgbClr val="C9A84C"/>
            </a:solidFill>
            <a:prstDash val="solid"/>
          </a:ln>
        </p:spPr>
        <p:txBody>
          <a:bodyPr/>
          <a:lstStyle/>
          <a:p>
            <a:endParaRPr lang="en-IN"/>
          </a:p>
        </p:txBody>
      </p:sp>
      <p:sp>
        <p:nvSpPr>
          <p:cNvPr id="13" name="Text 11"/>
          <p:cNvSpPr/>
          <p:nvPr/>
        </p:nvSpPr>
        <p:spPr>
          <a:xfrm>
            <a:off x="475488" y="1353312"/>
            <a:ext cx="347472" cy="347472"/>
          </a:xfrm>
          <a:prstGeom prst="rect">
            <a:avLst/>
          </a:prstGeom>
          <a:noFill/>
          <a:ln/>
        </p:spPr>
        <p:txBody>
          <a:bodyPr wrap="square" lIns="0" tIns="0" rIns="0" bIns="0" rtlCol="0" anchor="ctr"/>
          <a:lstStyle/>
          <a:p>
            <a:pPr marL="0" indent="0" algn="ctr">
              <a:buNone/>
            </a:pPr>
            <a:r>
              <a:rPr lang="en-US" sz="1400" b="1" dirty="0">
                <a:solidFill>
                  <a:srgbClr val="0D0D0D"/>
                </a:solidFill>
              </a:rPr>
              <a:t>1</a:t>
            </a:r>
            <a:endParaRPr lang="en-US" sz="1400" dirty="0"/>
          </a:p>
        </p:txBody>
      </p:sp>
      <p:sp>
        <p:nvSpPr>
          <p:cNvPr id="14" name="Text 12"/>
          <p:cNvSpPr/>
          <p:nvPr/>
        </p:nvSpPr>
        <p:spPr>
          <a:xfrm>
            <a:off x="914400" y="1371600"/>
            <a:ext cx="1371600" cy="320040"/>
          </a:xfrm>
          <a:prstGeom prst="rect">
            <a:avLst/>
          </a:prstGeom>
          <a:noFill/>
          <a:ln/>
        </p:spPr>
        <p:txBody>
          <a:bodyPr wrap="square" lIns="0" tIns="0" rIns="0" bIns="0" rtlCol="0" anchor="ctr"/>
          <a:lstStyle/>
          <a:p>
            <a:pPr marL="0" indent="0">
              <a:lnSpc>
                <a:spcPct val="110000"/>
              </a:lnSpc>
              <a:buNone/>
            </a:pPr>
            <a:r>
              <a:rPr lang="en-US" sz="950" b="1" dirty="0">
                <a:solidFill>
                  <a:srgbClr val="F5F0E8"/>
                </a:solidFill>
              </a:rPr>
              <a:t>Data Import</a:t>
            </a:r>
            <a:endParaRPr lang="en-US" sz="950" dirty="0"/>
          </a:p>
        </p:txBody>
      </p:sp>
      <p:sp>
        <p:nvSpPr>
          <p:cNvPr id="15" name="Text 13"/>
          <p:cNvSpPr/>
          <p:nvPr/>
        </p:nvSpPr>
        <p:spPr>
          <a:xfrm>
            <a:off x="475488" y="1801368"/>
            <a:ext cx="1792224" cy="914400"/>
          </a:xfrm>
          <a:prstGeom prst="rect">
            <a:avLst/>
          </a:prstGeom>
          <a:noFill/>
          <a:ln/>
        </p:spPr>
        <p:txBody>
          <a:bodyPr wrap="square" lIns="0" tIns="0" rIns="0" bIns="0" rtlCol="0" anchor="ctr"/>
          <a:lstStyle/>
          <a:p>
            <a:pPr marL="0" indent="0">
              <a:lnSpc>
                <a:spcPct val="140000"/>
              </a:lnSpc>
              <a:buNone/>
            </a:pPr>
            <a:r>
              <a:rPr lang="en-US" sz="1100" dirty="0">
                <a:solidFill>
                  <a:srgbClr val="8B8FA8"/>
                </a:solidFill>
              </a:rPr>
              <a:t>Loaded all 7 Excel sheets via Power Query from a single .xlsx workbook. Each table imported as a separate query.</a:t>
            </a:r>
            <a:endParaRPr lang="en-US" sz="1100" dirty="0"/>
          </a:p>
        </p:txBody>
      </p:sp>
      <p:sp>
        <p:nvSpPr>
          <p:cNvPr id="16" name="Shape 14"/>
          <p:cNvSpPr/>
          <p:nvPr/>
        </p:nvSpPr>
        <p:spPr>
          <a:xfrm>
            <a:off x="2606040" y="1207008"/>
            <a:ext cx="2011680" cy="1600200"/>
          </a:xfrm>
          <a:prstGeom prst="rect">
            <a:avLst/>
          </a:prstGeom>
          <a:solidFill>
            <a:srgbClr val="1A1F2E"/>
          </a:solidFill>
          <a:ln w="12700">
            <a:solidFill>
              <a:srgbClr val="2A2F40"/>
            </a:solidFill>
            <a:prstDash val="solid"/>
          </a:ln>
          <a:effectLst>
            <a:outerShdw blurRad="101600" dist="38100" dir="8100000" algn="bl" rotWithShape="0">
              <a:srgbClr val="000000">
                <a:alpha val="25000"/>
              </a:srgbClr>
            </a:outerShdw>
          </a:effectLst>
        </p:spPr>
        <p:txBody>
          <a:bodyPr/>
          <a:lstStyle/>
          <a:p>
            <a:endParaRPr lang="en-IN"/>
          </a:p>
        </p:txBody>
      </p:sp>
      <p:sp>
        <p:nvSpPr>
          <p:cNvPr id="17" name="Shape 15"/>
          <p:cNvSpPr/>
          <p:nvPr/>
        </p:nvSpPr>
        <p:spPr>
          <a:xfrm>
            <a:off x="2606040" y="1207008"/>
            <a:ext cx="2011680" cy="54864"/>
          </a:xfrm>
          <a:prstGeom prst="rect">
            <a:avLst/>
          </a:prstGeom>
          <a:solidFill>
            <a:srgbClr val="7F77DD"/>
          </a:solidFill>
          <a:ln w="12700">
            <a:solidFill>
              <a:srgbClr val="7F77DD"/>
            </a:solidFill>
            <a:prstDash val="solid"/>
          </a:ln>
        </p:spPr>
        <p:txBody>
          <a:bodyPr/>
          <a:lstStyle/>
          <a:p>
            <a:endParaRPr lang="en-IN"/>
          </a:p>
        </p:txBody>
      </p:sp>
      <p:sp>
        <p:nvSpPr>
          <p:cNvPr id="18" name="Shape 16"/>
          <p:cNvSpPr/>
          <p:nvPr/>
        </p:nvSpPr>
        <p:spPr>
          <a:xfrm>
            <a:off x="2715768" y="1353312"/>
            <a:ext cx="347472" cy="347472"/>
          </a:xfrm>
          <a:prstGeom prst="rect">
            <a:avLst/>
          </a:prstGeom>
          <a:solidFill>
            <a:srgbClr val="7F77DD"/>
          </a:solidFill>
          <a:ln w="12700">
            <a:solidFill>
              <a:srgbClr val="7F77DD"/>
            </a:solidFill>
            <a:prstDash val="solid"/>
          </a:ln>
        </p:spPr>
        <p:txBody>
          <a:bodyPr/>
          <a:lstStyle/>
          <a:p>
            <a:endParaRPr lang="en-IN"/>
          </a:p>
        </p:txBody>
      </p:sp>
      <p:sp>
        <p:nvSpPr>
          <p:cNvPr id="19" name="Text 17"/>
          <p:cNvSpPr/>
          <p:nvPr/>
        </p:nvSpPr>
        <p:spPr>
          <a:xfrm>
            <a:off x="2715768" y="1353312"/>
            <a:ext cx="347472" cy="347472"/>
          </a:xfrm>
          <a:prstGeom prst="rect">
            <a:avLst/>
          </a:prstGeom>
          <a:noFill/>
          <a:ln/>
        </p:spPr>
        <p:txBody>
          <a:bodyPr wrap="square" lIns="0" tIns="0" rIns="0" bIns="0" rtlCol="0" anchor="ctr"/>
          <a:lstStyle/>
          <a:p>
            <a:pPr marL="0" indent="0" algn="ctr">
              <a:buNone/>
            </a:pPr>
            <a:r>
              <a:rPr lang="en-US" sz="1400" b="1" dirty="0">
                <a:solidFill>
                  <a:srgbClr val="0D0D0D"/>
                </a:solidFill>
              </a:rPr>
              <a:t>2</a:t>
            </a:r>
            <a:endParaRPr lang="en-US" sz="1400" dirty="0"/>
          </a:p>
        </p:txBody>
      </p:sp>
      <p:sp>
        <p:nvSpPr>
          <p:cNvPr id="20" name="Text 18"/>
          <p:cNvSpPr/>
          <p:nvPr/>
        </p:nvSpPr>
        <p:spPr>
          <a:xfrm>
            <a:off x="3154680" y="1371600"/>
            <a:ext cx="1371600" cy="320040"/>
          </a:xfrm>
          <a:prstGeom prst="rect">
            <a:avLst/>
          </a:prstGeom>
          <a:noFill/>
          <a:ln/>
        </p:spPr>
        <p:txBody>
          <a:bodyPr wrap="square" lIns="0" tIns="0" rIns="0" bIns="0" rtlCol="0" anchor="ctr"/>
          <a:lstStyle/>
          <a:p>
            <a:pPr marL="0" indent="0">
              <a:lnSpc>
                <a:spcPct val="110000"/>
              </a:lnSpc>
              <a:buNone/>
            </a:pPr>
            <a:r>
              <a:rPr lang="en-US" sz="950" b="1" dirty="0">
                <a:solidFill>
                  <a:srgbClr val="F5F0E8"/>
                </a:solidFill>
              </a:rPr>
              <a:t>Type Validation</a:t>
            </a:r>
            <a:endParaRPr lang="en-US" sz="950" dirty="0"/>
          </a:p>
        </p:txBody>
      </p:sp>
      <p:sp>
        <p:nvSpPr>
          <p:cNvPr id="21" name="Text 19"/>
          <p:cNvSpPr/>
          <p:nvPr/>
        </p:nvSpPr>
        <p:spPr>
          <a:xfrm>
            <a:off x="2715768" y="1801368"/>
            <a:ext cx="1792224" cy="914400"/>
          </a:xfrm>
          <a:prstGeom prst="rect">
            <a:avLst/>
          </a:prstGeom>
          <a:noFill/>
          <a:ln/>
        </p:spPr>
        <p:txBody>
          <a:bodyPr wrap="square" lIns="0" tIns="0" rIns="0" bIns="0" rtlCol="0" anchor="ctr"/>
          <a:lstStyle/>
          <a:p>
            <a:pPr marL="0" indent="0">
              <a:lnSpc>
                <a:spcPct val="140000"/>
              </a:lnSpc>
              <a:buNone/>
            </a:pPr>
            <a:r>
              <a:rPr lang="en-US" sz="1100" dirty="0">
                <a:solidFill>
                  <a:srgbClr val="8B8FA8"/>
                </a:solidFill>
              </a:rPr>
              <a:t>Enforced correct data types — OrderDate as Date, UnitPrice as Decimal, Qty as Integer, ReturnFlag as Text.</a:t>
            </a:r>
            <a:endParaRPr lang="en-US" sz="1100" dirty="0"/>
          </a:p>
        </p:txBody>
      </p:sp>
      <p:sp>
        <p:nvSpPr>
          <p:cNvPr id="22" name="Shape 20"/>
          <p:cNvSpPr/>
          <p:nvPr/>
        </p:nvSpPr>
        <p:spPr>
          <a:xfrm>
            <a:off x="4846320" y="1207008"/>
            <a:ext cx="2011680" cy="1600200"/>
          </a:xfrm>
          <a:prstGeom prst="rect">
            <a:avLst/>
          </a:prstGeom>
          <a:solidFill>
            <a:srgbClr val="1A1F2E"/>
          </a:solidFill>
          <a:ln w="12700">
            <a:solidFill>
              <a:srgbClr val="2A2F40"/>
            </a:solidFill>
            <a:prstDash val="solid"/>
          </a:ln>
          <a:effectLst>
            <a:outerShdw blurRad="101600" dist="38100" dir="8100000" algn="bl" rotWithShape="0">
              <a:srgbClr val="000000">
                <a:alpha val="25000"/>
              </a:srgbClr>
            </a:outerShdw>
          </a:effectLst>
        </p:spPr>
        <p:txBody>
          <a:bodyPr/>
          <a:lstStyle/>
          <a:p>
            <a:endParaRPr lang="en-IN"/>
          </a:p>
        </p:txBody>
      </p:sp>
      <p:sp>
        <p:nvSpPr>
          <p:cNvPr id="23" name="Shape 21"/>
          <p:cNvSpPr/>
          <p:nvPr/>
        </p:nvSpPr>
        <p:spPr>
          <a:xfrm>
            <a:off x="4846320" y="1207008"/>
            <a:ext cx="2011680" cy="54864"/>
          </a:xfrm>
          <a:prstGeom prst="rect">
            <a:avLst/>
          </a:prstGeom>
          <a:solidFill>
            <a:srgbClr val="1D9E75"/>
          </a:solidFill>
          <a:ln w="12700">
            <a:solidFill>
              <a:srgbClr val="1D9E75"/>
            </a:solidFill>
            <a:prstDash val="solid"/>
          </a:ln>
        </p:spPr>
        <p:txBody>
          <a:bodyPr/>
          <a:lstStyle/>
          <a:p>
            <a:endParaRPr lang="en-IN"/>
          </a:p>
        </p:txBody>
      </p:sp>
      <p:sp>
        <p:nvSpPr>
          <p:cNvPr id="24" name="Shape 22"/>
          <p:cNvSpPr/>
          <p:nvPr/>
        </p:nvSpPr>
        <p:spPr>
          <a:xfrm>
            <a:off x="4956048" y="1353312"/>
            <a:ext cx="347472" cy="347472"/>
          </a:xfrm>
          <a:prstGeom prst="rect">
            <a:avLst/>
          </a:prstGeom>
          <a:solidFill>
            <a:srgbClr val="1D9E75"/>
          </a:solidFill>
          <a:ln w="12700">
            <a:solidFill>
              <a:srgbClr val="1D9E75"/>
            </a:solidFill>
            <a:prstDash val="solid"/>
          </a:ln>
        </p:spPr>
        <p:txBody>
          <a:bodyPr/>
          <a:lstStyle/>
          <a:p>
            <a:endParaRPr lang="en-IN"/>
          </a:p>
        </p:txBody>
      </p:sp>
      <p:sp>
        <p:nvSpPr>
          <p:cNvPr id="25" name="Text 23"/>
          <p:cNvSpPr/>
          <p:nvPr/>
        </p:nvSpPr>
        <p:spPr>
          <a:xfrm>
            <a:off x="4956048" y="1353312"/>
            <a:ext cx="347472" cy="347472"/>
          </a:xfrm>
          <a:prstGeom prst="rect">
            <a:avLst/>
          </a:prstGeom>
          <a:noFill/>
          <a:ln/>
        </p:spPr>
        <p:txBody>
          <a:bodyPr wrap="square" lIns="0" tIns="0" rIns="0" bIns="0" rtlCol="0" anchor="ctr"/>
          <a:lstStyle/>
          <a:p>
            <a:pPr marL="0" indent="0" algn="ctr">
              <a:buNone/>
            </a:pPr>
            <a:r>
              <a:rPr lang="en-US" sz="1400" b="1" dirty="0">
                <a:solidFill>
                  <a:srgbClr val="0D0D0D"/>
                </a:solidFill>
              </a:rPr>
              <a:t>3</a:t>
            </a:r>
            <a:endParaRPr lang="en-US" sz="1400" dirty="0"/>
          </a:p>
        </p:txBody>
      </p:sp>
      <p:sp>
        <p:nvSpPr>
          <p:cNvPr id="26" name="Text 24"/>
          <p:cNvSpPr/>
          <p:nvPr/>
        </p:nvSpPr>
        <p:spPr>
          <a:xfrm>
            <a:off x="5394960" y="1371600"/>
            <a:ext cx="1371600" cy="320040"/>
          </a:xfrm>
          <a:prstGeom prst="rect">
            <a:avLst/>
          </a:prstGeom>
          <a:noFill/>
          <a:ln/>
        </p:spPr>
        <p:txBody>
          <a:bodyPr wrap="square" lIns="0" tIns="0" rIns="0" bIns="0" rtlCol="0" anchor="ctr"/>
          <a:lstStyle/>
          <a:p>
            <a:pPr marL="0" indent="0">
              <a:lnSpc>
                <a:spcPct val="110000"/>
              </a:lnSpc>
              <a:buNone/>
            </a:pPr>
            <a:r>
              <a:rPr lang="en-US" sz="950" b="1" dirty="0">
                <a:solidFill>
                  <a:srgbClr val="F5F0E8"/>
                </a:solidFill>
              </a:rPr>
              <a:t>Null Handling</a:t>
            </a:r>
            <a:endParaRPr lang="en-US" sz="950" dirty="0"/>
          </a:p>
        </p:txBody>
      </p:sp>
      <p:sp>
        <p:nvSpPr>
          <p:cNvPr id="27" name="Text 25"/>
          <p:cNvSpPr/>
          <p:nvPr/>
        </p:nvSpPr>
        <p:spPr>
          <a:xfrm>
            <a:off x="4956048" y="1801368"/>
            <a:ext cx="1792224" cy="914400"/>
          </a:xfrm>
          <a:prstGeom prst="rect">
            <a:avLst/>
          </a:prstGeom>
          <a:noFill/>
          <a:ln/>
        </p:spPr>
        <p:txBody>
          <a:bodyPr wrap="square" lIns="0" tIns="0" rIns="0" bIns="0" rtlCol="0" anchor="ctr"/>
          <a:lstStyle/>
          <a:p>
            <a:pPr marL="0" indent="0">
              <a:lnSpc>
                <a:spcPct val="140000"/>
              </a:lnSpc>
              <a:buNone/>
            </a:pPr>
            <a:r>
              <a:rPr lang="en-US" sz="1100" dirty="0">
                <a:solidFill>
                  <a:srgbClr val="8B8FA8"/>
                </a:solidFill>
              </a:rPr>
              <a:t>Removed rows with blank OrderID or ClientID. Replaced null UnitPrice with category-average RRP reference.</a:t>
            </a:r>
            <a:endParaRPr lang="en-US" sz="1100" dirty="0"/>
          </a:p>
        </p:txBody>
      </p:sp>
      <p:sp>
        <p:nvSpPr>
          <p:cNvPr id="28" name="Shape 26"/>
          <p:cNvSpPr/>
          <p:nvPr/>
        </p:nvSpPr>
        <p:spPr>
          <a:xfrm>
            <a:off x="7086600" y="1207008"/>
            <a:ext cx="2011680" cy="1600200"/>
          </a:xfrm>
          <a:prstGeom prst="rect">
            <a:avLst/>
          </a:prstGeom>
          <a:solidFill>
            <a:srgbClr val="1A1F2E"/>
          </a:solidFill>
          <a:ln w="12700">
            <a:solidFill>
              <a:srgbClr val="2A2F40"/>
            </a:solidFill>
            <a:prstDash val="solid"/>
          </a:ln>
          <a:effectLst>
            <a:outerShdw blurRad="101600" dist="38100" dir="8100000" algn="bl" rotWithShape="0">
              <a:srgbClr val="000000">
                <a:alpha val="25000"/>
              </a:srgbClr>
            </a:outerShdw>
          </a:effectLst>
        </p:spPr>
        <p:txBody>
          <a:bodyPr/>
          <a:lstStyle/>
          <a:p>
            <a:endParaRPr lang="en-IN"/>
          </a:p>
        </p:txBody>
      </p:sp>
      <p:sp>
        <p:nvSpPr>
          <p:cNvPr id="29" name="Shape 27"/>
          <p:cNvSpPr/>
          <p:nvPr/>
        </p:nvSpPr>
        <p:spPr>
          <a:xfrm>
            <a:off x="7086600" y="1207008"/>
            <a:ext cx="2011680" cy="54864"/>
          </a:xfrm>
          <a:prstGeom prst="rect">
            <a:avLst/>
          </a:prstGeom>
          <a:solidFill>
            <a:srgbClr val="D4537E"/>
          </a:solidFill>
          <a:ln w="12700">
            <a:solidFill>
              <a:srgbClr val="D4537E"/>
            </a:solidFill>
            <a:prstDash val="solid"/>
          </a:ln>
        </p:spPr>
        <p:txBody>
          <a:bodyPr/>
          <a:lstStyle/>
          <a:p>
            <a:endParaRPr lang="en-IN"/>
          </a:p>
        </p:txBody>
      </p:sp>
      <p:sp>
        <p:nvSpPr>
          <p:cNvPr id="30" name="Shape 28"/>
          <p:cNvSpPr/>
          <p:nvPr/>
        </p:nvSpPr>
        <p:spPr>
          <a:xfrm>
            <a:off x="7196328" y="1353312"/>
            <a:ext cx="347472" cy="347472"/>
          </a:xfrm>
          <a:prstGeom prst="rect">
            <a:avLst/>
          </a:prstGeom>
          <a:solidFill>
            <a:srgbClr val="D4537E"/>
          </a:solidFill>
          <a:ln w="12700">
            <a:solidFill>
              <a:srgbClr val="D4537E"/>
            </a:solidFill>
            <a:prstDash val="solid"/>
          </a:ln>
        </p:spPr>
        <p:txBody>
          <a:bodyPr/>
          <a:lstStyle/>
          <a:p>
            <a:endParaRPr lang="en-IN"/>
          </a:p>
        </p:txBody>
      </p:sp>
      <p:sp>
        <p:nvSpPr>
          <p:cNvPr id="31" name="Text 29"/>
          <p:cNvSpPr/>
          <p:nvPr/>
        </p:nvSpPr>
        <p:spPr>
          <a:xfrm>
            <a:off x="7196328" y="1353312"/>
            <a:ext cx="347472" cy="347472"/>
          </a:xfrm>
          <a:prstGeom prst="rect">
            <a:avLst/>
          </a:prstGeom>
          <a:noFill/>
          <a:ln/>
        </p:spPr>
        <p:txBody>
          <a:bodyPr wrap="square" lIns="0" tIns="0" rIns="0" bIns="0" rtlCol="0" anchor="ctr"/>
          <a:lstStyle/>
          <a:p>
            <a:pPr marL="0" indent="0" algn="ctr">
              <a:buNone/>
            </a:pPr>
            <a:r>
              <a:rPr lang="en-US" sz="1400" b="1" dirty="0">
                <a:solidFill>
                  <a:srgbClr val="0D0D0D"/>
                </a:solidFill>
              </a:rPr>
              <a:t>4</a:t>
            </a:r>
            <a:endParaRPr lang="en-US" sz="1400" dirty="0"/>
          </a:p>
        </p:txBody>
      </p:sp>
      <p:sp>
        <p:nvSpPr>
          <p:cNvPr id="32" name="Text 30"/>
          <p:cNvSpPr/>
          <p:nvPr/>
        </p:nvSpPr>
        <p:spPr>
          <a:xfrm>
            <a:off x="7635240" y="1371600"/>
            <a:ext cx="1371600" cy="320040"/>
          </a:xfrm>
          <a:prstGeom prst="rect">
            <a:avLst/>
          </a:prstGeom>
          <a:noFill/>
          <a:ln/>
        </p:spPr>
        <p:txBody>
          <a:bodyPr wrap="square" lIns="0" tIns="0" rIns="0" bIns="0" rtlCol="0" anchor="ctr"/>
          <a:lstStyle/>
          <a:p>
            <a:pPr marL="0" indent="0">
              <a:lnSpc>
                <a:spcPct val="110000"/>
              </a:lnSpc>
              <a:buNone/>
            </a:pPr>
            <a:r>
              <a:rPr lang="en-US" sz="950" b="1" dirty="0">
                <a:solidFill>
                  <a:srgbClr val="F5F0E8"/>
                </a:solidFill>
              </a:rPr>
              <a:t>Calculated Columns</a:t>
            </a:r>
            <a:endParaRPr lang="en-US" sz="950" dirty="0"/>
          </a:p>
        </p:txBody>
      </p:sp>
      <p:sp>
        <p:nvSpPr>
          <p:cNvPr id="33" name="Text 31"/>
          <p:cNvSpPr/>
          <p:nvPr/>
        </p:nvSpPr>
        <p:spPr>
          <a:xfrm>
            <a:off x="7196328" y="1801368"/>
            <a:ext cx="1792224" cy="914400"/>
          </a:xfrm>
          <a:prstGeom prst="rect">
            <a:avLst/>
          </a:prstGeom>
          <a:noFill/>
          <a:ln/>
        </p:spPr>
        <p:txBody>
          <a:bodyPr wrap="square" lIns="0" tIns="0" rIns="0" bIns="0" rtlCol="0" anchor="ctr"/>
          <a:lstStyle/>
          <a:p>
            <a:pPr marL="0" indent="0">
              <a:lnSpc>
                <a:spcPct val="140000"/>
              </a:lnSpc>
              <a:buNone/>
            </a:pPr>
            <a:r>
              <a:rPr lang="en-US" sz="1100" dirty="0">
                <a:solidFill>
                  <a:srgbClr val="8B8FA8"/>
                </a:solidFill>
              </a:rPr>
              <a:t>Added Season (SS/FW from month), ClientTier thresholds, IsRepeatCustomer flag, and DaysSinceLastPurchase.</a:t>
            </a:r>
            <a:endParaRPr lang="en-US" sz="1100" dirty="0"/>
          </a:p>
        </p:txBody>
      </p:sp>
      <p:sp>
        <p:nvSpPr>
          <p:cNvPr id="34" name="Shape 32"/>
          <p:cNvSpPr/>
          <p:nvPr/>
        </p:nvSpPr>
        <p:spPr>
          <a:xfrm>
            <a:off x="365760" y="3090672"/>
            <a:ext cx="2011680" cy="1673352"/>
          </a:xfrm>
          <a:prstGeom prst="rect">
            <a:avLst/>
          </a:prstGeom>
          <a:solidFill>
            <a:srgbClr val="1A1F2E"/>
          </a:solidFill>
          <a:ln w="12700">
            <a:solidFill>
              <a:srgbClr val="2A2F40"/>
            </a:solidFill>
            <a:prstDash val="solid"/>
          </a:ln>
          <a:effectLst>
            <a:outerShdw blurRad="101600" dist="38100" dir="8100000" algn="bl" rotWithShape="0">
              <a:srgbClr val="000000">
                <a:alpha val="25000"/>
              </a:srgbClr>
            </a:outerShdw>
          </a:effectLst>
        </p:spPr>
        <p:txBody>
          <a:bodyPr/>
          <a:lstStyle/>
          <a:p>
            <a:endParaRPr lang="en-IN"/>
          </a:p>
        </p:txBody>
      </p:sp>
      <p:sp>
        <p:nvSpPr>
          <p:cNvPr id="35" name="Shape 33"/>
          <p:cNvSpPr/>
          <p:nvPr/>
        </p:nvSpPr>
        <p:spPr>
          <a:xfrm>
            <a:off x="365760" y="3090672"/>
            <a:ext cx="2011680" cy="54864"/>
          </a:xfrm>
          <a:prstGeom prst="rect">
            <a:avLst/>
          </a:prstGeom>
          <a:solidFill>
            <a:srgbClr val="C9A84C"/>
          </a:solidFill>
          <a:ln w="12700">
            <a:solidFill>
              <a:srgbClr val="C9A84C"/>
            </a:solidFill>
            <a:prstDash val="solid"/>
          </a:ln>
        </p:spPr>
        <p:txBody>
          <a:bodyPr/>
          <a:lstStyle/>
          <a:p>
            <a:endParaRPr lang="en-IN"/>
          </a:p>
        </p:txBody>
      </p:sp>
      <p:sp>
        <p:nvSpPr>
          <p:cNvPr id="36" name="Shape 34"/>
          <p:cNvSpPr/>
          <p:nvPr/>
        </p:nvSpPr>
        <p:spPr>
          <a:xfrm>
            <a:off x="475488" y="3236976"/>
            <a:ext cx="347472" cy="347472"/>
          </a:xfrm>
          <a:prstGeom prst="rect">
            <a:avLst/>
          </a:prstGeom>
          <a:solidFill>
            <a:srgbClr val="C9A84C"/>
          </a:solidFill>
          <a:ln w="12700">
            <a:solidFill>
              <a:srgbClr val="C9A84C"/>
            </a:solidFill>
            <a:prstDash val="solid"/>
          </a:ln>
        </p:spPr>
        <p:txBody>
          <a:bodyPr/>
          <a:lstStyle/>
          <a:p>
            <a:endParaRPr lang="en-IN"/>
          </a:p>
        </p:txBody>
      </p:sp>
      <p:sp>
        <p:nvSpPr>
          <p:cNvPr id="37" name="Text 35"/>
          <p:cNvSpPr/>
          <p:nvPr/>
        </p:nvSpPr>
        <p:spPr>
          <a:xfrm>
            <a:off x="475488" y="3236976"/>
            <a:ext cx="347472" cy="347472"/>
          </a:xfrm>
          <a:prstGeom prst="rect">
            <a:avLst/>
          </a:prstGeom>
          <a:noFill/>
          <a:ln/>
        </p:spPr>
        <p:txBody>
          <a:bodyPr wrap="square" lIns="0" tIns="0" rIns="0" bIns="0" rtlCol="0" anchor="ctr"/>
          <a:lstStyle/>
          <a:p>
            <a:pPr marL="0" indent="0" algn="ctr">
              <a:buNone/>
            </a:pPr>
            <a:r>
              <a:rPr lang="en-US" sz="1400" b="1" dirty="0">
                <a:solidFill>
                  <a:srgbClr val="0D0D0D"/>
                </a:solidFill>
              </a:rPr>
              <a:t>5</a:t>
            </a:r>
            <a:endParaRPr lang="en-US" sz="1400" dirty="0"/>
          </a:p>
        </p:txBody>
      </p:sp>
      <p:sp>
        <p:nvSpPr>
          <p:cNvPr id="38" name="Text 36"/>
          <p:cNvSpPr/>
          <p:nvPr/>
        </p:nvSpPr>
        <p:spPr>
          <a:xfrm>
            <a:off x="914400" y="3255264"/>
            <a:ext cx="1371600" cy="320040"/>
          </a:xfrm>
          <a:prstGeom prst="rect">
            <a:avLst/>
          </a:prstGeom>
          <a:noFill/>
          <a:ln/>
        </p:spPr>
        <p:txBody>
          <a:bodyPr wrap="square" lIns="0" tIns="0" rIns="0" bIns="0" rtlCol="0" anchor="ctr"/>
          <a:lstStyle/>
          <a:p>
            <a:pPr marL="0" indent="0">
              <a:lnSpc>
                <a:spcPct val="110000"/>
              </a:lnSpc>
              <a:buNone/>
            </a:pPr>
            <a:r>
              <a:rPr lang="en-US" sz="950" b="1" dirty="0">
                <a:solidFill>
                  <a:srgbClr val="F5F0E8"/>
                </a:solidFill>
              </a:rPr>
              <a:t>Renaming &amp; Standards</a:t>
            </a:r>
            <a:endParaRPr lang="en-US" sz="950" dirty="0"/>
          </a:p>
        </p:txBody>
      </p:sp>
      <p:sp>
        <p:nvSpPr>
          <p:cNvPr id="39" name="Text 37"/>
          <p:cNvSpPr/>
          <p:nvPr/>
        </p:nvSpPr>
        <p:spPr>
          <a:xfrm>
            <a:off x="475488" y="3685032"/>
            <a:ext cx="1792224" cy="914400"/>
          </a:xfrm>
          <a:prstGeom prst="rect">
            <a:avLst/>
          </a:prstGeom>
          <a:noFill/>
          <a:ln/>
        </p:spPr>
        <p:txBody>
          <a:bodyPr wrap="square" lIns="0" tIns="0" rIns="0" bIns="0" rtlCol="0" anchor="ctr"/>
          <a:lstStyle/>
          <a:p>
            <a:pPr marL="0" indent="0">
              <a:lnSpc>
                <a:spcPct val="140000"/>
              </a:lnSpc>
              <a:buNone/>
            </a:pPr>
            <a:r>
              <a:rPr lang="en-US" sz="1100" dirty="0">
                <a:solidFill>
                  <a:srgbClr val="8B8FA8"/>
                </a:solidFill>
              </a:rPr>
              <a:t>Standardised all brand names to consistent casing. Normalised channel names — removed duplicates like 'E-com' vs 'E-Commerce'.</a:t>
            </a:r>
            <a:endParaRPr lang="en-US" sz="1100" dirty="0"/>
          </a:p>
        </p:txBody>
      </p:sp>
      <p:sp>
        <p:nvSpPr>
          <p:cNvPr id="40" name="Shape 38"/>
          <p:cNvSpPr/>
          <p:nvPr/>
        </p:nvSpPr>
        <p:spPr>
          <a:xfrm>
            <a:off x="2606040" y="3090672"/>
            <a:ext cx="2011680" cy="1673352"/>
          </a:xfrm>
          <a:prstGeom prst="rect">
            <a:avLst/>
          </a:prstGeom>
          <a:solidFill>
            <a:srgbClr val="1A1F2E"/>
          </a:solidFill>
          <a:ln w="12700">
            <a:solidFill>
              <a:srgbClr val="2A2F40"/>
            </a:solidFill>
            <a:prstDash val="solid"/>
          </a:ln>
          <a:effectLst>
            <a:outerShdw blurRad="101600" dist="38100" dir="8100000" algn="bl" rotWithShape="0">
              <a:srgbClr val="000000">
                <a:alpha val="25000"/>
              </a:srgbClr>
            </a:outerShdw>
          </a:effectLst>
        </p:spPr>
        <p:txBody>
          <a:bodyPr/>
          <a:lstStyle/>
          <a:p>
            <a:endParaRPr lang="en-IN"/>
          </a:p>
        </p:txBody>
      </p:sp>
      <p:sp>
        <p:nvSpPr>
          <p:cNvPr id="41" name="Shape 39"/>
          <p:cNvSpPr/>
          <p:nvPr/>
        </p:nvSpPr>
        <p:spPr>
          <a:xfrm>
            <a:off x="2606040" y="3090672"/>
            <a:ext cx="2011680" cy="54864"/>
          </a:xfrm>
          <a:prstGeom prst="rect">
            <a:avLst/>
          </a:prstGeom>
          <a:solidFill>
            <a:srgbClr val="7F77DD"/>
          </a:solidFill>
          <a:ln w="12700">
            <a:solidFill>
              <a:srgbClr val="7F77DD"/>
            </a:solidFill>
            <a:prstDash val="solid"/>
          </a:ln>
        </p:spPr>
        <p:txBody>
          <a:bodyPr/>
          <a:lstStyle/>
          <a:p>
            <a:endParaRPr lang="en-IN"/>
          </a:p>
        </p:txBody>
      </p:sp>
      <p:sp>
        <p:nvSpPr>
          <p:cNvPr id="42" name="Shape 40"/>
          <p:cNvSpPr/>
          <p:nvPr/>
        </p:nvSpPr>
        <p:spPr>
          <a:xfrm>
            <a:off x="2715768" y="3236976"/>
            <a:ext cx="347472" cy="347472"/>
          </a:xfrm>
          <a:prstGeom prst="rect">
            <a:avLst/>
          </a:prstGeom>
          <a:solidFill>
            <a:srgbClr val="7F77DD"/>
          </a:solidFill>
          <a:ln w="12700">
            <a:solidFill>
              <a:srgbClr val="7F77DD"/>
            </a:solidFill>
            <a:prstDash val="solid"/>
          </a:ln>
        </p:spPr>
        <p:txBody>
          <a:bodyPr/>
          <a:lstStyle/>
          <a:p>
            <a:endParaRPr lang="en-IN"/>
          </a:p>
        </p:txBody>
      </p:sp>
      <p:sp>
        <p:nvSpPr>
          <p:cNvPr id="43" name="Text 41"/>
          <p:cNvSpPr/>
          <p:nvPr/>
        </p:nvSpPr>
        <p:spPr>
          <a:xfrm>
            <a:off x="2715768" y="3236976"/>
            <a:ext cx="347472" cy="347472"/>
          </a:xfrm>
          <a:prstGeom prst="rect">
            <a:avLst/>
          </a:prstGeom>
          <a:noFill/>
          <a:ln/>
        </p:spPr>
        <p:txBody>
          <a:bodyPr wrap="square" lIns="0" tIns="0" rIns="0" bIns="0" rtlCol="0" anchor="ctr"/>
          <a:lstStyle/>
          <a:p>
            <a:pPr marL="0" indent="0" algn="ctr">
              <a:buNone/>
            </a:pPr>
            <a:r>
              <a:rPr lang="en-US" sz="1400" b="1" dirty="0">
                <a:solidFill>
                  <a:srgbClr val="0D0D0D"/>
                </a:solidFill>
              </a:rPr>
              <a:t>6</a:t>
            </a:r>
            <a:endParaRPr lang="en-US" sz="1400" dirty="0"/>
          </a:p>
        </p:txBody>
      </p:sp>
      <p:sp>
        <p:nvSpPr>
          <p:cNvPr id="44" name="Text 42"/>
          <p:cNvSpPr/>
          <p:nvPr/>
        </p:nvSpPr>
        <p:spPr>
          <a:xfrm>
            <a:off x="3154680" y="3255264"/>
            <a:ext cx="1371600" cy="320040"/>
          </a:xfrm>
          <a:prstGeom prst="rect">
            <a:avLst/>
          </a:prstGeom>
          <a:noFill/>
          <a:ln/>
        </p:spPr>
        <p:txBody>
          <a:bodyPr wrap="square" lIns="0" tIns="0" rIns="0" bIns="0" rtlCol="0" anchor="ctr"/>
          <a:lstStyle/>
          <a:p>
            <a:pPr marL="0" indent="0">
              <a:lnSpc>
                <a:spcPct val="110000"/>
              </a:lnSpc>
              <a:buNone/>
            </a:pPr>
            <a:r>
              <a:rPr lang="en-US" sz="950" b="1" dirty="0">
                <a:solidFill>
                  <a:srgbClr val="F5F0E8"/>
                </a:solidFill>
              </a:rPr>
              <a:t>Data Profiling</a:t>
            </a:r>
            <a:endParaRPr lang="en-US" sz="950" dirty="0"/>
          </a:p>
        </p:txBody>
      </p:sp>
      <p:sp>
        <p:nvSpPr>
          <p:cNvPr id="45" name="Text 43"/>
          <p:cNvSpPr/>
          <p:nvPr/>
        </p:nvSpPr>
        <p:spPr>
          <a:xfrm>
            <a:off x="2715768" y="3685032"/>
            <a:ext cx="1792224" cy="914400"/>
          </a:xfrm>
          <a:prstGeom prst="rect">
            <a:avLst/>
          </a:prstGeom>
          <a:noFill/>
          <a:ln/>
        </p:spPr>
        <p:txBody>
          <a:bodyPr wrap="square" lIns="0" tIns="0" rIns="0" bIns="0" rtlCol="0" anchor="ctr"/>
          <a:lstStyle/>
          <a:p>
            <a:pPr marL="0" indent="0">
              <a:lnSpc>
                <a:spcPct val="140000"/>
              </a:lnSpc>
              <a:buNone/>
            </a:pPr>
            <a:r>
              <a:rPr lang="en-US" sz="1100" dirty="0">
                <a:solidFill>
                  <a:srgbClr val="8B8FA8"/>
                </a:solidFill>
              </a:rPr>
              <a:t>Validated column quality — checked distribution, null %, and distinct counts for all 14 FactOrders columns.</a:t>
            </a:r>
            <a:endParaRPr lang="en-US" sz="1100" dirty="0"/>
          </a:p>
        </p:txBody>
      </p:sp>
      <p:sp>
        <p:nvSpPr>
          <p:cNvPr id="46" name="Shape 44"/>
          <p:cNvSpPr/>
          <p:nvPr/>
        </p:nvSpPr>
        <p:spPr>
          <a:xfrm>
            <a:off x="4846320" y="3090672"/>
            <a:ext cx="2011680" cy="1645920"/>
          </a:xfrm>
          <a:prstGeom prst="rect">
            <a:avLst/>
          </a:prstGeom>
          <a:solidFill>
            <a:srgbClr val="1A1F2E"/>
          </a:solidFill>
          <a:ln w="12700">
            <a:solidFill>
              <a:srgbClr val="2A2F40"/>
            </a:solidFill>
            <a:prstDash val="solid"/>
          </a:ln>
          <a:effectLst>
            <a:outerShdw blurRad="101600" dist="38100" dir="8100000" algn="bl" rotWithShape="0">
              <a:srgbClr val="000000">
                <a:alpha val="25000"/>
              </a:srgbClr>
            </a:outerShdw>
          </a:effectLst>
        </p:spPr>
        <p:txBody>
          <a:bodyPr/>
          <a:lstStyle/>
          <a:p>
            <a:endParaRPr lang="en-IN"/>
          </a:p>
        </p:txBody>
      </p:sp>
      <p:sp>
        <p:nvSpPr>
          <p:cNvPr id="47" name="Shape 45"/>
          <p:cNvSpPr/>
          <p:nvPr/>
        </p:nvSpPr>
        <p:spPr>
          <a:xfrm>
            <a:off x="4846320" y="3090672"/>
            <a:ext cx="2011680" cy="54864"/>
          </a:xfrm>
          <a:prstGeom prst="rect">
            <a:avLst/>
          </a:prstGeom>
          <a:solidFill>
            <a:srgbClr val="1D9E75"/>
          </a:solidFill>
          <a:ln w="12700">
            <a:solidFill>
              <a:srgbClr val="1D9E75"/>
            </a:solidFill>
            <a:prstDash val="solid"/>
          </a:ln>
        </p:spPr>
        <p:txBody>
          <a:bodyPr/>
          <a:lstStyle/>
          <a:p>
            <a:endParaRPr lang="en-IN"/>
          </a:p>
        </p:txBody>
      </p:sp>
      <p:sp>
        <p:nvSpPr>
          <p:cNvPr id="48" name="Shape 46"/>
          <p:cNvSpPr/>
          <p:nvPr/>
        </p:nvSpPr>
        <p:spPr>
          <a:xfrm>
            <a:off x="4956048" y="3236976"/>
            <a:ext cx="347472" cy="347472"/>
          </a:xfrm>
          <a:prstGeom prst="rect">
            <a:avLst/>
          </a:prstGeom>
          <a:solidFill>
            <a:srgbClr val="1D9E75"/>
          </a:solidFill>
          <a:ln w="12700">
            <a:solidFill>
              <a:srgbClr val="1D9E75"/>
            </a:solidFill>
            <a:prstDash val="solid"/>
          </a:ln>
        </p:spPr>
        <p:txBody>
          <a:bodyPr/>
          <a:lstStyle/>
          <a:p>
            <a:endParaRPr lang="en-IN"/>
          </a:p>
        </p:txBody>
      </p:sp>
      <p:sp>
        <p:nvSpPr>
          <p:cNvPr id="49" name="Text 47"/>
          <p:cNvSpPr/>
          <p:nvPr/>
        </p:nvSpPr>
        <p:spPr>
          <a:xfrm>
            <a:off x="4956048" y="3236976"/>
            <a:ext cx="347472" cy="347472"/>
          </a:xfrm>
          <a:prstGeom prst="rect">
            <a:avLst/>
          </a:prstGeom>
          <a:noFill/>
          <a:ln/>
        </p:spPr>
        <p:txBody>
          <a:bodyPr wrap="square" lIns="0" tIns="0" rIns="0" bIns="0" rtlCol="0" anchor="ctr"/>
          <a:lstStyle/>
          <a:p>
            <a:pPr marL="0" indent="0" algn="ctr">
              <a:buNone/>
            </a:pPr>
            <a:r>
              <a:rPr lang="en-US" sz="1400" b="1" dirty="0">
                <a:solidFill>
                  <a:srgbClr val="0D0D0D"/>
                </a:solidFill>
              </a:rPr>
              <a:t>7</a:t>
            </a:r>
            <a:endParaRPr lang="en-US" sz="1400" dirty="0"/>
          </a:p>
        </p:txBody>
      </p:sp>
      <p:sp>
        <p:nvSpPr>
          <p:cNvPr id="50" name="Text 48"/>
          <p:cNvSpPr/>
          <p:nvPr/>
        </p:nvSpPr>
        <p:spPr>
          <a:xfrm>
            <a:off x="5394960" y="3255264"/>
            <a:ext cx="1371600" cy="320040"/>
          </a:xfrm>
          <a:prstGeom prst="rect">
            <a:avLst/>
          </a:prstGeom>
          <a:noFill/>
          <a:ln/>
        </p:spPr>
        <p:txBody>
          <a:bodyPr wrap="square" lIns="0" tIns="0" rIns="0" bIns="0" rtlCol="0" anchor="ctr"/>
          <a:lstStyle/>
          <a:p>
            <a:pPr marL="0" indent="0">
              <a:lnSpc>
                <a:spcPct val="110000"/>
              </a:lnSpc>
              <a:buNone/>
            </a:pPr>
            <a:r>
              <a:rPr lang="en-US" sz="950" b="1" dirty="0">
                <a:solidFill>
                  <a:srgbClr val="F5F0E8"/>
                </a:solidFill>
              </a:rPr>
              <a:t>Replace Values</a:t>
            </a:r>
            <a:endParaRPr lang="en-US" sz="950" dirty="0"/>
          </a:p>
        </p:txBody>
      </p:sp>
      <p:sp>
        <p:nvSpPr>
          <p:cNvPr id="51" name="Text 49"/>
          <p:cNvSpPr/>
          <p:nvPr/>
        </p:nvSpPr>
        <p:spPr>
          <a:xfrm>
            <a:off x="4956048" y="3685032"/>
            <a:ext cx="1792224" cy="914400"/>
          </a:xfrm>
          <a:prstGeom prst="rect">
            <a:avLst/>
          </a:prstGeom>
          <a:noFill/>
          <a:ln/>
        </p:spPr>
        <p:txBody>
          <a:bodyPr wrap="square" lIns="0" tIns="0" rIns="0" bIns="0" rtlCol="0" anchor="ctr"/>
          <a:lstStyle/>
          <a:p>
            <a:pPr marL="0" indent="0">
              <a:lnSpc>
                <a:spcPct val="140000"/>
              </a:lnSpc>
              <a:buNone/>
            </a:pPr>
            <a:r>
              <a:rPr lang="en-US" sz="1100" dirty="0">
                <a:solidFill>
                  <a:srgbClr val="8B8FA8"/>
                </a:solidFill>
              </a:rPr>
              <a:t>Normalised inconsistent category entries — 'Bags' → 'Handbags', 'Jewel.' → 'Fine Jewellery' across product table.</a:t>
            </a:r>
            <a:endParaRPr lang="en-US" sz="1100" dirty="0"/>
          </a:p>
        </p:txBody>
      </p:sp>
      <p:sp>
        <p:nvSpPr>
          <p:cNvPr id="52" name="Shape 50"/>
          <p:cNvSpPr/>
          <p:nvPr/>
        </p:nvSpPr>
        <p:spPr>
          <a:xfrm>
            <a:off x="7086600" y="3090672"/>
            <a:ext cx="2057400" cy="1673352"/>
          </a:xfrm>
          <a:prstGeom prst="rect">
            <a:avLst/>
          </a:prstGeom>
          <a:solidFill>
            <a:srgbClr val="1A1F2E"/>
          </a:solidFill>
          <a:ln w="12700">
            <a:solidFill>
              <a:srgbClr val="2A2F40"/>
            </a:solidFill>
            <a:prstDash val="solid"/>
          </a:ln>
          <a:effectLst>
            <a:outerShdw blurRad="101600" dist="38100" dir="8100000" algn="bl" rotWithShape="0">
              <a:srgbClr val="000000">
                <a:alpha val="25000"/>
              </a:srgbClr>
            </a:outerShdw>
          </a:effectLst>
        </p:spPr>
        <p:txBody>
          <a:bodyPr/>
          <a:lstStyle/>
          <a:p>
            <a:endParaRPr lang="en-IN"/>
          </a:p>
        </p:txBody>
      </p:sp>
      <p:sp>
        <p:nvSpPr>
          <p:cNvPr id="53" name="Shape 51"/>
          <p:cNvSpPr/>
          <p:nvPr/>
        </p:nvSpPr>
        <p:spPr>
          <a:xfrm>
            <a:off x="7086600" y="3090672"/>
            <a:ext cx="2011680" cy="54864"/>
          </a:xfrm>
          <a:prstGeom prst="rect">
            <a:avLst/>
          </a:prstGeom>
          <a:solidFill>
            <a:srgbClr val="D4537E"/>
          </a:solidFill>
          <a:ln w="12700">
            <a:solidFill>
              <a:srgbClr val="D4537E"/>
            </a:solidFill>
            <a:prstDash val="solid"/>
          </a:ln>
        </p:spPr>
        <p:txBody>
          <a:bodyPr/>
          <a:lstStyle/>
          <a:p>
            <a:endParaRPr lang="en-IN"/>
          </a:p>
        </p:txBody>
      </p:sp>
      <p:sp>
        <p:nvSpPr>
          <p:cNvPr id="54" name="Shape 52"/>
          <p:cNvSpPr/>
          <p:nvPr/>
        </p:nvSpPr>
        <p:spPr>
          <a:xfrm>
            <a:off x="7196328" y="3236976"/>
            <a:ext cx="347472" cy="347472"/>
          </a:xfrm>
          <a:prstGeom prst="rect">
            <a:avLst/>
          </a:prstGeom>
          <a:solidFill>
            <a:srgbClr val="D4537E"/>
          </a:solidFill>
          <a:ln w="12700">
            <a:solidFill>
              <a:srgbClr val="D4537E"/>
            </a:solidFill>
            <a:prstDash val="solid"/>
          </a:ln>
        </p:spPr>
        <p:txBody>
          <a:bodyPr/>
          <a:lstStyle/>
          <a:p>
            <a:endParaRPr lang="en-IN"/>
          </a:p>
        </p:txBody>
      </p:sp>
      <p:sp>
        <p:nvSpPr>
          <p:cNvPr id="55" name="Text 53"/>
          <p:cNvSpPr/>
          <p:nvPr/>
        </p:nvSpPr>
        <p:spPr>
          <a:xfrm>
            <a:off x="7196328" y="3236976"/>
            <a:ext cx="347472" cy="347472"/>
          </a:xfrm>
          <a:prstGeom prst="rect">
            <a:avLst/>
          </a:prstGeom>
          <a:noFill/>
          <a:ln/>
        </p:spPr>
        <p:txBody>
          <a:bodyPr wrap="square" lIns="0" tIns="0" rIns="0" bIns="0" rtlCol="0" anchor="ctr"/>
          <a:lstStyle/>
          <a:p>
            <a:pPr marL="0" indent="0" algn="ctr">
              <a:buNone/>
            </a:pPr>
            <a:r>
              <a:rPr lang="en-US" sz="1400" b="1" dirty="0">
                <a:solidFill>
                  <a:srgbClr val="0D0D0D"/>
                </a:solidFill>
              </a:rPr>
              <a:t>8</a:t>
            </a:r>
            <a:endParaRPr lang="en-US" sz="1400" dirty="0"/>
          </a:p>
        </p:txBody>
      </p:sp>
      <p:sp>
        <p:nvSpPr>
          <p:cNvPr id="56" name="Text 54"/>
          <p:cNvSpPr/>
          <p:nvPr/>
        </p:nvSpPr>
        <p:spPr>
          <a:xfrm>
            <a:off x="7635240" y="3255264"/>
            <a:ext cx="1371600" cy="320040"/>
          </a:xfrm>
          <a:prstGeom prst="rect">
            <a:avLst/>
          </a:prstGeom>
          <a:noFill/>
          <a:ln/>
        </p:spPr>
        <p:txBody>
          <a:bodyPr wrap="square" lIns="0" tIns="0" rIns="0" bIns="0" rtlCol="0" anchor="ctr"/>
          <a:lstStyle/>
          <a:p>
            <a:pPr marL="0" indent="0">
              <a:lnSpc>
                <a:spcPct val="110000"/>
              </a:lnSpc>
              <a:buNone/>
            </a:pPr>
            <a:r>
              <a:rPr lang="en-US" sz="950" b="1" dirty="0">
                <a:solidFill>
                  <a:srgbClr val="F5F0E8"/>
                </a:solidFill>
              </a:rPr>
              <a:t>Snowflake Schema Build</a:t>
            </a:r>
            <a:endParaRPr lang="en-US" sz="950" dirty="0"/>
          </a:p>
        </p:txBody>
      </p:sp>
      <p:sp>
        <p:nvSpPr>
          <p:cNvPr id="57" name="Text 55"/>
          <p:cNvSpPr/>
          <p:nvPr/>
        </p:nvSpPr>
        <p:spPr>
          <a:xfrm>
            <a:off x="7196328" y="3685032"/>
            <a:ext cx="1792224" cy="914400"/>
          </a:xfrm>
          <a:prstGeom prst="rect">
            <a:avLst/>
          </a:prstGeom>
          <a:noFill/>
          <a:ln/>
        </p:spPr>
        <p:txBody>
          <a:bodyPr wrap="square" lIns="0" tIns="0" rIns="0" bIns="0" rtlCol="0" anchor="ctr"/>
          <a:lstStyle/>
          <a:p>
            <a:pPr marL="0" indent="0">
              <a:lnSpc>
                <a:spcPct val="140000"/>
              </a:lnSpc>
              <a:buNone/>
            </a:pPr>
            <a:r>
              <a:rPr lang="en-US" sz="1100" dirty="0">
                <a:solidFill>
                  <a:srgbClr val="8B8FA8"/>
                </a:solidFill>
              </a:rPr>
              <a:t>Structured into FactOrders + 4 Dimension tables. All DAX measures written against this Snowflake schema model.</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9A84C"/>
          </a:solidFill>
          <a:ln w="12700">
            <a:solidFill>
              <a:srgbClr val="C9A84C"/>
            </a:solidFill>
            <a:prstDash val="solid"/>
          </a:ln>
        </p:spPr>
        <p:txBody>
          <a:bodyPr/>
          <a:lstStyle/>
          <a:p>
            <a:endParaRPr lang="en-IN"/>
          </a:p>
        </p:txBody>
      </p:sp>
      <p:sp>
        <p:nvSpPr>
          <p:cNvPr id="3" name="Shape 1"/>
          <p:cNvSpPr/>
          <p:nvPr/>
        </p:nvSpPr>
        <p:spPr>
          <a:xfrm>
            <a:off x="0" y="5074920"/>
            <a:ext cx="9144000" cy="68580"/>
          </a:xfrm>
          <a:prstGeom prst="rect">
            <a:avLst/>
          </a:prstGeom>
          <a:solidFill>
            <a:srgbClr val="1A1F2E"/>
          </a:solidFill>
          <a:ln w="12700">
            <a:solidFill>
              <a:srgbClr val="1A1F2E"/>
            </a:solidFill>
            <a:prstDash val="solid"/>
          </a:ln>
        </p:spPr>
        <p:txBody>
          <a:bodyPr/>
          <a:lstStyle/>
          <a:p>
            <a:endParaRPr lang="en-IN"/>
          </a:p>
        </p:txBody>
      </p:sp>
      <p:sp>
        <p:nvSpPr>
          <p:cNvPr id="4" name="Text 2"/>
          <p:cNvSpPr/>
          <p:nvPr/>
        </p:nvSpPr>
        <p:spPr>
          <a:xfrm>
            <a:off x="274320" y="5074920"/>
            <a:ext cx="6400800" cy="68580"/>
          </a:xfrm>
          <a:prstGeom prst="rect">
            <a:avLst/>
          </a:prstGeom>
          <a:noFill/>
          <a:ln/>
        </p:spPr>
        <p:txBody>
          <a:bodyPr wrap="square" lIns="0" tIns="0" rIns="0" bIns="0" rtlCol="0" anchor="ctr"/>
          <a:lstStyle/>
          <a:p>
            <a:pPr marL="0" indent="0">
              <a:buNone/>
            </a:pPr>
            <a:r>
              <a:rPr lang="en-US" sz="700" dirty="0">
                <a:solidFill>
                  <a:srgbClr val="8B8FA8"/>
                </a:solidFill>
              </a:rPr>
              <a:t> Luxury Fashion Performance Intelligence</a:t>
            </a:r>
            <a:endParaRPr lang="en-US" sz="700" dirty="0"/>
          </a:p>
        </p:txBody>
      </p:sp>
      <p:sp>
        <p:nvSpPr>
          <p:cNvPr id="6" name="Shape 4"/>
          <p:cNvSpPr/>
          <p:nvPr/>
        </p:nvSpPr>
        <p:spPr>
          <a:xfrm>
            <a:off x="365760" y="164592"/>
            <a:ext cx="2194560" cy="201168"/>
          </a:xfrm>
          <a:prstGeom prst="rect">
            <a:avLst/>
          </a:prstGeom>
          <a:solidFill>
            <a:srgbClr val="C9A84C"/>
          </a:solidFill>
          <a:ln w="12700">
            <a:solidFill>
              <a:srgbClr val="C9A84C"/>
            </a:solidFill>
            <a:prstDash val="solid"/>
          </a:ln>
        </p:spPr>
        <p:txBody>
          <a:bodyPr/>
          <a:lstStyle/>
          <a:p>
            <a:endParaRPr lang="en-IN"/>
          </a:p>
        </p:txBody>
      </p:sp>
      <p:sp>
        <p:nvSpPr>
          <p:cNvPr id="7" name="Text 5"/>
          <p:cNvSpPr/>
          <p:nvPr/>
        </p:nvSpPr>
        <p:spPr>
          <a:xfrm>
            <a:off x="365760" y="164592"/>
            <a:ext cx="2194560" cy="201168"/>
          </a:xfrm>
          <a:prstGeom prst="rect">
            <a:avLst/>
          </a:prstGeom>
          <a:noFill/>
          <a:ln/>
        </p:spPr>
        <p:txBody>
          <a:bodyPr wrap="square" lIns="0" tIns="0" rIns="0" bIns="0" rtlCol="0" anchor="ctr"/>
          <a:lstStyle/>
          <a:p>
            <a:pPr marL="0" indent="0" algn="ctr">
              <a:buNone/>
            </a:pPr>
            <a:r>
              <a:rPr lang="en-US" sz="750" b="1" kern="0" spc="200" dirty="0">
                <a:solidFill>
                  <a:srgbClr val="0D0D0D"/>
                </a:solidFill>
              </a:rPr>
              <a:t>06  ·  DATA MODELING</a:t>
            </a:r>
            <a:endParaRPr lang="en-US" sz="750" dirty="0"/>
          </a:p>
        </p:txBody>
      </p:sp>
      <p:sp>
        <p:nvSpPr>
          <p:cNvPr id="8" name="Text 6"/>
          <p:cNvSpPr/>
          <p:nvPr/>
        </p:nvSpPr>
        <p:spPr>
          <a:xfrm>
            <a:off x="365760" y="457200"/>
            <a:ext cx="8229600" cy="457200"/>
          </a:xfrm>
          <a:prstGeom prst="rect">
            <a:avLst/>
          </a:prstGeom>
          <a:noFill/>
          <a:ln/>
        </p:spPr>
        <p:txBody>
          <a:bodyPr wrap="square" lIns="0" tIns="0" rIns="0" bIns="0" rtlCol="0" anchor="ctr"/>
          <a:lstStyle/>
          <a:p>
            <a:pPr marL="0" indent="0">
              <a:buNone/>
            </a:pPr>
            <a:r>
              <a:rPr lang="en-US" sz="2600" b="1" dirty="0">
                <a:solidFill>
                  <a:srgbClr val="F5F0E8"/>
                </a:solidFill>
              </a:rPr>
              <a:t>Data Model: Snowflake Schema</a:t>
            </a:r>
            <a:endParaRPr lang="en-US" sz="2600" dirty="0"/>
          </a:p>
        </p:txBody>
      </p:sp>
      <p:sp>
        <p:nvSpPr>
          <p:cNvPr id="9" name="Text 7"/>
          <p:cNvSpPr/>
          <p:nvPr/>
        </p:nvSpPr>
        <p:spPr>
          <a:xfrm>
            <a:off x="365760" y="896112"/>
            <a:ext cx="8229600" cy="201168"/>
          </a:xfrm>
          <a:prstGeom prst="rect">
            <a:avLst/>
          </a:prstGeom>
          <a:noFill/>
          <a:ln/>
        </p:spPr>
        <p:txBody>
          <a:bodyPr wrap="square" lIns="0" tIns="0" rIns="0" bIns="0" rtlCol="0" anchor="ctr"/>
          <a:lstStyle/>
          <a:p>
            <a:pPr marL="0" indent="0">
              <a:buNone/>
            </a:pPr>
            <a:r>
              <a:rPr lang="en-US" sz="1100" dirty="0">
                <a:solidFill>
                  <a:srgbClr val="8B8FA8"/>
                </a:solidFill>
              </a:rPr>
              <a:t>Many-to-one (∗:1) relationship architecture — 5 dimension tables</a:t>
            </a:r>
            <a:endParaRPr lang="en-US" sz="1100" dirty="0"/>
          </a:p>
        </p:txBody>
      </p:sp>
      <p:sp>
        <p:nvSpPr>
          <p:cNvPr id="10" name="Shape 8"/>
          <p:cNvSpPr/>
          <p:nvPr/>
        </p:nvSpPr>
        <p:spPr>
          <a:xfrm>
            <a:off x="3246120" y="1828800"/>
            <a:ext cx="2651760" cy="1920240"/>
          </a:xfrm>
          <a:prstGeom prst="rect">
            <a:avLst/>
          </a:prstGeom>
          <a:solidFill>
            <a:srgbClr val="C9A84C"/>
          </a:solidFill>
          <a:ln w="12700">
            <a:solidFill>
              <a:srgbClr val="C9A84C"/>
            </a:solidFill>
            <a:prstDash val="solid"/>
          </a:ln>
          <a:effectLst>
            <a:outerShdw blurRad="101600" dist="38100" dir="8100000" algn="bl" rotWithShape="0">
              <a:srgbClr val="000000">
                <a:alpha val="25000"/>
              </a:srgbClr>
            </a:outerShdw>
          </a:effectLst>
        </p:spPr>
        <p:txBody>
          <a:bodyPr/>
          <a:lstStyle/>
          <a:p>
            <a:endParaRPr lang="en-IN"/>
          </a:p>
        </p:txBody>
      </p:sp>
      <p:sp>
        <p:nvSpPr>
          <p:cNvPr id="11" name="Text 9"/>
          <p:cNvSpPr/>
          <p:nvPr/>
        </p:nvSpPr>
        <p:spPr>
          <a:xfrm>
            <a:off x="3246120" y="1874520"/>
            <a:ext cx="2651760" cy="292608"/>
          </a:xfrm>
          <a:prstGeom prst="rect">
            <a:avLst/>
          </a:prstGeom>
          <a:noFill/>
          <a:ln/>
        </p:spPr>
        <p:txBody>
          <a:bodyPr wrap="square" lIns="0" tIns="0" rIns="0" bIns="0" rtlCol="0" anchor="ctr"/>
          <a:lstStyle/>
          <a:p>
            <a:pPr marL="0" indent="0" algn="ctr">
              <a:buNone/>
            </a:pPr>
            <a:r>
              <a:rPr lang="en-US" sz="1200" b="1" dirty="0" err="1">
                <a:solidFill>
                  <a:srgbClr val="0D0D0D"/>
                </a:solidFill>
              </a:rPr>
              <a:t>Orders_Table</a:t>
            </a:r>
            <a:endParaRPr lang="en-US" sz="1200" dirty="0"/>
          </a:p>
        </p:txBody>
      </p:sp>
      <p:sp>
        <p:nvSpPr>
          <p:cNvPr id="12" name="Shape 10"/>
          <p:cNvSpPr/>
          <p:nvPr/>
        </p:nvSpPr>
        <p:spPr>
          <a:xfrm>
            <a:off x="3246120" y="2167128"/>
            <a:ext cx="2651760" cy="27432"/>
          </a:xfrm>
          <a:prstGeom prst="rect">
            <a:avLst/>
          </a:prstGeom>
          <a:solidFill>
            <a:srgbClr val="0D0D0D"/>
          </a:solidFill>
          <a:ln w="12700">
            <a:solidFill>
              <a:srgbClr val="0D0D0D"/>
            </a:solidFill>
            <a:prstDash val="solid"/>
          </a:ln>
        </p:spPr>
        <p:txBody>
          <a:bodyPr/>
          <a:lstStyle/>
          <a:p>
            <a:endParaRPr lang="en-IN"/>
          </a:p>
        </p:txBody>
      </p:sp>
      <p:sp>
        <p:nvSpPr>
          <p:cNvPr id="13" name="Text 11"/>
          <p:cNvSpPr/>
          <p:nvPr/>
        </p:nvSpPr>
        <p:spPr>
          <a:xfrm>
            <a:off x="3337560" y="2212848"/>
            <a:ext cx="2423160" cy="173736"/>
          </a:xfrm>
          <a:prstGeom prst="rect">
            <a:avLst/>
          </a:prstGeom>
          <a:noFill/>
          <a:ln/>
        </p:spPr>
        <p:txBody>
          <a:bodyPr wrap="square" lIns="0" tIns="0" rIns="0" bIns="0" rtlCol="0" anchor="ctr"/>
          <a:lstStyle/>
          <a:p>
            <a:pPr marL="0" indent="0">
              <a:buNone/>
            </a:pPr>
            <a:r>
              <a:rPr lang="en-US" sz="1100" b="1" dirty="0">
                <a:solidFill>
                  <a:srgbClr val="E8C97A"/>
                </a:solidFill>
              </a:rPr>
              <a:t>OrderID (PK)</a:t>
            </a:r>
            <a:endParaRPr lang="en-US" sz="1100" dirty="0"/>
          </a:p>
        </p:txBody>
      </p:sp>
      <p:sp>
        <p:nvSpPr>
          <p:cNvPr id="14" name="Text 12"/>
          <p:cNvSpPr/>
          <p:nvPr/>
        </p:nvSpPr>
        <p:spPr>
          <a:xfrm>
            <a:off x="3337560" y="2382012"/>
            <a:ext cx="2423160" cy="173736"/>
          </a:xfrm>
          <a:prstGeom prst="rect">
            <a:avLst/>
          </a:prstGeom>
          <a:noFill/>
          <a:ln/>
        </p:spPr>
        <p:txBody>
          <a:bodyPr wrap="square" lIns="0" tIns="0" rIns="0" bIns="0" rtlCol="0" anchor="ctr"/>
          <a:lstStyle/>
          <a:p>
            <a:pPr marL="0" indent="0">
              <a:buNone/>
            </a:pPr>
            <a:r>
              <a:rPr lang="en-US" sz="1100" b="1" dirty="0">
                <a:solidFill>
                  <a:srgbClr val="1D9E75"/>
                </a:solidFill>
              </a:rPr>
              <a:t>ClientID (FK)</a:t>
            </a:r>
            <a:endParaRPr lang="en-US" sz="1100" dirty="0"/>
          </a:p>
        </p:txBody>
      </p:sp>
      <p:sp>
        <p:nvSpPr>
          <p:cNvPr id="15" name="Text 13"/>
          <p:cNvSpPr/>
          <p:nvPr/>
        </p:nvSpPr>
        <p:spPr>
          <a:xfrm>
            <a:off x="3337560" y="2551176"/>
            <a:ext cx="2423160" cy="173736"/>
          </a:xfrm>
          <a:prstGeom prst="rect">
            <a:avLst/>
          </a:prstGeom>
          <a:noFill/>
          <a:ln/>
        </p:spPr>
        <p:txBody>
          <a:bodyPr wrap="square" lIns="0" tIns="0" rIns="0" bIns="0" rtlCol="0" anchor="ctr"/>
          <a:lstStyle/>
          <a:p>
            <a:pPr marL="0" indent="0">
              <a:buNone/>
            </a:pPr>
            <a:r>
              <a:rPr lang="en-US" sz="1100" b="1" dirty="0">
                <a:solidFill>
                  <a:srgbClr val="1D9E75"/>
                </a:solidFill>
              </a:rPr>
              <a:t>OrderDate (FK)</a:t>
            </a:r>
            <a:endParaRPr lang="en-US" sz="1100" dirty="0"/>
          </a:p>
        </p:txBody>
      </p:sp>
      <p:sp>
        <p:nvSpPr>
          <p:cNvPr id="16" name="Text 14"/>
          <p:cNvSpPr/>
          <p:nvPr/>
        </p:nvSpPr>
        <p:spPr>
          <a:xfrm>
            <a:off x="3337560" y="2720340"/>
            <a:ext cx="2423160" cy="173736"/>
          </a:xfrm>
          <a:prstGeom prst="rect">
            <a:avLst/>
          </a:prstGeom>
          <a:noFill/>
          <a:ln/>
        </p:spPr>
        <p:txBody>
          <a:bodyPr wrap="square" lIns="0" tIns="0" rIns="0" bIns="0" rtlCol="0" anchor="ctr"/>
          <a:lstStyle/>
          <a:p>
            <a:pPr marL="0" indent="0">
              <a:buNone/>
            </a:pPr>
            <a:r>
              <a:rPr lang="en-US" sz="1100" b="1" dirty="0">
                <a:solidFill>
                  <a:srgbClr val="1D9E75"/>
                </a:solidFill>
              </a:rPr>
              <a:t>SKU (FK)</a:t>
            </a:r>
            <a:endParaRPr lang="en-US" sz="1100" dirty="0"/>
          </a:p>
        </p:txBody>
      </p:sp>
      <p:sp>
        <p:nvSpPr>
          <p:cNvPr id="17" name="Text 15"/>
          <p:cNvSpPr/>
          <p:nvPr/>
        </p:nvSpPr>
        <p:spPr>
          <a:xfrm>
            <a:off x="3337560" y="2889504"/>
            <a:ext cx="2423160" cy="173736"/>
          </a:xfrm>
          <a:prstGeom prst="rect">
            <a:avLst/>
          </a:prstGeom>
          <a:noFill/>
          <a:ln/>
        </p:spPr>
        <p:txBody>
          <a:bodyPr wrap="square" lIns="0" tIns="0" rIns="0" bIns="0" rtlCol="0" anchor="ctr"/>
          <a:lstStyle/>
          <a:p>
            <a:pPr marL="0" indent="0">
              <a:buNone/>
            </a:pPr>
            <a:r>
              <a:rPr lang="en-US" sz="1100" dirty="0">
                <a:solidFill>
                  <a:srgbClr val="0D0D0D"/>
                </a:solidFill>
              </a:rPr>
              <a:t>Qty</a:t>
            </a:r>
            <a:endParaRPr lang="en-US" sz="1100" dirty="0"/>
          </a:p>
        </p:txBody>
      </p:sp>
      <p:sp>
        <p:nvSpPr>
          <p:cNvPr id="18" name="Text 16"/>
          <p:cNvSpPr/>
          <p:nvPr/>
        </p:nvSpPr>
        <p:spPr>
          <a:xfrm>
            <a:off x="3337560" y="3058668"/>
            <a:ext cx="2423160" cy="173736"/>
          </a:xfrm>
          <a:prstGeom prst="rect">
            <a:avLst/>
          </a:prstGeom>
          <a:noFill/>
          <a:ln/>
        </p:spPr>
        <p:txBody>
          <a:bodyPr wrap="square" lIns="0" tIns="0" rIns="0" bIns="0" rtlCol="0" anchor="ctr"/>
          <a:lstStyle/>
          <a:p>
            <a:pPr marL="0" indent="0">
              <a:buNone/>
            </a:pPr>
            <a:r>
              <a:rPr lang="en-US" sz="1100" dirty="0">
                <a:solidFill>
                  <a:srgbClr val="0D0D0D"/>
                </a:solidFill>
              </a:rPr>
              <a:t>UnitPrice_EUR</a:t>
            </a:r>
            <a:endParaRPr lang="en-US" sz="1100" dirty="0"/>
          </a:p>
        </p:txBody>
      </p:sp>
      <p:sp>
        <p:nvSpPr>
          <p:cNvPr id="19" name="Text 17"/>
          <p:cNvSpPr/>
          <p:nvPr/>
        </p:nvSpPr>
        <p:spPr>
          <a:xfrm>
            <a:off x="3337560" y="3227832"/>
            <a:ext cx="2423160" cy="173736"/>
          </a:xfrm>
          <a:prstGeom prst="rect">
            <a:avLst/>
          </a:prstGeom>
          <a:noFill/>
          <a:ln/>
        </p:spPr>
        <p:txBody>
          <a:bodyPr wrap="square" lIns="0" tIns="0" rIns="0" bIns="0" rtlCol="0" anchor="ctr"/>
          <a:lstStyle/>
          <a:p>
            <a:pPr marL="0" indent="0">
              <a:buNone/>
            </a:pPr>
            <a:r>
              <a:rPr lang="en-US" sz="1100" dirty="0">
                <a:solidFill>
                  <a:srgbClr val="0D0D0D"/>
                </a:solidFill>
              </a:rPr>
              <a:t>Channel</a:t>
            </a:r>
            <a:endParaRPr lang="en-US" sz="1100" dirty="0"/>
          </a:p>
        </p:txBody>
      </p:sp>
      <p:sp>
        <p:nvSpPr>
          <p:cNvPr id="20" name="Text 18"/>
          <p:cNvSpPr/>
          <p:nvPr/>
        </p:nvSpPr>
        <p:spPr>
          <a:xfrm>
            <a:off x="3337560" y="3396996"/>
            <a:ext cx="2423160" cy="173736"/>
          </a:xfrm>
          <a:prstGeom prst="rect">
            <a:avLst/>
          </a:prstGeom>
          <a:noFill/>
          <a:ln/>
        </p:spPr>
        <p:txBody>
          <a:bodyPr wrap="square" lIns="0" tIns="0" rIns="0" bIns="0" rtlCol="0" anchor="ctr"/>
          <a:lstStyle/>
          <a:p>
            <a:pPr marL="0" indent="0">
              <a:buNone/>
            </a:pPr>
            <a:r>
              <a:rPr lang="en-US" sz="1100" dirty="0">
                <a:solidFill>
                  <a:srgbClr val="0D0D0D"/>
                </a:solidFill>
              </a:rPr>
              <a:t>Country</a:t>
            </a:r>
            <a:endParaRPr lang="en-US" sz="1100" dirty="0"/>
          </a:p>
        </p:txBody>
      </p:sp>
      <p:sp>
        <p:nvSpPr>
          <p:cNvPr id="21" name="Text 19"/>
          <p:cNvSpPr/>
          <p:nvPr/>
        </p:nvSpPr>
        <p:spPr>
          <a:xfrm>
            <a:off x="3337560" y="3566160"/>
            <a:ext cx="2423160" cy="173736"/>
          </a:xfrm>
          <a:prstGeom prst="rect">
            <a:avLst/>
          </a:prstGeom>
          <a:noFill/>
          <a:ln/>
        </p:spPr>
        <p:txBody>
          <a:bodyPr wrap="square" lIns="0" tIns="0" rIns="0" bIns="0" rtlCol="0" anchor="ctr"/>
          <a:lstStyle/>
          <a:p>
            <a:pPr marL="0" indent="0">
              <a:buNone/>
            </a:pPr>
            <a:r>
              <a:rPr lang="en-US" sz="1100" dirty="0">
                <a:solidFill>
                  <a:srgbClr val="0D0D0D"/>
                </a:solidFill>
              </a:rPr>
              <a:t>ReturnFlag</a:t>
            </a:r>
            <a:endParaRPr lang="en-US" sz="1100" dirty="0"/>
          </a:p>
        </p:txBody>
      </p:sp>
      <p:sp>
        <p:nvSpPr>
          <p:cNvPr id="22" name="Shape 20"/>
          <p:cNvSpPr/>
          <p:nvPr/>
        </p:nvSpPr>
        <p:spPr>
          <a:xfrm>
            <a:off x="182880" y="1097280"/>
            <a:ext cx="2468880" cy="1600200"/>
          </a:xfrm>
          <a:prstGeom prst="rect">
            <a:avLst/>
          </a:prstGeom>
          <a:solidFill>
            <a:srgbClr val="1A1F2E"/>
          </a:solidFill>
          <a:ln w="12700">
            <a:solidFill>
              <a:srgbClr val="7F77DD"/>
            </a:solidFill>
            <a:prstDash val="solid"/>
          </a:ln>
          <a:effectLst>
            <a:outerShdw blurRad="101600" dist="38100" dir="8100000" algn="bl" rotWithShape="0">
              <a:srgbClr val="000000">
                <a:alpha val="25000"/>
              </a:srgbClr>
            </a:outerShdw>
          </a:effectLst>
        </p:spPr>
        <p:txBody>
          <a:bodyPr/>
          <a:lstStyle/>
          <a:p>
            <a:endParaRPr lang="en-IN"/>
          </a:p>
        </p:txBody>
      </p:sp>
      <p:sp>
        <p:nvSpPr>
          <p:cNvPr id="23" name="Shape 21"/>
          <p:cNvSpPr/>
          <p:nvPr/>
        </p:nvSpPr>
        <p:spPr>
          <a:xfrm>
            <a:off x="182880" y="1097280"/>
            <a:ext cx="2468880" cy="274320"/>
          </a:xfrm>
          <a:prstGeom prst="rect">
            <a:avLst/>
          </a:prstGeom>
          <a:solidFill>
            <a:srgbClr val="7F77DD"/>
          </a:solidFill>
          <a:ln w="12700">
            <a:solidFill>
              <a:srgbClr val="7F77DD"/>
            </a:solidFill>
            <a:prstDash val="solid"/>
          </a:ln>
        </p:spPr>
        <p:txBody>
          <a:bodyPr/>
          <a:lstStyle/>
          <a:p>
            <a:endParaRPr lang="en-IN"/>
          </a:p>
        </p:txBody>
      </p:sp>
      <p:sp>
        <p:nvSpPr>
          <p:cNvPr id="24" name="Text 22"/>
          <p:cNvSpPr/>
          <p:nvPr/>
        </p:nvSpPr>
        <p:spPr>
          <a:xfrm>
            <a:off x="182880" y="1097280"/>
            <a:ext cx="2468880" cy="274320"/>
          </a:xfrm>
          <a:prstGeom prst="rect">
            <a:avLst/>
          </a:prstGeom>
          <a:noFill/>
          <a:ln/>
        </p:spPr>
        <p:txBody>
          <a:bodyPr wrap="square" lIns="0" tIns="0" rIns="0" bIns="0" rtlCol="0" anchor="ctr"/>
          <a:lstStyle/>
          <a:p>
            <a:pPr marL="0" indent="0" algn="ctr">
              <a:buNone/>
            </a:pPr>
            <a:r>
              <a:rPr lang="en-US" sz="1100" b="1" dirty="0" err="1">
                <a:solidFill>
                  <a:srgbClr val="0D0D0D"/>
                </a:solidFill>
              </a:rPr>
              <a:t>Client_table</a:t>
            </a:r>
            <a:endParaRPr lang="en-US" sz="1100" dirty="0"/>
          </a:p>
        </p:txBody>
      </p:sp>
      <p:sp>
        <p:nvSpPr>
          <p:cNvPr id="25" name="Text 23"/>
          <p:cNvSpPr/>
          <p:nvPr/>
        </p:nvSpPr>
        <p:spPr>
          <a:xfrm>
            <a:off x="292608" y="1417320"/>
            <a:ext cx="2249424" cy="192024"/>
          </a:xfrm>
          <a:prstGeom prst="rect">
            <a:avLst/>
          </a:prstGeom>
          <a:noFill/>
          <a:ln/>
        </p:spPr>
        <p:txBody>
          <a:bodyPr wrap="square" lIns="0" tIns="0" rIns="0" bIns="0" rtlCol="0" anchor="ctr"/>
          <a:lstStyle/>
          <a:p>
            <a:pPr marL="0" indent="0">
              <a:buNone/>
            </a:pPr>
            <a:r>
              <a:rPr lang="en-US" sz="1100" b="1" dirty="0">
                <a:solidFill>
                  <a:srgbClr val="E8C97A"/>
                </a:solidFill>
              </a:rPr>
              <a:t>ClientID (PK)</a:t>
            </a:r>
            <a:endParaRPr lang="en-US" sz="1100" dirty="0"/>
          </a:p>
        </p:txBody>
      </p:sp>
      <p:sp>
        <p:nvSpPr>
          <p:cNvPr id="26" name="Text 24"/>
          <p:cNvSpPr/>
          <p:nvPr/>
        </p:nvSpPr>
        <p:spPr>
          <a:xfrm>
            <a:off x="292608" y="1613916"/>
            <a:ext cx="2249424" cy="192024"/>
          </a:xfrm>
          <a:prstGeom prst="rect">
            <a:avLst/>
          </a:prstGeom>
          <a:noFill/>
          <a:ln/>
        </p:spPr>
        <p:txBody>
          <a:bodyPr wrap="square" lIns="0" tIns="0" rIns="0" bIns="0" rtlCol="0" anchor="ctr"/>
          <a:lstStyle/>
          <a:p>
            <a:pPr marL="0" indent="0">
              <a:buNone/>
            </a:pPr>
            <a:r>
              <a:rPr lang="en-US" sz="1100" dirty="0">
                <a:solidFill>
                  <a:srgbClr val="8B8FA8"/>
                </a:solidFill>
              </a:rPr>
              <a:t>ClientName</a:t>
            </a:r>
            <a:endParaRPr lang="en-US" sz="1100" dirty="0"/>
          </a:p>
        </p:txBody>
      </p:sp>
      <p:sp>
        <p:nvSpPr>
          <p:cNvPr id="27" name="Text 25"/>
          <p:cNvSpPr/>
          <p:nvPr/>
        </p:nvSpPr>
        <p:spPr>
          <a:xfrm>
            <a:off x="292608" y="1810512"/>
            <a:ext cx="2249424" cy="192024"/>
          </a:xfrm>
          <a:prstGeom prst="rect">
            <a:avLst/>
          </a:prstGeom>
          <a:noFill/>
          <a:ln/>
        </p:spPr>
        <p:txBody>
          <a:bodyPr wrap="square" lIns="0" tIns="0" rIns="0" bIns="0" rtlCol="0" anchor="ctr"/>
          <a:lstStyle/>
          <a:p>
            <a:pPr marL="0" indent="0">
              <a:buNone/>
            </a:pPr>
            <a:r>
              <a:rPr lang="en-US" sz="1100" dirty="0">
                <a:solidFill>
                  <a:srgbClr val="8B8FA8"/>
                </a:solidFill>
              </a:rPr>
              <a:t>Tier</a:t>
            </a:r>
            <a:endParaRPr lang="en-US" sz="1100" dirty="0"/>
          </a:p>
        </p:txBody>
      </p:sp>
      <p:sp>
        <p:nvSpPr>
          <p:cNvPr id="28" name="Text 26"/>
          <p:cNvSpPr/>
          <p:nvPr/>
        </p:nvSpPr>
        <p:spPr>
          <a:xfrm>
            <a:off x="292608" y="2007108"/>
            <a:ext cx="2249424" cy="192024"/>
          </a:xfrm>
          <a:prstGeom prst="rect">
            <a:avLst/>
          </a:prstGeom>
          <a:noFill/>
          <a:ln/>
        </p:spPr>
        <p:txBody>
          <a:bodyPr wrap="square" lIns="0" tIns="0" rIns="0" bIns="0" rtlCol="0" anchor="ctr"/>
          <a:lstStyle/>
          <a:p>
            <a:pPr marL="0" indent="0">
              <a:buNone/>
            </a:pPr>
            <a:r>
              <a:rPr lang="en-US" sz="1100" dirty="0">
                <a:solidFill>
                  <a:srgbClr val="8B8FA8"/>
                </a:solidFill>
              </a:rPr>
              <a:t>JoinDate</a:t>
            </a:r>
            <a:endParaRPr lang="en-US" sz="1100" dirty="0"/>
          </a:p>
        </p:txBody>
      </p:sp>
      <p:sp>
        <p:nvSpPr>
          <p:cNvPr id="29" name="Text 27"/>
          <p:cNvSpPr/>
          <p:nvPr/>
        </p:nvSpPr>
        <p:spPr>
          <a:xfrm>
            <a:off x="292608" y="2203704"/>
            <a:ext cx="2249424" cy="192024"/>
          </a:xfrm>
          <a:prstGeom prst="rect">
            <a:avLst/>
          </a:prstGeom>
          <a:noFill/>
          <a:ln/>
        </p:spPr>
        <p:txBody>
          <a:bodyPr wrap="square" lIns="0" tIns="0" rIns="0" bIns="0" rtlCol="0" anchor="ctr"/>
          <a:lstStyle/>
          <a:p>
            <a:pPr marL="0" indent="0">
              <a:buNone/>
            </a:pPr>
            <a:r>
              <a:rPr lang="en-US" sz="1100" dirty="0">
                <a:solidFill>
                  <a:srgbClr val="8B8FA8"/>
                </a:solidFill>
              </a:rPr>
              <a:t>Country</a:t>
            </a:r>
            <a:endParaRPr lang="en-US" sz="1100" dirty="0"/>
          </a:p>
        </p:txBody>
      </p:sp>
      <p:sp>
        <p:nvSpPr>
          <p:cNvPr id="30" name="Text 28"/>
          <p:cNvSpPr/>
          <p:nvPr/>
        </p:nvSpPr>
        <p:spPr>
          <a:xfrm>
            <a:off x="292608" y="2400300"/>
            <a:ext cx="2249424" cy="192024"/>
          </a:xfrm>
          <a:prstGeom prst="rect">
            <a:avLst/>
          </a:prstGeom>
          <a:noFill/>
          <a:ln/>
        </p:spPr>
        <p:txBody>
          <a:bodyPr wrap="square" lIns="0" tIns="0" rIns="0" bIns="0" rtlCol="0" anchor="ctr"/>
          <a:lstStyle/>
          <a:p>
            <a:pPr marL="0" indent="0">
              <a:buNone/>
            </a:pPr>
            <a:r>
              <a:rPr lang="en-US" sz="1100" dirty="0">
                <a:solidFill>
                  <a:srgbClr val="8B8FA8"/>
                </a:solidFill>
              </a:rPr>
              <a:t>LifetimeSpend</a:t>
            </a:r>
            <a:endParaRPr lang="en-US" sz="1100" dirty="0"/>
          </a:p>
        </p:txBody>
      </p:sp>
      <p:sp>
        <p:nvSpPr>
          <p:cNvPr id="31" name="Shape 29"/>
          <p:cNvSpPr/>
          <p:nvPr/>
        </p:nvSpPr>
        <p:spPr>
          <a:xfrm>
            <a:off x="182880" y="3291840"/>
            <a:ext cx="2468880" cy="1696212"/>
          </a:xfrm>
          <a:prstGeom prst="rect">
            <a:avLst/>
          </a:prstGeom>
          <a:solidFill>
            <a:srgbClr val="1A1F2E"/>
          </a:solidFill>
          <a:ln w="12700">
            <a:solidFill>
              <a:srgbClr val="1D9E75"/>
            </a:solidFill>
            <a:prstDash val="solid"/>
          </a:ln>
          <a:effectLst>
            <a:outerShdw blurRad="101600" dist="38100" dir="8100000" algn="bl" rotWithShape="0">
              <a:srgbClr val="000000">
                <a:alpha val="25000"/>
              </a:srgbClr>
            </a:outerShdw>
          </a:effectLst>
        </p:spPr>
        <p:txBody>
          <a:bodyPr/>
          <a:lstStyle/>
          <a:p>
            <a:endParaRPr lang="en-IN"/>
          </a:p>
        </p:txBody>
      </p:sp>
      <p:sp>
        <p:nvSpPr>
          <p:cNvPr id="32" name="Shape 30"/>
          <p:cNvSpPr/>
          <p:nvPr/>
        </p:nvSpPr>
        <p:spPr>
          <a:xfrm>
            <a:off x="182880" y="3291840"/>
            <a:ext cx="2468880" cy="274320"/>
          </a:xfrm>
          <a:prstGeom prst="rect">
            <a:avLst/>
          </a:prstGeom>
          <a:solidFill>
            <a:srgbClr val="1D9E75"/>
          </a:solidFill>
          <a:ln w="12700">
            <a:solidFill>
              <a:srgbClr val="1D9E75"/>
            </a:solidFill>
            <a:prstDash val="solid"/>
          </a:ln>
        </p:spPr>
        <p:txBody>
          <a:bodyPr/>
          <a:lstStyle/>
          <a:p>
            <a:endParaRPr lang="en-IN"/>
          </a:p>
        </p:txBody>
      </p:sp>
      <p:sp>
        <p:nvSpPr>
          <p:cNvPr id="33" name="Text 31"/>
          <p:cNvSpPr/>
          <p:nvPr/>
        </p:nvSpPr>
        <p:spPr>
          <a:xfrm>
            <a:off x="182880" y="3291840"/>
            <a:ext cx="2468880" cy="274320"/>
          </a:xfrm>
          <a:prstGeom prst="rect">
            <a:avLst/>
          </a:prstGeom>
          <a:noFill/>
          <a:ln/>
        </p:spPr>
        <p:txBody>
          <a:bodyPr wrap="square" lIns="0" tIns="0" rIns="0" bIns="0" rtlCol="0" anchor="ctr"/>
          <a:lstStyle/>
          <a:p>
            <a:pPr marL="0" indent="0" algn="ctr">
              <a:buNone/>
            </a:pPr>
            <a:r>
              <a:rPr lang="en-US" sz="1100" b="1" dirty="0" err="1">
                <a:solidFill>
                  <a:srgbClr val="0D0D0D"/>
                </a:solidFill>
              </a:rPr>
              <a:t>Product_Table</a:t>
            </a:r>
            <a:endParaRPr lang="en-US" sz="1100" dirty="0"/>
          </a:p>
        </p:txBody>
      </p:sp>
      <p:sp>
        <p:nvSpPr>
          <p:cNvPr id="34" name="Text 32"/>
          <p:cNvSpPr/>
          <p:nvPr/>
        </p:nvSpPr>
        <p:spPr>
          <a:xfrm>
            <a:off x="292608" y="3611880"/>
            <a:ext cx="2249424" cy="192024"/>
          </a:xfrm>
          <a:prstGeom prst="rect">
            <a:avLst/>
          </a:prstGeom>
          <a:noFill/>
          <a:ln/>
        </p:spPr>
        <p:txBody>
          <a:bodyPr wrap="square" lIns="0" tIns="0" rIns="0" bIns="0" rtlCol="0" anchor="ctr"/>
          <a:lstStyle/>
          <a:p>
            <a:pPr marL="0" indent="0">
              <a:buNone/>
            </a:pPr>
            <a:r>
              <a:rPr lang="en-US" sz="1100" b="1" dirty="0">
                <a:solidFill>
                  <a:srgbClr val="E8C97A"/>
                </a:solidFill>
              </a:rPr>
              <a:t>SKU (PK)</a:t>
            </a:r>
            <a:endParaRPr lang="en-US" sz="1100" dirty="0"/>
          </a:p>
        </p:txBody>
      </p:sp>
      <p:sp>
        <p:nvSpPr>
          <p:cNvPr id="35" name="Text 33"/>
          <p:cNvSpPr/>
          <p:nvPr/>
        </p:nvSpPr>
        <p:spPr>
          <a:xfrm>
            <a:off x="292608" y="3808476"/>
            <a:ext cx="2249424" cy="192024"/>
          </a:xfrm>
          <a:prstGeom prst="rect">
            <a:avLst/>
          </a:prstGeom>
          <a:noFill/>
          <a:ln/>
        </p:spPr>
        <p:txBody>
          <a:bodyPr wrap="square" lIns="0" tIns="0" rIns="0" bIns="0" rtlCol="0" anchor="ctr"/>
          <a:lstStyle/>
          <a:p>
            <a:pPr marL="0" indent="0">
              <a:buNone/>
            </a:pPr>
            <a:r>
              <a:rPr lang="en-US" sz="1100" dirty="0">
                <a:solidFill>
                  <a:srgbClr val="8B8FA8"/>
                </a:solidFill>
              </a:rPr>
              <a:t>BrandHouse</a:t>
            </a:r>
            <a:endParaRPr lang="en-US" sz="1100" dirty="0"/>
          </a:p>
        </p:txBody>
      </p:sp>
      <p:sp>
        <p:nvSpPr>
          <p:cNvPr id="36" name="Text 34"/>
          <p:cNvSpPr/>
          <p:nvPr/>
        </p:nvSpPr>
        <p:spPr>
          <a:xfrm>
            <a:off x="292608" y="4005072"/>
            <a:ext cx="2249424" cy="192024"/>
          </a:xfrm>
          <a:prstGeom prst="rect">
            <a:avLst/>
          </a:prstGeom>
          <a:noFill/>
          <a:ln/>
        </p:spPr>
        <p:txBody>
          <a:bodyPr wrap="square" lIns="0" tIns="0" rIns="0" bIns="0" rtlCol="0" anchor="ctr"/>
          <a:lstStyle/>
          <a:p>
            <a:pPr marL="0" indent="0">
              <a:buNone/>
            </a:pPr>
            <a:r>
              <a:rPr lang="en-US" sz="1100" dirty="0">
                <a:solidFill>
                  <a:srgbClr val="8B8FA8"/>
                </a:solidFill>
              </a:rPr>
              <a:t>Category</a:t>
            </a:r>
            <a:endParaRPr lang="en-US" sz="1100" dirty="0"/>
          </a:p>
        </p:txBody>
      </p:sp>
      <p:sp>
        <p:nvSpPr>
          <p:cNvPr id="37" name="Text 35"/>
          <p:cNvSpPr/>
          <p:nvPr/>
        </p:nvSpPr>
        <p:spPr>
          <a:xfrm>
            <a:off x="292608" y="4201668"/>
            <a:ext cx="2249424" cy="192024"/>
          </a:xfrm>
          <a:prstGeom prst="rect">
            <a:avLst/>
          </a:prstGeom>
          <a:noFill/>
          <a:ln/>
        </p:spPr>
        <p:txBody>
          <a:bodyPr wrap="square" lIns="0" tIns="0" rIns="0" bIns="0" rtlCol="0" anchor="ctr"/>
          <a:lstStyle/>
          <a:p>
            <a:pPr marL="0" indent="0">
              <a:buNone/>
            </a:pPr>
            <a:r>
              <a:rPr lang="en-US" sz="1100" dirty="0">
                <a:solidFill>
                  <a:srgbClr val="8B8FA8"/>
                </a:solidFill>
              </a:rPr>
              <a:t>Collection</a:t>
            </a:r>
            <a:endParaRPr lang="en-US" sz="1100" dirty="0"/>
          </a:p>
        </p:txBody>
      </p:sp>
      <p:sp>
        <p:nvSpPr>
          <p:cNvPr id="38" name="Text 36"/>
          <p:cNvSpPr/>
          <p:nvPr/>
        </p:nvSpPr>
        <p:spPr>
          <a:xfrm>
            <a:off x="292608" y="4398264"/>
            <a:ext cx="2249424" cy="192024"/>
          </a:xfrm>
          <a:prstGeom prst="rect">
            <a:avLst/>
          </a:prstGeom>
          <a:noFill/>
          <a:ln/>
        </p:spPr>
        <p:txBody>
          <a:bodyPr wrap="square" lIns="0" tIns="0" rIns="0" bIns="0" rtlCol="0" anchor="ctr"/>
          <a:lstStyle/>
          <a:p>
            <a:pPr marL="0" indent="0">
              <a:buNone/>
            </a:pPr>
            <a:r>
              <a:rPr lang="en-US" sz="1100" dirty="0">
                <a:solidFill>
                  <a:srgbClr val="8B8FA8"/>
                </a:solidFill>
              </a:rPr>
              <a:t>RRP_EUR</a:t>
            </a:r>
            <a:endParaRPr lang="en-US" sz="1100" dirty="0"/>
          </a:p>
        </p:txBody>
      </p:sp>
      <p:sp>
        <p:nvSpPr>
          <p:cNvPr id="39" name="Text 37"/>
          <p:cNvSpPr/>
          <p:nvPr/>
        </p:nvSpPr>
        <p:spPr>
          <a:xfrm>
            <a:off x="292608" y="4594860"/>
            <a:ext cx="2249424" cy="192024"/>
          </a:xfrm>
          <a:prstGeom prst="rect">
            <a:avLst/>
          </a:prstGeom>
          <a:noFill/>
          <a:ln/>
        </p:spPr>
        <p:txBody>
          <a:bodyPr wrap="square" lIns="0" tIns="0" rIns="0" bIns="0" rtlCol="0" anchor="ctr"/>
          <a:lstStyle/>
          <a:p>
            <a:pPr marL="0" indent="0">
              <a:buNone/>
            </a:pPr>
            <a:r>
              <a:rPr lang="en-US" sz="1100" dirty="0">
                <a:solidFill>
                  <a:srgbClr val="8B8FA8"/>
                </a:solidFill>
              </a:rPr>
              <a:t>COGS_EUR</a:t>
            </a:r>
            <a:endParaRPr lang="en-US" sz="1100" dirty="0"/>
          </a:p>
        </p:txBody>
      </p:sp>
      <p:sp>
        <p:nvSpPr>
          <p:cNvPr id="40" name="Text 38"/>
          <p:cNvSpPr/>
          <p:nvPr/>
        </p:nvSpPr>
        <p:spPr>
          <a:xfrm>
            <a:off x="292608" y="4791456"/>
            <a:ext cx="2249424" cy="192024"/>
          </a:xfrm>
          <a:prstGeom prst="rect">
            <a:avLst/>
          </a:prstGeom>
          <a:noFill/>
          <a:ln/>
        </p:spPr>
        <p:txBody>
          <a:bodyPr wrap="square" lIns="0" tIns="0" rIns="0" bIns="0" rtlCol="0" anchor="ctr"/>
          <a:lstStyle/>
          <a:p>
            <a:pPr marL="0" indent="0">
              <a:buNone/>
            </a:pPr>
            <a:r>
              <a:rPr lang="en-US" sz="1100" dirty="0">
                <a:solidFill>
                  <a:srgbClr val="8B8FA8"/>
                </a:solidFill>
              </a:rPr>
              <a:t>IsLimitedEdition</a:t>
            </a:r>
            <a:endParaRPr lang="en-US" sz="1100" dirty="0"/>
          </a:p>
        </p:txBody>
      </p:sp>
      <p:sp>
        <p:nvSpPr>
          <p:cNvPr id="41" name="Shape 39"/>
          <p:cNvSpPr/>
          <p:nvPr/>
        </p:nvSpPr>
        <p:spPr>
          <a:xfrm>
            <a:off x="6400800" y="137160"/>
            <a:ext cx="2468880" cy="1691640"/>
          </a:xfrm>
          <a:prstGeom prst="rect">
            <a:avLst/>
          </a:prstGeom>
          <a:solidFill>
            <a:srgbClr val="1A1F2E"/>
          </a:solidFill>
          <a:ln w="12700">
            <a:solidFill>
              <a:srgbClr val="D4537E"/>
            </a:solidFill>
            <a:prstDash val="solid"/>
          </a:ln>
          <a:effectLst>
            <a:outerShdw blurRad="101600" dist="38100" dir="8100000" algn="bl" rotWithShape="0">
              <a:srgbClr val="000000">
                <a:alpha val="25000"/>
              </a:srgbClr>
            </a:outerShdw>
          </a:effectLst>
        </p:spPr>
        <p:txBody>
          <a:bodyPr/>
          <a:lstStyle/>
          <a:p>
            <a:endParaRPr lang="en-IN"/>
          </a:p>
        </p:txBody>
      </p:sp>
      <p:sp>
        <p:nvSpPr>
          <p:cNvPr id="42" name="Shape 40"/>
          <p:cNvSpPr/>
          <p:nvPr/>
        </p:nvSpPr>
        <p:spPr>
          <a:xfrm>
            <a:off x="6400800" y="137160"/>
            <a:ext cx="2468880" cy="274320"/>
          </a:xfrm>
          <a:prstGeom prst="rect">
            <a:avLst/>
          </a:prstGeom>
          <a:solidFill>
            <a:srgbClr val="D4537E"/>
          </a:solidFill>
          <a:ln w="12700">
            <a:solidFill>
              <a:srgbClr val="D4537E"/>
            </a:solidFill>
            <a:prstDash val="solid"/>
          </a:ln>
        </p:spPr>
        <p:txBody>
          <a:bodyPr/>
          <a:lstStyle/>
          <a:p>
            <a:endParaRPr lang="en-IN"/>
          </a:p>
        </p:txBody>
      </p:sp>
      <p:sp>
        <p:nvSpPr>
          <p:cNvPr id="43" name="Text 41"/>
          <p:cNvSpPr/>
          <p:nvPr/>
        </p:nvSpPr>
        <p:spPr>
          <a:xfrm>
            <a:off x="6400800" y="137160"/>
            <a:ext cx="2468880" cy="274320"/>
          </a:xfrm>
          <a:prstGeom prst="rect">
            <a:avLst/>
          </a:prstGeom>
          <a:noFill/>
          <a:ln/>
        </p:spPr>
        <p:txBody>
          <a:bodyPr wrap="square" lIns="0" tIns="0" rIns="0" bIns="0" rtlCol="0" anchor="ctr"/>
          <a:lstStyle/>
          <a:p>
            <a:pPr marL="0" indent="0" algn="ctr">
              <a:buNone/>
            </a:pPr>
            <a:r>
              <a:rPr lang="en-US" sz="1100" b="1" dirty="0" err="1">
                <a:solidFill>
                  <a:srgbClr val="0D0D0D"/>
                </a:solidFill>
              </a:rPr>
              <a:t>Date_Table</a:t>
            </a:r>
            <a:endParaRPr lang="en-US" sz="1100" dirty="0"/>
          </a:p>
        </p:txBody>
      </p:sp>
      <p:sp>
        <p:nvSpPr>
          <p:cNvPr id="44" name="Text 42"/>
          <p:cNvSpPr/>
          <p:nvPr/>
        </p:nvSpPr>
        <p:spPr>
          <a:xfrm>
            <a:off x="6510528" y="457200"/>
            <a:ext cx="2249424" cy="192024"/>
          </a:xfrm>
          <a:prstGeom prst="rect">
            <a:avLst/>
          </a:prstGeom>
          <a:noFill/>
          <a:ln/>
        </p:spPr>
        <p:txBody>
          <a:bodyPr wrap="square" lIns="0" tIns="0" rIns="0" bIns="0" rtlCol="0" anchor="ctr"/>
          <a:lstStyle/>
          <a:p>
            <a:pPr marL="0" indent="0">
              <a:buNone/>
            </a:pPr>
            <a:r>
              <a:rPr lang="en-US" sz="1100" b="1" dirty="0">
                <a:solidFill>
                  <a:srgbClr val="E8C97A"/>
                </a:solidFill>
              </a:rPr>
              <a:t>Date (PK)</a:t>
            </a:r>
            <a:endParaRPr lang="en-US" sz="1100" dirty="0"/>
          </a:p>
        </p:txBody>
      </p:sp>
      <p:sp>
        <p:nvSpPr>
          <p:cNvPr id="45" name="Text 43"/>
          <p:cNvSpPr/>
          <p:nvPr/>
        </p:nvSpPr>
        <p:spPr>
          <a:xfrm>
            <a:off x="6510528" y="653796"/>
            <a:ext cx="2249424" cy="192024"/>
          </a:xfrm>
          <a:prstGeom prst="rect">
            <a:avLst/>
          </a:prstGeom>
          <a:noFill/>
          <a:ln/>
        </p:spPr>
        <p:txBody>
          <a:bodyPr wrap="square" lIns="0" tIns="0" rIns="0" bIns="0" rtlCol="0" anchor="ctr"/>
          <a:lstStyle/>
          <a:p>
            <a:pPr marL="0" indent="0">
              <a:buNone/>
            </a:pPr>
            <a:r>
              <a:rPr lang="en-US" sz="1100" dirty="0">
                <a:solidFill>
                  <a:srgbClr val="8B8FA8"/>
                </a:solidFill>
              </a:rPr>
              <a:t>Year</a:t>
            </a:r>
            <a:endParaRPr lang="en-US" sz="1100" dirty="0"/>
          </a:p>
        </p:txBody>
      </p:sp>
      <p:sp>
        <p:nvSpPr>
          <p:cNvPr id="46" name="Text 44"/>
          <p:cNvSpPr/>
          <p:nvPr/>
        </p:nvSpPr>
        <p:spPr>
          <a:xfrm>
            <a:off x="6510528" y="850392"/>
            <a:ext cx="2249424" cy="192024"/>
          </a:xfrm>
          <a:prstGeom prst="rect">
            <a:avLst/>
          </a:prstGeom>
          <a:noFill/>
          <a:ln/>
        </p:spPr>
        <p:txBody>
          <a:bodyPr wrap="square" lIns="0" tIns="0" rIns="0" bIns="0" rtlCol="0" anchor="ctr"/>
          <a:lstStyle/>
          <a:p>
            <a:pPr marL="0" indent="0">
              <a:buNone/>
            </a:pPr>
            <a:r>
              <a:rPr lang="en-US" sz="1100" dirty="0">
                <a:solidFill>
                  <a:srgbClr val="8B8FA8"/>
                </a:solidFill>
              </a:rPr>
              <a:t>Quarter</a:t>
            </a:r>
            <a:endParaRPr lang="en-US" sz="1100" dirty="0"/>
          </a:p>
        </p:txBody>
      </p:sp>
      <p:sp>
        <p:nvSpPr>
          <p:cNvPr id="47" name="Text 45"/>
          <p:cNvSpPr/>
          <p:nvPr/>
        </p:nvSpPr>
        <p:spPr>
          <a:xfrm>
            <a:off x="6510528" y="1046988"/>
            <a:ext cx="2249424" cy="192024"/>
          </a:xfrm>
          <a:prstGeom prst="rect">
            <a:avLst/>
          </a:prstGeom>
          <a:noFill/>
          <a:ln/>
        </p:spPr>
        <p:txBody>
          <a:bodyPr wrap="square" lIns="0" tIns="0" rIns="0" bIns="0" rtlCol="0" anchor="ctr"/>
          <a:lstStyle/>
          <a:p>
            <a:pPr marL="0" indent="0">
              <a:buNone/>
            </a:pPr>
            <a:r>
              <a:rPr lang="en-US" sz="1100" dirty="0">
                <a:solidFill>
                  <a:srgbClr val="8B8FA8"/>
                </a:solidFill>
              </a:rPr>
              <a:t>MonthName</a:t>
            </a:r>
            <a:endParaRPr lang="en-US" sz="1100" dirty="0"/>
          </a:p>
        </p:txBody>
      </p:sp>
      <p:sp>
        <p:nvSpPr>
          <p:cNvPr id="48" name="Text 46"/>
          <p:cNvSpPr/>
          <p:nvPr/>
        </p:nvSpPr>
        <p:spPr>
          <a:xfrm>
            <a:off x="6510528" y="1243584"/>
            <a:ext cx="2249424" cy="192024"/>
          </a:xfrm>
          <a:prstGeom prst="rect">
            <a:avLst/>
          </a:prstGeom>
          <a:noFill/>
          <a:ln/>
        </p:spPr>
        <p:txBody>
          <a:bodyPr wrap="square" lIns="0" tIns="0" rIns="0" bIns="0" rtlCol="0" anchor="ctr"/>
          <a:lstStyle/>
          <a:p>
            <a:pPr marL="0" indent="0">
              <a:buNone/>
            </a:pPr>
            <a:r>
              <a:rPr lang="en-US" sz="1100" dirty="0">
                <a:solidFill>
                  <a:srgbClr val="8B8FA8"/>
                </a:solidFill>
              </a:rPr>
              <a:t>Season</a:t>
            </a:r>
            <a:endParaRPr lang="en-US" sz="1100" dirty="0"/>
          </a:p>
        </p:txBody>
      </p:sp>
      <p:sp>
        <p:nvSpPr>
          <p:cNvPr id="49" name="Text 47"/>
          <p:cNvSpPr/>
          <p:nvPr/>
        </p:nvSpPr>
        <p:spPr>
          <a:xfrm>
            <a:off x="6510528" y="1440180"/>
            <a:ext cx="2249424" cy="192024"/>
          </a:xfrm>
          <a:prstGeom prst="rect">
            <a:avLst/>
          </a:prstGeom>
          <a:noFill/>
          <a:ln/>
        </p:spPr>
        <p:txBody>
          <a:bodyPr wrap="square" lIns="0" tIns="0" rIns="0" bIns="0" rtlCol="0" anchor="ctr"/>
          <a:lstStyle/>
          <a:p>
            <a:pPr marL="0" indent="0">
              <a:buNone/>
            </a:pPr>
            <a:r>
              <a:rPr lang="en-US" sz="1100" dirty="0">
                <a:solidFill>
                  <a:srgbClr val="8B8FA8"/>
                </a:solidFill>
              </a:rPr>
              <a:t>FashionWeekFlag</a:t>
            </a:r>
            <a:endParaRPr lang="en-US" sz="1100" dirty="0"/>
          </a:p>
        </p:txBody>
      </p:sp>
      <p:sp>
        <p:nvSpPr>
          <p:cNvPr id="50" name="Text 48"/>
          <p:cNvSpPr/>
          <p:nvPr/>
        </p:nvSpPr>
        <p:spPr>
          <a:xfrm>
            <a:off x="6510528" y="1636776"/>
            <a:ext cx="2249424" cy="192024"/>
          </a:xfrm>
          <a:prstGeom prst="rect">
            <a:avLst/>
          </a:prstGeom>
          <a:noFill/>
          <a:ln/>
        </p:spPr>
        <p:txBody>
          <a:bodyPr wrap="square" lIns="0" tIns="0" rIns="0" bIns="0" rtlCol="0" anchor="ctr"/>
          <a:lstStyle/>
          <a:p>
            <a:pPr marL="0" indent="0">
              <a:buNone/>
            </a:pPr>
            <a:r>
              <a:rPr lang="en-US" sz="1100" dirty="0">
                <a:solidFill>
                  <a:srgbClr val="8B8FA8"/>
                </a:solidFill>
              </a:rPr>
              <a:t>HolidayFlag</a:t>
            </a:r>
            <a:endParaRPr lang="en-US" sz="1100" dirty="0"/>
          </a:p>
        </p:txBody>
      </p:sp>
      <p:sp>
        <p:nvSpPr>
          <p:cNvPr id="51" name="Shape 49"/>
          <p:cNvSpPr/>
          <p:nvPr/>
        </p:nvSpPr>
        <p:spPr>
          <a:xfrm>
            <a:off x="3246120" y="3898610"/>
            <a:ext cx="2468880" cy="1115568"/>
          </a:xfrm>
          <a:prstGeom prst="rect">
            <a:avLst/>
          </a:prstGeom>
          <a:solidFill>
            <a:srgbClr val="1A1F2E"/>
          </a:solidFill>
          <a:ln w="12700">
            <a:solidFill>
              <a:srgbClr val="C9A84C"/>
            </a:solidFill>
            <a:prstDash val="solid"/>
          </a:ln>
          <a:effectLst>
            <a:outerShdw blurRad="101600" dist="38100" dir="8100000" algn="bl" rotWithShape="0">
              <a:srgbClr val="000000">
                <a:alpha val="25000"/>
              </a:srgbClr>
            </a:outerShdw>
          </a:effectLst>
        </p:spPr>
        <p:txBody>
          <a:bodyPr/>
          <a:lstStyle/>
          <a:p>
            <a:endParaRPr lang="en-IN"/>
          </a:p>
        </p:txBody>
      </p:sp>
      <p:sp>
        <p:nvSpPr>
          <p:cNvPr id="52" name="Shape 50"/>
          <p:cNvSpPr/>
          <p:nvPr/>
        </p:nvSpPr>
        <p:spPr>
          <a:xfrm>
            <a:off x="3255264" y="3915592"/>
            <a:ext cx="2468880" cy="274320"/>
          </a:xfrm>
          <a:prstGeom prst="rect">
            <a:avLst/>
          </a:prstGeom>
          <a:solidFill>
            <a:srgbClr val="C9A84C"/>
          </a:solidFill>
          <a:ln w="12700">
            <a:solidFill>
              <a:srgbClr val="C9A84C"/>
            </a:solidFill>
            <a:prstDash val="solid"/>
          </a:ln>
        </p:spPr>
        <p:txBody>
          <a:bodyPr/>
          <a:lstStyle/>
          <a:p>
            <a:endParaRPr lang="en-IN"/>
          </a:p>
        </p:txBody>
      </p:sp>
      <p:sp>
        <p:nvSpPr>
          <p:cNvPr id="53" name="Text 51"/>
          <p:cNvSpPr/>
          <p:nvPr/>
        </p:nvSpPr>
        <p:spPr>
          <a:xfrm>
            <a:off x="3246120" y="3889466"/>
            <a:ext cx="2468880" cy="274320"/>
          </a:xfrm>
          <a:prstGeom prst="rect">
            <a:avLst/>
          </a:prstGeom>
          <a:noFill/>
          <a:ln/>
        </p:spPr>
        <p:txBody>
          <a:bodyPr wrap="square" lIns="0" tIns="0" rIns="0" bIns="0" rtlCol="0" anchor="ctr"/>
          <a:lstStyle/>
          <a:p>
            <a:pPr marL="0" indent="0" algn="ctr">
              <a:buNone/>
            </a:pPr>
            <a:r>
              <a:rPr lang="en-US" sz="1100" b="1" dirty="0">
                <a:solidFill>
                  <a:srgbClr val="0D0D0D"/>
                </a:solidFill>
              </a:rPr>
              <a:t>Inventory</a:t>
            </a:r>
            <a:endParaRPr lang="en-US" sz="1100" dirty="0"/>
          </a:p>
        </p:txBody>
      </p:sp>
      <p:sp>
        <p:nvSpPr>
          <p:cNvPr id="54" name="Text 52"/>
          <p:cNvSpPr/>
          <p:nvPr/>
        </p:nvSpPr>
        <p:spPr>
          <a:xfrm>
            <a:off x="3355848" y="4244122"/>
            <a:ext cx="2249424" cy="192024"/>
          </a:xfrm>
          <a:prstGeom prst="rect">
            <a:avLst/>
          </a:prstGeom>
          <a:noFill/>
          <a:ln/>
        </p:spPr>
        <p:txBody>
          <a:bodyPr wrap="square" lIns="0" tIns="0" rIns="0" bIns="0" rtlCol="0" anchor="ctr"/>
          <a:lstStyle/>
          <a:p>
            <a:pPr marL="0" indent="0">
              <a:buNone/>
            </a:pPr>
            <a:r>
              <a:rPr lang="en-US" sz="1100" b="1" dirty="0">
                <a:solidFill>
                  <a:srgbClr val="E8C97A"/>
                </a:solidFill>
              </a:rPr>
              <a:t>SKU (PK)</a:t>
            </a:r>
            <a:endParaRPr lang="en-US" sz="1100" dirty="0"/>
          </a:p>
        </p:txBody>
      </p:sp>
      <p:sp>
        <p:nvSpPr>
          <p:cNvPr id="55" name="Text 53"/>
          <p:cNvSpPr/>
          <p:nvPr/>
        </p:nvSpPr>
        <p:spPr>
          <a:xfrm>
            <a:off x="3337560" y="4402836"/>
            <a:ext cx="2249424" cy="192024"/>
          </a:xfrm>
          <a:prstGeom prst="rect">
            <a:avLst/>
          </a:prstGeom>
          <a:noFill/>
          <a:ln/>
        </p:spPr>
        <p:txBody>
          <a:bodyPr wrap="square" lIns="0" tIns="0" rIns="0" bIns="0" rtlCol="0" anchor="ctr"/>
          <a:lstStyle/>
          <a:p>
            <a:pPr marL="0" indent="0">
              <a:buNone/>
            </a:pPr>
            <a:r>
              <a:rPr lang="en-US" sz="1100" dirty="0">
                <a:solidFill>
                  <a:srgbClr val="8B8FA8"/>
                </a:solidFill>
              </a:rPr>
              <a:t>BrandHouse</a:t>
            </a:r>
            <a:endParaRPr lang="en-US" sz="1100" dirty="0"/>
          </a:p>
        </p:txBody>
      </p:sp>
      <p:sp>
        <p:nvSpPr>
          <p:cNvPr id="56" name="Text 54"/>
          <p:cNvSpPr/>
          <p:nvPr/>
        </p:nvSpPr>
        <p:spPr>
          <a:xfrm>
            <a:off x="3319272" y="4830645"/>
            <a:ext cx="2249424" cy="192024"/>
          </a:xfrm>
          <a:prstGeom prst="rect">
            <a:avLst/>
          </a:prstGeom>
          <a:noFill/>
          <a:ln/>
        </p:spPr>
        <p:txBody>
          <a:bodyPr wrap="square" lIns="0" tIns="0" rIns="0" bIns="0" rtlCol="0" anchor="ctr"/>
          <a:lstStyle/>
          <a:p>
            <a:pPr marL="0" indent="0">
              <a:buNone/>
            </a:pPr>
            <a:r>
              <a:rPr lang="en-US" sz="1100" dirty="0">
                <a:solidFill>
                  <a:srgbClr val="8B8FA8"/>
                </a:solidFill>
              </a:rPr>
              <a:t>Category</a:t>
            </a:r>
            <a:endParaRPr lang="en-US" sz="1100" dirty="0"/>
          </a:p>
        </p:txBody>
      </p:sp>
      <p:sp>
        <p:nvSpPr>
          <p:cNvPr id="57" name="Text 55"/>
          <p:cNvSpPr/>
          <p:nvPr/>
        </p:nvSpPr>
        <p:spPr>
          <a:xfrm>
            <a:off x="3337560" y="4718304"/>
            <a:ext cx="2249424" cy="192024"/>
          </a:xfrm>
          <a:prstGeom prst="rect">
            <a:avLst/>
          </a:prstGeom>
          <a:noFill/>
          <a:ln/>
        </p:spPr>
        <p:txBody>
          <a:bodyPr wrap="square" lIns="0" tIns="0" rIns="0" bIns="0" rtlCol="0" anchor="ctr"/>
          <a:lstStyle/>
          <a:p>
            <a:pPr marL="0" indent="0">
              <a:buNone/>
            </a:pPr>
            <a:r>
              <a:rPr lang="en-US" sz="1100" dirty="0">
                <a:solidFill>
                  <a:srgbClr val="8B8FA8"/>
                </a:solidFill>
              </a:rPr>
              <a:t>Season</a:t>
            </a:r>
            <a:endParaRPr lang="en-US" sz="1100" dirty="0"/>
          </a:p>
        </p:txBody>
      </p:sp>
      <p:sp>
        <p:nvSpPr>
          <p:cNvPr id="58" name="Text 56"/>
          <p:cNvSpPr/>
          <p:nvPr/>
        </p:nvSpPr>
        <p:spPr>
          <a:xfrm>
            <a:off x="3337560" y="4572000"/>
            <a:ext cx="2249424" cy="192024"/>
          </a:xfrm>
          <a:prstGeom prst="rect">
            <a:avLst/>
          </a:prstGeom>
          <a:noFill/>
          <a:ln/>
        </p:spPr>
        <p:txBody>
          <a:bodyPr wrap="square" lIns="0" tIns="0" rIns="0" bIns="0" rtlCol="0" anchor="ctr"/>
          <a:lstStyle/>
          <a:p>
            <a:pPr marL="0" indent="0">
              <a:buNone/>
            </a:pPr>
            <a:r>
              <a:rPr lang="en-US" sz="1100" dirty="0">
                <a:solidFill>
                  <a:srgbClr val="8B8FA8"/>
                </a:solidFill>
              </a:rPr>
              <a:t>UnitsReceived</a:t>
            </a:r>
            <a:endParaRPr lang="en-US" sz="1100" dirty="0"/>
          </a:p>
        </p:txBody>
      </p:sp>
      <p:sp>
        <p:nvSpPr>
          <p:cNvPr id="59" name="Shape 57"/>
          <p:cNvSpPr/>
          <p:nvPr/>
        </p:nvSpPr>
        <p:spPr>
          <a:xfrm>
            <a:off x="6364224" y="2329325"/>
            <a:ext cx="2468880" cy="1600200"/>
          </a:xfrm>
          <a:prstGeom prst="rect">
            <a:avLst/>
          </a:prstGeom>
          <a:solidFill>
            <a:srgbClr val="1A1F2E"/>
          </a:solidFill>
          <a:ln w="12700">
            <a:solidFill>
              <a:srgbClr val="EF9F27"/>
            </a:solidFill>
            <a:prstDash val="solid"/>
          </a:ln>
          <a:effectLst>
            <a:outerShdw blurRad="101600" dist="38100" dir="8100000" algn="bl" rotWithShape="0">
              <a:srgbClr val="000000">
                <a:alpha val="25000"/>
              </a:srgbClr>
            </a:outerShdw>
          </a:effectLst>
        </p:spPr>
        <p:txBody>
          <a:bodyPr/>
          <a:lstStyle/>
          <a:p>
            <a:endParaRPr lang="en-IN"/>
          </a:p>
        </p:txBody>
      </p:sp>
      <p:sp>
        <p:nvSpPr>
          <p:cNvPr id="60" name="Shape 58"/>
          <p:cNvSpPr/>
          <p:nvPr/>
        </p:nvSpPr>
        <p:spPr>
          <a:xfrm>
            <a:off x="6364224" y="2341606"/>
            <a:ext cx="2468880" cy="274320"/>
          </a:xfrm>
          <a:prstGeom prst="rect">
            <a:avLst/>
          </a:prstGeom>
          <a:solidFill>
            <a:srgbClr val="EF9F27"/>
          </a:solidFill>
          <a:ln w="12700">
            <a:solidFill>
              <a:srgbClr val="EF9F27"/>
            </a:solidFill>
            <a:prstDash val="solid"/>
          </a:ln>
        </p:spPr>
        <p:txBody>
          <a:bodyPr/>
          <a:lstStyle/>
          <a:p>
            <a:endParaRPr lang="en-IN"/>
          </a:p>
        </p:txBody>
      </p:sp>
      <p:sp>
        <p:nvSpPr>
          <p:cNvPr id="61" name="Text 59"/>
          <p:cNvSpPr/>
          <p:nvPr/>
        </p:nvSpPr>
        <p:spPr>
          <a:xfrm>
            <a:off x="6236208" y="2327468"/>
            <a:ext cx="2468880" cy="274320"/>
          </a:xfrm>
          <a:prstGeom prst="rect">
            <a:avLst/>
          </a:prstGeom>
          <a:noFill/>
          <a:ln/>
        </p:spPr>
        <p:txBody>
          <a:bodyPr wrap="square" lIns="0" tIns="0" rIns="0" bIns="0" rtlCol="0" anchor="ctr"/>
          <a:lstStyle/>
          <a:p>
            <a:pPr marL="0" indent="0" algn="ctr">
              <a:buNone/>
            </a:pPr>
            <a:r>
              <a:rPr lang="en-US" sz="1100" b="1" dirty="0">
                <a:solidFill>
                  <a:srgbClr val="0D0D0D"/>
                </a:solidFill>
              </a:rPr>
              <a:t>WebAnalytics</a:t>
            </a:r>
            <a:endParaRPr lang="en-US" sz="1100" dirty="0"/>
          </a:p>
        </p:txBody>
      </p:sp>
      <p:sp>
        <p:nvSpPr>
          <p:cNvPr id="62" name="Text 60"/>
          <p:cNvSpPr/>
          <p:nvPr/>
        </p:nvSpPr>
        <p:spPr>
          <a:xfrm>
            <a:off x="6455664" y="2599931"/>
            <a:ext cx="2249424" cy="192024"/>
          </a:xfrm>
          <a:prstGeom prst="rect">
            <a:avLst/>
          </a:prstGeom>
          <a:noFill/>
          <a:ln/>
        </p:spPr>
        <p:txBody>
          <a:bodyPr wrap="square" lIns="0" tIns="0" rIns="0" bIns="0" rtlCol="0" anchor="ctr"/>
          <a:lstStyle/>
          <a:p>
            <a:pPr marL="0" indent="0">
              <a:buNone/>
            </a:pPr>
            <a:r>
              <a:rPr lang="en-US" sz="1100" b="1" dirty="0">
                <a:solidFill>
                  <a:srgbClr val="E8C97A"/>
                </a:solidFill>
              </a:rPr>
              <a:t>Date (PK)</a:t>
            </a:r>
            <a:endParaRPr lang="en-US" sz="1100" dirty="0"/>
          </a:p>
        </p:txBody>
      </p:sp>
      <p:sp>
        <p:nvSpPr>
          <p:cNvPr id="63" name="Text 61"/>
          <p:cNvSpPr/>
          <p:nvPr/>
        </p:nvSpPr>
        <p:spPr>
          <a:xfrm>
            <a:off x="6409944" y="2795643"/>
            <a:ext cx="2249424" cy="192024"/>
          </a:xfrm>
          <a:prstGeom prst="rect">
            <a:avLst/>
          </a:prstGeom>
          <a:noFill/>
          <a:ln/>
        </p:spPr>
        <p:txBody>
          <a:bodyPr wrap="square" lIns="0" tIns="0" rIns="0" bIns="0" rtlCol="0" anchor="ctr"/>
          <a:lstStyle/>
          <a:p>
            <a:pPr marL="0" indent="0">
              <a:buNone/>
            </a:pPr>
            <a:r>
              <a:rPr lang="en-US" sz="1100" dirty="0">
                <a:solidFill>
                  <a:srgbClr val="8B8FA8"/>
                </a:solidFill>
              </a:rPr>
              <a:t>Channel</a:t>
            </a:r>
            <a:endParaRPr lang="en-US" sz="1100" dirty="0"/>
          </a:p>
        </p:txBody>
      </p:sp>
      <p:sp>
        <p:nvSpPr>
          <p:cNvPr id="64" name="Text 62"/>
          <p:cNvSpPr/>
          <p:nvPr/>
        </p:nvSpPr>
        <p:spPr>
          <a:xfrm>
            <a:off x="6428231" y="2980290"/>
            <a:ext cx="2249424" cy="192024"/>
          </a:xfrm>
          <a:prstGeom prst="rect">
            <a:avLst/>
          </a:prstGeom>
          <a:noFill/>
          <a:ln/>
        </p:spPr>
        <p:txBody>
          <a:bodyPr wrap="square" lIns="0" tIns="0" rIns="0" bIns="0" rtlCol="0" anchor="ctr"/>
          <a:lstStyle/>
          <a:p>
            <a:pPr marL="0" indent="0">
              <a:buNone/>
            </a:pPr>
            <a:r>
              <a:rPr lang="en-US" sz="1100" dirty="0">
                <a:solidFill>
                  <a:srgbClr val="8B8FA8"/>
                </a:solidFill>
              </a:rPr>
              <a:t>SessionCount</a:t>
            </a:r>
            <a:endParaRPr lang="en-US" sz="1100" dirty="0"/>
          </a:p>
        </p:txBody>
      </p:sp>
      <p:sp>
        <p:nvSpPr>
          <p:cNvPr id="65" name="Text 63"/>
          <p:cNvSpPr/>
          <p:nvPr/>
        </p:nvSpPr>
        <p:spPr>
          <a:xfrm>
            <a:off x="6409944" y="3184288"/>
            <a:ext cx="2249424" cy="192024"/>
          </a:xfrm>
          <a:prstGeom prst="rect">
            <a:avLst/>
          </a:prstGeom>
          <a:noFill/>
          <a:ln/>
        </p:spPr>
        <p:txBody>
          <a:bodyPr wrap="square" lIns="0" tIns="0" rIns="0" bIns="0" rtlCol="0" anchor="ctr"/>
          <a:lstStyle/>
          <a:p>
            <a:pPr marL="0" indent="0">
              <a:buNone/>
            </a:pPr>
            <a:r>
              <a:rPr lang="en-US" sz="1100" dirty="0">
                <a:solidFill>
                  <a:srgbClr val="8B8FA8"/>
                </a:solidFill>
              </a:rPr>
              <a:t>PageViews</a:t>
            </a:r>
            <a:endParaRPr lang="en-US" sz="1100" dirty="0"/>
          </a:p>
        </p:txBody>
      </p:sp>
      <p:sp>
        <p:nvSpPr>
          <p:cNvPr id="66" name="Text 64"/>
          <p:cNvSpPr/>
          <p:nvPr/>
        </p:nvSpPr>
        <p:spPr>
          <a:xfrm>
            <a:off x="6409944" y="3396996"/>
            <a:ext cx="2249424" cy="192024"/>
          </a:xfrm>
          <a:prstGeom prst="rect">
            <a:avLst/>
          </a:prstGeom>
          <a:noFill/>
          <a:ln/>
        </p:spPr>
        <p:txBody>
          <a:bodyPr wrap="square" lIns="0" tIns="0" rIns="0" bIns="0" rtlCol="0" anchor="ctr"/>
          <a:lstStyle/>
          <a:p>
            <a:pPr marL="0" indent="0">
              <a:buNone/>
            </a:pPr>
            <a:r>
              <a:rPr lang="en-US" sz="1100" dirty="0">
                <a:solidFill>
                  <a:srgbClr val="8B8FA8"/>
                </a:solidFill>
              </a:rPr>
              <a:t>BounceRate</a:t>
            </a:r>
            <a:endParaRPr lang="en-US" sz="1100" dirty="0"/>
          </a:p>
        </p:txBody>
      </p:sp>
      <p:sp>
        <p:nvSpPr>
          <p:cNvPr id="300" name="Conn DimClient"/>
          <p:cNvSpPr>
            <a:spLocks noChangeArrowheads="1"/>
          </p:cNvSpPr>
          <p:nvPr/>
        </p:nvSpPr>
        <p:spPr>
          <a:xfrm>
            <a:off x="2651760" y="1234440"/>
            <a:ext cx="594360" cy="786384"/>
          </a:xfrm>
          <a:prstGeom prst="line">
            <a:avLst/>
          </a:prstGeom>
          <a:noFill/>
          <a:ln w="25400">
            <a:solidFill>
              <a:srgbClr val="C9A84C"/>
            </a:solidFill>
            <a:prstDash val="solid"/>
            <a:tailEnd type="arrow" w="med" len="med"/>
          </a:ln>
        </p:spPr>
        <p:txBody>
          <a:bodyPr/>
          <a:lstStyle/>
          <a:p>
            <a:endParaRPr lang="en-IN"/>
          </a:p>
        </p:txBody>
      </p:sp>
      <p:sp>
        <p:nvSpPr>
          <p:cNvPr id="302" name="Conn DimCalendar"/>
          <p:cNvSpPr>
            <a:spLocks noChangeArrowheads="1"/>
          </p:cNvSpPr>
          <p:nvPr/>
        </p:nvSpPr>
        <p:spPr>
          <a:xfrm flipH="1">
            <a:off x="5897880" y="274320"/>
            <a:ext cx="502920" cy="1746504"/>
          </a:xfrm>
          <a:prstGeom prst="line">
            <a:avLst/>
          </a:prstGeom>
          <a:noFill/>
          <a:ln w="25400">
            <a:solidFill>
              <a:srgbClr val="C9A84C"/>
            </a:solidFill>
            <a:prstDash val="solid"/>
            <a:tailEnd type="arrow" w="med" len="med"/>
          </a:ln>
        </p:spPr>
        <p:txBody>
          <a:bodyPr/>
          <a:lstStyle/>
          <a:p>
            <a:endParaRPr lang="en-IN"/>
          </a:p>
        </p:txBody>
      </p:sp>
      <p:sp>
        <p:nvSpPr>
          <p:cNvPr id="304" name="Conn WebAnalytics"/>
          <p:cNvSpPr>
            <a:spLocks noChangeArrowheads="1"/>
          </p:cNvSpPr>
          <p:nvPr/>
        </p:nvSpPr>
        <p:spPr>
          <a:xfrm flipH="1" flipV="1">
            <a:off x="2660904" y="4187682"/>
            <a:ext cx="576072" cy="68580"/>
          </a:xfrm>
          <a:prstGeom prst="line">
            <a:avLst/>
          </a:prstGeom>
          <a:noFill/>
          <a:ln w="25400">
            <a:solidFill>
              <a:srgbClr val="C9A84C"/>
            </a:solidFill>
            <a:prstDash val="solid"/>
            <a:tailEnd type="arrow" w="med" len="med"/>
          </a:ln>
        </p:spPr>
        <p:txBody>
          <a:bodyPr/>
          <a:lstStyle/>
          <a:p>
            <a:endParaRPr lang="en-IN"/>
          </a:p>
        </p:txBody>
      </p:sp>
      <p:sp>
        <p:nvSpPr>
          <p:cNvPr id="69" name="Conn DimProduct"/>
          <p:cNvSpPr>
            <a:spLocks noChangeArrowheads="1"/>
          </p:cNvSpPr>
          <p:nvPr/>
        </p:nvSpPr>
        <p:spPr>
          <a:xfrm flipV="1">
            <a:off x="2670048" y="3291840"/>
            <a:ext cx="576072" cy="696251"/>
          </a:xfrm>
          <a:prstGeom prst="line">
            <a:avLst/>
          </a:prstGeom>
          <a:noFill/>
          <a:ln w="25400">
            <a:solidFill>
              <a:srgbClr val="C9A84C"/>
            </a:solidFill>
            <a:prstDash val="solid"/>
            <a:tailEnd type="arrow" w="med" len="med"/>
          </a:ln>
        </p:spPr>
        <p:txBody>
          <a:bodyPr/>
          <a:lstStyle/>
          <a:p>
            <a:endParaRPr lang="en-IN"/>
          </a:p>
        </p:txBody>
      </p:sp>
      <p:sp>
        <p:nvSpPr>
          <p:cNvPr id="72" name="Conn WebAnalytics">
            <a:extLst>
              <a:ext uri="{FF2B5EF4-FFF2-40B4-BE49-F238E27FC236}">
                <a16:creationId xmlns:a16="http://schemas.microsoft.com/office/drawing/2014/main" id="{B6A2449B-C3E7-000A-7589-17B79D9CA297}"/>
              </a:ext>
            </a:extLst>
          </p:cNvPr>
          <p:cNvSpPr>
            <a:spLocks noChangeArrowheads="1"/>
          </p:cNvSpPr>
          <p:nvPr/>
        </p:nvSpPr>
        <p:spPr>
          <a:xfrm flipV="1">
            <a:off x="7370064" y="1828799"/>
            <a:ext cx="91440" cy="470916"/>
          </a:xfrm>
          <a:prstGeom prst="line">
            <a:avLst/>
          </a:prstGeom>
          <a:noFill/>
          <a:ln w="25400">
            <a:solidFill>
              <a:srgbClr val="C9A84C"/>
            </a:solidFill>
            <a:prstDash val="solid"/>
            <a:tailEnd type="arrow" w="med" len="med"/>
          </a:ln>
        </p:spPr>
        <p:txBody>
          <a:bodyPr/>
          <a:lstStyle/>
          <a:p>
            <a:endParaRPr lang="en-IN"/>
          </a:p>
        </p:txBody>
      </p:sp>
      <p:sp>
        <p:nvSpPr>
          <p:cNvPr id="73" name="Shape 49">
            <a:extLst>
              <a:ext uri="{FF2B5EF4-FFF2-40B4-BE49-F238E27FC236}">
                <a16:creationId xmlns:a16="http://schemas.microsoft.com/office/drawing/2014/main" id="{50A24204-0A07-88A4-DC07-E42E5D003611}"/>
              </a:ext>
            </a:extLst>
          </p:cNvPr>
          <p:cNvSpPr/>
          <p:nvPr/>
        </p:nvSpPr>
        <p:spPr>
          <a:xfrm>
            <a:off x="6309360" y="4000500"/>
            <a:ext cx="2468880" cy="1013678"/>
          </a:xfrm>
          <a:prstGeom prst="rect">
            <a:avLst/>
          </a:prstGeom>
          <a:solidFill>
            <a:srgbClr val="1A1F2E"/>
          </a:solidFill>
          <a:ln w="12700">
            <a:solidFill>
              <a:srgbClr val="C9A84C"/>
            </a:solidFill>
            <a:prstDash val="solid"/>
          </a:ln>
          <a:effectLst>
            <a:outerShdw blurRad="101600" dist="38100" dir="8100000" algn="bl" rotWithShape="0">
              <a:srgbClr val="000000">
                <a:alpha val="25000"/>
              </a:srgbClr>
            </a:outerShdw>
          </a:effectLst>
        </p:spPr>
        <p:txBody>
          <a:bodyPr/>
          <a:lstStyle/>
          <a:p>
            <a:endParaRPr lang="en-IN"/>
          </a:p>
        </p:txBody>
      </p:sp>
      <p:sp>
        <p:nvSpPr>
          <p:cNvPr id="76" name="Shape 50">
            <a:extLst>
              <a:ext uri="{FF2B5EF4-FFF2-40B4-BE49-F238E27FC236}">
                <a16:creationId xmlns:a16="http://schemas.microsoft.com/office/drawing/2014/main" id="{F79AEEA8-EAC5-012B-9B97-8053DBF78A95}"/>
              </a:ext>
            </a:extLst>
          </p:cNvPr>
          <p:cNvSpPr/>
          <p:nvPr/>
        </p:nvSpPr>
        <p:spPr>
          <a:xfrm>
            <a:off x="6313279" y="4016067"/>
            <a:ext cx="2459736" cy="274320"/>
          </a:xfrm>
          <a:prstGeom prst="rect">
            <a:avLst/>
          </a:prstGeom>
          <a:solidFill>
            <a:srgbClr val="C9A84C"/>
          </a:solidFill>
          <a:ln w="12700">
            <a:solidFill>
              <a:srgbClr val="C9A84C"/>
            </a:solidFill>
            <a:prstDash val="solid"/>
          </a:ln>
        </p:spPr>
        <p:txBody>
          <a:bodyPr/>
          <a:lstStyle/>
          <a:p>
            <a:endParaRPr lang="en-IN"/>
          </a:p>
        </p:txBody>
      </p:sp>
      <p:sp>
        <p:nvSpPr>
          <p:cNvPr id="77" name="Text 52">
            <a:extLst>
              <a:ext uri="{FF2B5EF4-FFF2-40B4-BE49-F238E27FC236}">
                <a16:creationId xmlns:a16="http://schemas.microsoft.com/office/drawing/2014/main" id="{AA931DF4-C78B-5D26-9FBB-09607B224BED}"/>
              </a:ext>
            </a:extLst>
          </p:cNvPr>
          <p:cNvSpPr/>
          <p:nvPr/>
        </p:nvSpPr>
        <p:spPr>
          <a:xfrm>
            <a:off x="6364224" y="4360382"/>
            <a:ext cx="2249424" cy="192024"/>
          </a:xfrm>
          <a:prstGeom prst="rect">
            <a:avLst/>
          </a:prstGeom>
          <a:noFill/>
          <a:ln/>
        </p:spPr>
        <p:txBody>
          <a:bodyPr wrap="square" lIns="0" tIns="0" rIns="0" bIns="0" rtlCol="0" anchor="ctr"/>
          <a:lstStyle/>
          <a:p>
            <a:pPr marL="0" indent="0">
              <a:buNone/>
            </a:pPr>
            <a:r>
              <a:rPr lang="en-US" sz="1100" b="1" dirty="0">
                <a:solidFill>
                  <a:srgbClr val="E8C97A"/>
                </a:solidFill>
              </a:rPr>
              <a:t>Target  (PK)</a:t>
            </a:r>
            <a:endParaRPr lang="en-US" sz="1100" dirty="0"/>
          </a:p>
        </p:txBody>
      </p:sp>
      <p:sp>
        <p:nvSpPr>
          <p:cNvPr id="78" name="Text 53">
            <a:extLst>
              <a:ext uri="{FF2B5EF4-FFF2-40B4-BE49-F238E27FC236}">
                <a16:creationId xmlns:a16="http://schemas.microsoft.com/office/drawing/2014/main" id="{C85E7299-71A0-6DD7-A7D8-D504D205DDF6}"/>
              </a:ext>
            </a:extLst>
          </p:cNvPr>
          <p:cNvSpPr/>
          <p:nvPr/>
        </p:nvSpPr>
        <p:spPr>
          <a:xfrm>
            <a:off x="6364224" y="4543262"/>
            <a:ext cx="2249424" cy="192024"/>
          </a:xfrm>
          <a:prstGeom prst="rect">
            <a:avLst/>
          </a:prstGeom>
          <a:noFill/>
          <a:ln/>
        </p:spPr>
        <p:txBody>
          <a:bodyPr wrap="square" lIns="0" tIns="0" rIns="0" bIns="0" rtlCol="0" anchor="ctr"/>
          <a:lstStyle/>
          <a:p>
            <a:pPr marL="0" indent="0">
              <a:buNone/>
            </a:pPr>
            <a:r>
              <a:rPr lang="en-US" sz="1100" dirty="0" err="1">
                <a:solidFill>
                  <a:srgbClr val="8B8FA8"/>
                </a:solidFill>
              </a:rPr>
              <a:t>BrandHouse</a:t>
            </a:r>
            <a:endParaRPr lang="en-US" sz="1100" dirty="0">
              <a:solidFill>
                <a:srgbClr val="8B8FA8"/>
              </a:solidFill>
            </a:endParaRPr>
          </a:p>
        </p:txBody>
      </p:sp>
      <p:sp>
        <p:nvSpPr>
          <p:cNvPr id="79" name="Text 53">
            <a:extLst>
              <a:ext uri="{FF2B5EF4-FFF2-40B4-BE49-F238E27FC236}">
                <a16:creationId xmlns:a16="http://schemas.microsoft.com/office/drawing/2014/main" id="{3BA388D8-92A6-2EDF-2BF2-049751A32D42}"/>
              </a:ext>
            </a:extLst>
          </p:cNvPr>
          <p:cNvSpPr/>
          <p:nvPr/>
        </p:nvSpPr>
        <p:spPr>
          <a:xfrm>
            <a:off x="6355080" y="4718304"/>
            <a:ext cx="2249424" cy="192024"/>
          </a:xfrm>
          <a:prstGeom prst="rect">
            <a:avLst/>
          </a:prstGeom>
          <a:noFill/>
          <a:ln/>
        </p:spPr>
        <p:txBody>
          <a:bodyPr wrap="square" lIns="0" tIns="0" rIns="0" bIns="0" rtlCol="0" anchor="ctr"/>
          <a:lstStyle/>
          <a:p>
            <a:pPr marL="0" indent="0">
              <a:buNone/>
            </a:pPr>
            <a:r>
              <a:rPr lang="en-US" sz="1100" dirty="0" err="1">
                <a:solidFill>
                  <a:srgbClr val="8B8FA8"/>
                </a:solidFill>
              </a:rPr>
              <a:t>TargetRevenue_EUR</a:t>
            </a:r>
            <a:endParaRPr lang="en-US" sz="1100" dirty="0"/>
          </a:p>
        </p:txBody>
      </p:sp>
      <p:sp>
        <p:nvSpPr>
          <p:cNvPr id="80" name="Text 51">
            <a:extLst>
              <a:ext uri="{FF2B5EF4-FFF2-40B4-BE49-F238E27FC236}">
                <a16:creationId xmlns:a16="http://schemas.microsoft.com/office/drawing/2014/main" id="{4C58093C-2A6E-586D-D676-04A475DBB971}"/>
              </a:ext>
            </a:extLst>
          </p:cNvPr>
          <p:cNvSpPr/>
          <p:nvPr/>
        </p:nvSpPr>
        <p:spPr>
          <a:xfrm>
            <a:off x="6254496" y="4000500"/>
            <a:ext cx="2468880" cy="274320"/>
          </a:xfrm>
          <a:prstGeom prst="rect">
            <a:avLst/>
          </a:prstGeom>
          <a:noFill/>
          <a:ln/>
        </p:spPr>
        <p:txBody>
          <a:bodyPr wrap="square" lIns="0" tIns="0" rIns="0" bIns="0" rtlCol="0" anchor="ctr"/>
          <a:lstStyle/>
          <a:p>
            <a:pPr marL="0" indent="0" algn="ctr">
              <a:buNone/>
            </a:pPr>
            <a:r>
              <a:rPr lang="en-US" sz="1100" b="1" dirty="0">
                <a:solidFill>
                  <a:srgbClr val="0D0D0D"/>
                </a:solidFill>
              </a:rPr>
              <a:t>Targets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9A84C"/>
          </a:solidFill>
          <a:ln w="12700">
            <a:solidFill>
              <a:srgbClr val="C9A84C"/>
            </a:solidFill>
            <a:prstDash val="solid"/>
          </a:ln>
        </p:spPr>
        <p:txBody>
          <a:bodyPr/>
          <a:lstStyle/>
          <a:p>
            <a:endParaRPr lang="en-IN"/>
          </a:p>
        </p:txBody>
      </p:sp>
      <p:sp>
        <p:nvSpPr>
          <p:cNvPr id="3" name="Shape 1"/>
          <p:cNvSpPr/>
          <p:nvPr/>
        </p:nvSpPr>
        <p:spPr>
          <a:xfrm>
            <a:off x="0" y="5074920"/>
            <a:ext cx="9144000" cy="68580"/>
          </a:xfrm>
          <a:prstGeom prst="rect">
            <a:avLst/>
          </a:prstGeom>
          <a:solidFill>
            <a:srgbClr val="1A1F2E"/>
          </a:solidFill>
          <a:ln w="12700">
            <a:solidFill>
              <a:srgbClr val="1A1F2E"/>
            </a:solidFill>
            <a:prstDash val="solid"/>
          </a:ln>
        </p:spPr>
        <p:txBody>
          <a:bodyPr/>
          <a:lstStyle/>
          <a:p>
            <a:endParaRPr lang="en-IN"/>
          </a:p>
        </p:txBody>
      </p:sp>
      <p:sp>
        <p:nvSpPr>
          <p:cNvPr id="4" name="Text 2"/>
          <p:cNvSpPr/>
          <p:nvPr/>
        </p:nvSpPr>
        <p:spPr>
          <a:xfrm>
            <a:off x="274320" y="5074920"/>
            <a:ext cx="6400800" cy="68580"/>
          </a:xfrm>
          <a:prstGeom prst="rect">
            <a:avLst/>
          </a:prstGeom>
          <a:noFill/>
          <a:ln/>
        </p:spPr>
        <p:txBody>
          <a:bodyPr wrap="square" lIns="0" tIns="0" rIns="0" bIns="0" rtlCol="0" anchor="ctr"/>
          <a:lstStyle/>
          <a:p>
            <a:pPr marL="0" indent="0">
              <a:buNone/>
            </a:pPr>
            <a:r>
              <a:rPr lang="en-US" sz="700" dirty="0">
                <a:solidFill>
                  <a:srgbClr val="8B8FA8"/>
                </a:solidFill>
              </a:rPr>
              <a:t>Luxury Fashion Performance Intelligence</a:t>
            </a:r>
            <a:endParaRPr lang="en-US" sz="700" dirty="0"/>
          </a:p>
        </p:txBody>
      </p:sp>
      <p:sp>
        <p:nvSpPr>
          <p:cNvPr id="6" name="Shape 4"/>
          <p:cNvSpPr/>
          <p:nvPr/>
        </p:nvSpPr>
        <p:spPr>
          <a:xfrm>
            <a:off x="365760" y="164592"/>
            <a:ext cx="2194560" cy="201168"/>
          </a:xfrm>
          <a:prstGeom prst="rect">
            <a:avLst/>
          </a:prstGeom>
          <a:solidFill>
            <a:srgbClr val="C9A84C"/>
          </a:solidFill>
          <a:ln w="12700">
            <a:solidFill>
              <a:srgbClr val="C9A84C"/>
            </a:solidFill>
            <a:prstDash val="solid"/>
          </a:ln>
        </p:spPr>
        <p:txBody>
          <a:bodyPr/>
          <a:lstStyle/>
          <a:p>
            <a:endParaRPr lang="en-IN"/>
          </a:p>
        </p:txBody>
      </p:sp>
      <p:sp>
        <p:nvSpPr>
          <p:cNvPr id="7" name="Text 5"/>
          <p:cNvSpPr/>
          <p:nvPr/>
        </p:nvSpPr>
        <p:spPr>
          <a:xfrm>
            <a:off x="365760" y="164592"/>
            <a:ext cx="2194560" cy="201168"/>
          </a:xfrm>
          <a:prstGeom prst="rect">
            <a:avLst/>
          </a:prstGeom>
          <a:noFill/>
          <a:ln/>
        </p:spPr>
        <p:txBody>
          <a:bodyPr wrap="square" lIns="0" tIns="0" rIns="0" bIns="0" rtlCol="0" anchor="ctr"/>
          <a:lstStyle/>
          <a:p>
            <a:pPr marL="0" indent="0" algn="ctr">
              <a:buNone/>
            </a:pPr>
            <a:r>
              <a:rPr lang="en-US" sz="750" b="1" kern="0" spc="200" dirty="0">
                <a:solidFill>
                  <a:srgbClr val="0D0D0D"/>
                </a:solidFill>
              </a:rPr>
              <a:t>07  ·  DAX MEASURES</a:t>
            </a:r>
            <a:endParaRPr lang="en-US" sz="750" dirty="0"/>
          </a:p>
        </p:txBody>
      </p:sp>
      <p:sp>
        <p:nvSpPr>
          <p:cNvPr id="8" name="Text 6"/>
          <p:cNvSpPr/>
          <p:nvPr/>
        </p:nvSpPr>
        <p:spPr>
          <a:xfrm>
            <a:off x="365760" y="457200"/>
            <a:ext cx="8229600" cy="457200"/>
          </a:xfrm>
          <a:prstGeom prst="rect">
            <a:avLst/>
          </a:prstGeom>
          <a:noFill/>
          <a:ln/>
        </p:spPr>
        <p:txBody>
          <a:bodyPr wrap="square" lIns="0" tIns="0" rIns="0" bIns="0" rtlCol="0" anchor="ctr"/>
          <a:lstStyle/>
          <a:p>
            <a:pPr marL="0" indent="0">
              <a:buNone/>
            </a:pPr>
            <a:r>
              <a:rPr lang="en-US" sz="2600" b="1" dirty="0">
                <a:solidFill>
                  <a:srgbClr val="F5F0E8"/>
                </a:solidFill>
              </a:rPr>
              <a:t>DAX Measures &amp; Calculations</a:t>
            </a:r>
            <a:endParaRPr lang="en-US" sz="2600" dirty="0"/>
          </a:p>
        </p:txBody>
      </p:sp>
      <p:sp>
        <p:nvSpPr>
          <p:cNvPr id="9" name="Text 7"/>
          <p:cNvSpPr/>
          <p:nvPr/>
        </p:nvSpPr>
        <p:spPr>
          <a:xfrm>
            <a:off x="365760" y="896112"/>
            <a:ext cx="8229600" cy="201168"/>
          </a:xfrm>
          <a:prstGeom prst="rect">
            <a:avLst/>
          </a:prstGeom>
          <a:noFill/>
          <a:ln/>
        </p:spPr>
        <p:txBody>
          <a:bodyPr wrap="square" lIns="0" tIns="0" rIns="0" bIns="0" rtlCol="0" anchor="ctr"/>
          <a:lstStyle/>
          <a:p>
            <a:pPr marL="0" indent="0">
              <a:buNone/>
            </a:pPr>
            <a:r>
              <a:rPr lang="en-US" sz="1100" dirty="0">
                <a:solidFill>
                  <a:srgbClr val="8B8FA8"/>
                </a:solidFill>
              </a:rPr>
              <a:t>Core KPI formulas powering the 6-page dashboard</a:t>
            </a:r>
            <a:endParaRPr lang="en-US" sz="1100" dirty="0"/>
          </a:p>
        </p:txBody>
      </p:sp>
      <p:sp>
        <p:nvSpPr>
          <p:cNvPr id="10" name="Shape 8"/>
          <p:cNvSpPr/>
          <p:nvPr/>
        </p:nvSpPr>
        <p:spPr>
          <a:xfrm>
            <a:off x="365760" y="1207008"/>
            <a:ext cx="2011680" cy="841248"/>
          </a:xfrm>
          <a:prstGeom prst="rect">
            <a:avLst/>
          </a:prstGeom>
          <a:solidFill>
            <a:srgbClr val="1A1F2E"/>
          </a:solidFill>
          <a:ln w="12700">
            <a:solidFill>
              <a:srgbClr val="2A2F40"/>
            </a:solidFill>
            <a:prstDash val="solid"/>
          </a:ln>
          <a:effectLst>
            <a:outerShdw blurRad="101600" dist="38100" dir="8100000" algn="bl" rotWithShape="0">
              <a:srgbClr val="000000">
                <a:alpha val="25000"/>
              </a:srgbClr>
            </a:outerShdw>
          </a:effectLst>
        </p:spPr>
        <p:txBody>
          <a:bodyPr/>
          <a:lstStyle/>
          <a:p>
            <a:endParaRPr lang="en-IN"/>
          </a:p>
        </p:txBody>
      </p:sp>
      <p:sp>
        <p:nvSpPr>
          <p:cNvPr id="11" name="Shape 9"/>
          <p:cNvSpPr/>
          <p:nvPr/>
        </p:nvSpPr>
        <p:spPr>
          <a:xfrm>
            <a:off x="365760" y="1207008"/>
            <a:ext cx="54864" cy="841248"/>
          </a:xfrm>
          <a:prstGeom prst="rect">
            <a:avLst/>
          </a:prstGeom>
          <a:solidFill>
            <a:srgbClr val="C9A84C"/>
          </a:solidFill>
          <a:ln w="12700">
            <a:solidFill>
              <a:srgbClr val="C9A84C"/>
            </a:solidFill>
            <a:prstDash val="solid"/>
          </a:ln>
        </p:spPr>
        <p:txBody>
          <a:bodyPr/>
          <a:lstStyle/>
          <a:p>
            <a:endParaRPr lang="en-IN"/>
          </a:p>
        </p:txBody>
      </p:sp>
      <p:sp>
        <p:nvSpPr>
          <p:cNvPr id="12" name="Text 10"/>
          <p:cNvSpPr/>
          <p:nvPr/>
        </p:nvSpPr>
        <p:spPr>
          <a:xfrm>
            <a:off x="530352" y="1271016"/>
            <a:ext cx="1737360" cy="219456"/>
          </a:xfrm>
          <a:prstGeom prst="rect">
            <a:avLst/>
          </a:prstGeom>
          <a:noFill/>
          <a:ln/>
        </p:spPr>
        <p:txBody>
          <a:bodyPr wrap="square" lIns="0" tIns="0" rIns="0" bIns="0" rtlCol="0" anchor="ctr"/>
          <a:lstStyle/>
          <a:p>
            <a:pPr marL="0" indent="0">
              <a:buNone/>
            </a:pPr>
            <a:r>
              <a:rPr lang="en-US" sz="950" b="1" dirty="0">
                <a:solidFill>
                  <a:srgbClr val="F5F0E8"/>
                </a:solidFill>
              </a:rPr>
              <a:t>GMV</a:t>
            </a:r>
            <a:endParaRPr lang="en-US" sz="950" dirty="0"/>
          </a:p>
        </p:txBody>
      </p:sp>
      <p:sp>
        <p:nvSpPr>
          <p:cNvPr id="13" name="Text 11"/>
          <p:cNvSpPr/>
          <p:nvPr/>
        </p:nvSpPr>
        <p:spPr>
          <a:xfrm>
            <a:off x="530352" y="1508760"/>
            <a:ext cx="1737360" cy="475488"/>
          </a:xfrm>
          <a:prstGeom prst="rect">
            <a:avLst/>
          </a:prstGeom>
          <a:noFill/>
          <a:ln/>
        </p:spPr>
        <p:txBody>
          <a:bodyPr wrap="square" lIns="0" tIns="0" rIns="0" bIns="0" rtlCol="0" anchor="ctr"/>
          <a:lstStyle/>
          <a:p>
            <a:pPr marL="0" indent="0">
              <a:lnSpc>
                <a:spcPct val="125000"/>
              </a:lnSpc>
              <a:buNone/>
            </a:pPr>
            <a:r>
              <a:rPr lang="en-US" sz="700" dirty="0">
                <a:solidFill>
                  <a:srgbClr val="8B8FA8"/>
                </a:solidFill>
                <a:latin typeface="Consolas" pitchFamily="34" charset="0"/>
                <a:ea typeface="Consolas" pitchFamily="34" charset="-122"/>
                <a:cs typeface="Consolas" pitchFamily="34" charset="-120"/>
              </a:rPr>
              <a:t>SUMX(Orders,[Qty]*[UnitPrice_EUR])</a:t>
            </a:r>
            <a:endParaRPr lang="en-US" sz="700" dirty="0"/>
          </a:p>
        </p:txBody>
      </p:sp>
      <p:sp>
        <p:nvSpPr>
          <p:cNvPr id="14" name="Shape 12"/>
          <p:cNvSpPr/>
          <p:nvPr/>
        </p:nvSpPr>
        <p:spPr>
          <a:xfrm>
            <a:off x="2542032" y="1207008"/>
            <a:ext cx="2011680" cy="841248"/>
          </a:xfrm>
          <a:prstGeom prst="rect">
            <a:avLst/>
          </a:prstGeom>
          <a:solidFill>
            <a:srgbClr val="1A1F2E"/>
          </a:solidFill>
          <a:ln w="12700">
            <a:solidFill>
              <a:srgbClr val="2A2F40"/>
            </a:solidFill>
            <a:prstDash val="solid"/>
          </a:ln>
          <a:effectLst>
            <a:outerShdw blurRad="101600" dist="38100" dir="8100000" algn="bl" rotWithShape="0">
              <a:srgbClr val="000000">
                <a:alpha val="25000"/>
              </a:srgbClr>
            </a:outerShdw>
          </a:effectLst>
        </p:spPr>
        <p:txBody>
          <a:bodyPr/>
          <a:lstStyle/>
          <a:p>
            <a:endParaRPr lang="en-IN"/>
          </a:p>
        </p:txBody>
      </p:sp>
      <p:sp>
        <p:nvSpPr>
          <p:cNvPr id="15" name="Shape 13"/>
          <p:cNvSpPr/>
          <p:nvPr/>
        </p:nvSpPr>
        <p:spPr>
          <a:xfrm>
            <a:off x="2542032" y="1207008"/>
            <a:ext cx="54864" cy="841248"/>
          </a:xfrm>
          <a:prstGeom prst="rect">
            <a:avLst/>
          </a:prstGeom>
          <a:solidFill>
            <a:srgbClr val="C9A84C"/>
          </a:solidFill>
          <a:ln w="12700">
            <a:solidFill>
              <a:srgbClr val="C9A84C"/>
            </a:solidFill>
            <a:prstDash val="solid"/>
          </a:ln>
        </p:spPr>
        <p:txBody>
          <a:bodyPr/>
          <a:lstStyle/>
          <a:p>
            <a:endParaRPr lang="en-IN"/>
          </a:p>
        </p:txBody>
      </p:sp>
      <p:sp>
        <p:nvSpPr>
          <p:cNvPr id="16" name="Text 14"/>
          <p:cNvSpPr/>
          <p:nvPr/>
        </p:nvSpPr>
        <p:spPr>
          <a:xfrm>
            <a:off x="2706624" y="1271016"/>
            <a:ext cx="1737360" cy="219456"/>
          </a:xfrm>
          <a:prstGeom prst="rect">
            <a:avLst/>
          </a:prstGeom>
          <a:noFill/>
          <a:ln/>
        </p:spPr>
        <p:txBody>
          <a:bodyPr wrap="square" lIns="0" tIns="0" rIns="0" bIns="0" rtlCol="0" anchor="ctr"/>
          <a:lstStyle/>
          <a:p>
            <a:pPr marL="0" indent="0">
              <a:buNone/>
            </a:pPr>
            <a:r>
              <a:rPr lang="en-US" sz="950" b="1" dirty="0">
                <a:solidFill>
                  <a:srgbClr val="F5F0E8"/>
                </a:solidFill>
              </a:rPr>
              <a:t>AOV</a:t>
            </a:r>
            <a:endParaRPr lang="en-US" sz="950" dirty="0"/>
          </a:p>
        </p:txBody>
      </p:sp>
      <p:sp>
        <p:nvSpPr>
          <p:cNvPr id="17" name="Text 15"/>
          <p:cNvSpPr/>
          <p:nvPr/>
        </p:nvSpPr>
        <p:spPr>
          <a:xfrm>
            <a:off x="2706624" y="1508760"/>
            <a:ext cx="1737360" cy="475488"/>
          </a:xfrm>
          <a:prstGeom prst="rect">
            <a:avLst/>
          </a:prstGeom>
          <a:noFill/>
          <a:ln/>
        </p:spPr>
        <p:txBody>
          <a:bodyPr wrap="square" lIns="0" tIns="0" rIns="0" bIns="0" rtlCol="0" anchor="ctr"/>
          <a:lstStyle/>
          <a:p>
            <a:pPr marL="0" indent="0">
              <a:lnSpc>
                <a:spcPct val="125000"/>
              </a:lnSpc>
              <a:buNone/>
            </a:pPr>
            <a:r>
              <a:rPr lang="en-US" sz="700" dirty="0">
                <a:solidFill>
                  <a:srgbClr val="8B8FA8"/>
                </a:solidFill>
                <a:latin typeface="Consolas" pitchFamily="34" charset="0"/>
                <a:ea typeface="Consolas" pitchFamily="34" charset="-122"/>
                <a:cs typeface="Consolas" pitchFamily="34" charset="-120"/>
              </a:rPr>
              <a:t>DIVIDE([GMV],[OrderCount],0)</a:t>
            </a:r>
            <a:endParaRPr lang="en-US" sz="700" dirty="0"/>
          </a:p>
        </p:txBody>
      </p:sp>
      <p:sp>
        <p:nvSpPr>
          <p:cNvPr id="18" name="Shape 16"/>
          <p:cNvSpPr/>
          <p:nvPr/>
        </p:nvSpPr>
        <p:spPr>
          <a:xfrm>
            <a:off x="4718304" y="1207008"/>
            <a:ext cx="2011680" cy="841248"/>
          </a:xfrm>
          <a:prstGeom prst="rect">
            <a:avLst/>
          </a:prstGeom>
          <a:solidFill>
            <a:srgbClr val="1A1F2E"/>
          </a:solidFill>
          <a:ln w="12700">
            <a:solidFill>
              <a:srgbClr val="2A2F40"/>
            </a:solidFill>
            <a:prstDash val="solid"/>
          </a:ln>
          <a:effectLst>
            <a:outerShdw blurRad="101600" dist="38100" dir="8100000" algn="bl" rotWithShape="0">
              <a:srgbClr val="000000">
                <a:alpha val="25000"/>
              </a:srgbClr>
            </a:outerShdw>
          </a:effectLst>
        </p:spPr>
        <p:txBody>
          <a:bodyPr/>
          <a:lstStyle/>
          <a:p>
            <a:endParaRPr lang="en-IN"/>
          </a:p>
        </p:txBody>
      </p:sp>
      <p:sp>
        <p:nvSpPr>
          <p:cNvPr id="19" name="Shape 17"/>
          <p:cNvSpPr/>
          <p:nvPr/>
        </p:nvSpPr>
        <p:spPr>
          <a:xfrm>
            <a:off x="4718304" y="1207008"/>
            <a:ext cx="54864" cy="841248"/>
          </a:xfrm>
          <a:prstGeom prst="rect">
            <a:avLst/>
          </a:prstGeom>
          <a:solidFill>
            <a:srgbClr val="1D9E75"/>
          </a:solidFill>
          <a:ln w="12700">
            <a:solidFill>
              <a:srgbClr val="1D9E75"/>
            </a:solidFill>
            <a:prstDash val="solid"/>
          </a:ln>
        </p:spPr>
        <p:txBody>
          <a:bodyPr/>
          <a:lstStyle/>
          <a:p>
            <a:endParaRPr lang="en-IN"/>
          </a:p>
        </p:txBody>
      </p:sp>
      <p:sp>
        <p:nvSpPr>
          <p:cNvPr id="20" name="Text 18"/>
          <p:cNvSpPr/>
          <p:nvPr/>
        </p:nvSpPr>
        <p:spPr>
          <a:xfrm>
            <a:off x="4882896" y="1271016"/>
            <a:ext cx="1737360" cy="219456"/>
          </a:xfrm>
          <a:prstGeom prst="rect">
            <a:avLst/>
          </a:prstGeom>
          <a:noFill/>
          <a:ln/>
        </p:spPr>
        <p:txBody>
          <a:bodyPr wrap="square" lIns="0" tIns="0" rIns="0" bIns="0" rtlCol="0" anchor="ctr"/>
          <a:lstStyle/>
          <a:p>
            <a:pPr marL="0" indent="0">
              <a:buNone/>
            </a:pPr>
            <a:r>
              <a:rPr lang="en-US" sz="950" b="1" dirty="0">
                <a:solidFill>
                  <a:srgbClr val="F5F0E8"/>
                </a:solidFill>
              </a:rPr>
              <a:t>Net_Revenue</a:t>
            </a:r>
            <a:endParaRPr lang="en-US" sz="950" dirty="0"/>
          </a:p>
        </p:txBody>
      </p:sp>
      <p:sp>
        <p:nvSpPr>
          <p:cNvPr id="21" name="Text 19"/>
          <p:cNvSpPr/>
          <p:nvPr/>
        </p:nvSpPr>
        <p:spPr>
          <a:xfrm>
            <a:off x="4882896" y="1508760"/>
            <a:ext cx="1737360" cy="475488"/>
          </a:xfrm>
          <a:prstGeom prst="rect">
            <a:avLst/>
          </a:prstGeom>
          <a:noFill/>
          <a:ln/>
        </p:spPr>
        <p:txBody>
          <a:bodyPr wrap="square" lIns="0" tIns="0" rIns="0" bIns="0" rtlCol="0" anchor="ctr"/>
          <a:lstStyle/>
          <a:p>
            <a:pPr marL="0" indent="0">
              <a:lnSpc>
                <a:spcPct val="125000"/>
              </a:lnSpc>
              <a:buNone/>
            </a:pPr>
            <a:r>
              <a:rPr lang="en-US" sz="700" dirty="0">
                <a:solidFill>
                  <a:srgbClr val="8B8FA8"/>
                </a:solidFill>
                <a:latin typeface="Consolas" pitchFamily="34" charset="0"/>
                <a:ea typeface="Consolas" pitchFamily="34" charset="-122"/>
                <a:cs typeface="Consolas" pitchFamily="34" charset="-120"/>
              </a:rPr>
              <a:t>CALCULATE([GMV],Orders[ReturnFlag]&lt;&gt;"Yes")</a:t>
            </a:r>
            <a:endParaRPr lang="en-US" sz="700" dirty="0"/>
          </a:p>
        </p:txBody>
      </p:sp>
      <p:sp>
        <p:nvSpPr>
          <p:cNvPr id="22" name="Shape 20"/>
          <p:cNvSpPr/>
          <p:nvPr/>
        </p:nvSpPr>
        <p:spPr>
          <a:xfrm>
            <a:off x="6894576" y="1207008"/>
            <a:ext cx="2011680" cy="841248"/>
          </a:xfrm>
          <a:prstGeom prst="rect">
            <a:avLst/>
          </a:prstGeom>
          <a:solidFill>
            <a:srgbClr val="1A1F2E"/>
          </a:solidFill>
          <a:ln w="12700">
            <a:solidFill>
              <a:srgbClr val="2A2F40"/>
            </a:solidFill>
            <a:prstDash val="solid"/>
          </a:ln>
          <a:effectLst>
            <a:outerShdw blurRad="101600" dist="38100" dir="8100000" algn="bl" rotWithShape="0">
              <a:srgbClr val="000000">
                <a:alpha val="25000"/>
              </a:srgbClr>
            </a:outerShdw>
          </a:effectLst>
        </p:spPr>
        <p:txBody>
          <a:bodyPr/>
          <a:lstStyle/>
          <a:p>
            <a:endParaRPr lang="en-IN"/>
          </a:p>
        </p:txBody>
      </p:sp>
      <p:sp>
        <p:nvSpPr>
          <p:cNvPr id="23" name="Shape 21"/>
          <p:cNvSpPr/>
          <p:nvPr/>
        </p:nvSpPr>
        <p:spPr>
          <a:xfrm>
            <a:off x="6894576" y="1207008"/>
            <a:ext cx="54864" cy="841248"/>
          </a:xfrm>
          <a:prstGeom prst="rect">
            <a:avLst/>
          </a:prstGeom>
          <a:solidFill>
            <a:srgbClr val="1D9E75"/>
          </a:solidFill>
          <a:ln w="12700">
            <a:solidFill>
              <a:srgbClr val="1D9E75"/>
            </a:solidFill>
            <a:prstDash val="solid"/>
          </a:ln>
        </p:spPr>
        <p:txBody>
          <a:bodyPr/>
          <a:lstStyle/>
          <a:p>
            <a:endParaRPr lang="en-IN"/>
          </a:p>
        </p:txBody>
      </p:sp>
      <p:sp>
        <p:nvSpPr>
          <p:cNvPr id="24" name="Text 22"/>
          <p:cNvSpPr/>
          <p:nvPr/>
        </p:nvSpPr>
        <p:spPr>
          <a:xfrm>
            <a:off x="7059168" y="1271016"/>
            <a:ext cx="1737360" cy="219456"/>
          </a:xfrm>
          <a:prstGeom prst="rect">
            <a:avLst/>
          </a:prstGeom>
          <a:noFill/>
          <a:ln/>
        </p:spPr>
        <p:txBody>
          <a:bodyPr wrap="square" lIns="0" tIns="0" rIns="0" bIns="0" rtlCol="0" anchor="ctr"/>
          <a:lstStyle/>
          <a:p>
            <a:pPr marL="0" indent="0">
              <a:buNone/>
            </a:pPr>
            <a:r>
              <a:rPr lang="en-US" sz="950" b="1" dirty="0">
                <a:solidFill>
                  <a:srgbClr val="F5F0E8"/>
                </a:solidFill>
              </a:rPr>
              <a:t>YoY_Growth%</a:t>
            </a:r>
            <a:endParaRPr lang="en-US" sz="950" dirty="0"/>
          </a:p>
        </p:txBody>
      </p:sp>
      <p:sp>
        <p:nvSpPr>
          <p:cNvPr id="25" name="Text 23"/>
          <p:cNvSpPr/>
          <p:nvPr/>
        </p:nvSpPr>
        <p:spPr>
          <a:xfrm>
            <a:off x="7059168" y="1508760"/>
            <a:ext cx="1737360" cy="475488"/>
          </a:xfrm>
          <a:prstGeom prst="rect">
            <a:avLst/>
          </a:prstGeom>
          <a:noFill/>
          <a:ln/>
        </p:spPr>
        <p:txBody>
          <a:bodyPr wrap="square" lIns="0" tIns="0" rIns="0" bIns="0" rtlCol="0" anchor="ctr"/>
          <a:lstStyle/>
          <a:p>
            <a:pPr marL="0" indent="0">
              <a:lnSpc>
                <a:spcPct val="125000"/>
              </a:lnSpc>
              <a:buNone/>
            </a:pPr>
            <a:r>
              <a:rPr lang="en-US" sz="700" dirty="0">
                <a:solidFill>
                  <a:srgbClr val="8B8FA8"/>
                </a:solidFill>
                <a:latin typeface="Consolas" pitchFamily="34" charset="0"/>
                <a:ea typeface="Consolas" pitchFamily="34" charset="-122"/>
                <a:cs typeface="Consolas" pitchFamily="34" charset="-120"/>
              </a:rPr>
              <a:t>DIVIDE([GMV]-[GMV_PY],[GMV_PY],0)*100</a:t>
            </a:r>
            <a:endParaRPr lang="en-US" sz="700" dirty="0"/>
          </a:p>
        </p:txBody>
      </p:sp>
      <p:sp>
        <p:nvSpPr>
          <p:cNvPr id="26" name="Shape 24"/>
          <p:cNvSpPr/>
          <p:nvPr/>
        </p:nvSpPr>
        <p:spPr>
          <a:xfrm>
            <a:off x="365760" y="2167128"/>
            <a:ext cx="2011680" cy="841248"/>
          </a:xfrm>
          <a:prstGeom prst="rect">
            <a:avLst/>
          </a:prstGeom>
          <a:solidFill>
            <a:srgbClr val="1A1F2E"/>
          </a:solidFill>
          <a:ln w="12700">
            <a:solidFill>
              <a:srgbClr val="2A2F40"/>
            </a:solidFill>
            <a:prstDash val="solid"/>
          </a:ln>
          <a:effectLst>
            <a:outerShdw blurRad="101600" dist="38100" dir="8100000" algn="bl" rotWithShape="0">
              <a:srgbClr val="000000">
                <a:alpha val="25000"/>
              </a:srgbClr>
            </a:outerShdw>
          </a:effectLst>
        </p:spPr>
        <p:txBody>
          <a:bodyPr/>
          <a:lstStyle/>
          <a:p>
            <a:endParaRPr lang="en-IN"/>
          </a:p>
        </p:txBody>
      </p:sp>
      <p:sp>
        <p:nvSpPr>
          <p:cNvPr id="27" name="Shape 25"/>
          <p:cNvSpPr/>
          <p:nvPr/>
        </p:nvSpPr>
        <p:spPr>
          <a:xfrm>
            <a:off x="365760" y="2167128"/>
            <a:ext cx="54864" cy="841248"/>
          </a:xfrm>
          <a:prstGeom prst="rect">
            <a:avLst/>
          </a:prstGeom>
          <a:solidFill>
            <a:srgbClr val="7F77DD"/>
          </a:solidFill>
          <a:ln w="12700">
            <a:solidFill>
              <a:srgbClr val="7F77DD"/>
            </a:solidFill>
            <a:prstDash val="solid"/>
          </a:ln>
        </p:spPr>
        <p:txBody>
          <a:bodyPr/>
          <a:lstStyle/>
          <a:p>
            <a:endParaRPr lang="en-IN"/>
          </a:p>
        </p:txBody>
      </p:sp>
      <p:sp>
        <p:nvSpPr>
          <p:cNvPr id="28" name="Text 26"/>
          <p:cNvSpPr/>
          <p:nvPr/>
        </p:nvSpPr>
        <p:spPr>
          <a:xfrm>
            <a:off x="530352" y="2231136"/>
            <a:ext cx="1737360" cy="219456"/>
          </a:xfrm>
          <a:prstGeom prst="rect">
            <a:avLst/>
          </a:prstGeom>
          <a:noFill/>
          <a:ln/>
        </p:spPr>
        <p:txBody>
          <a:bodyPr wrap="square" lIns="0" tIns="0" rIns="0" bIns="0" rtlCol="0" anchor="ctr"/>
          <a:lstStyle/>
          <a:p>
            <a:pPr marL="0" indent="0">
              <a:buNone/>
            </a:pPr>
            <a:r>
              <a:rPr lang="en-US" sz="950" b="1" dirty="0">
                <a:solidFill>
                  <a:srgbClr val="F5F0E8"/>
                </a:solidFill>
              </a:rPr>
              <a:t>GMV_PY</a:t>
            </a:r>
            <a:endParaRPr lang="en-US" sz="950" dirty="0"/>
          </a:p>
        </p:txBody>
      </p:sp>
      <p:sp>
        <p:nvSpPr>
          <p:cNvPr id="29" name="Text 27"/>
          <p:cNvSpPr/>
          <p:nvPr/>
        </p:nvSpPr>
        <p:spPr>
          <a:xfrm>
            <a:off x="530352" y="2468880"/>
            <a:ext cx="1737360" cy="475488"/>
          </a:xfrm>
          <a:prstGeom prst="rect">
            <a:avLst/>
          </a:prstGeom>
          <a:noFill/>
          <a:ln/>
        </p:spPr>
        <p:txBody>
          <a:bodyPr wrap="square" lIns="0" tIns="0" rIns="0" bIns="0" rtlCol="0" anchor="ctr"/>
          <a:lstStyle/>
          <a:p>
            <a:pPr marL="0" indent="0">
              <a:lnSpc>
                <a:spcPct val="125000"/>
              </a:lnSpc>
              <a:buNone/>
            </a:pPr>
            <a:r>
              <a:rPr lang="en-US" sz="700" dirty="0">
                <a:solidFill>
                  <a:srgbClr val="8B8FA8"/>
                </a:solidFill>
                <a:latin typeface="Consolas" pitchFamily="34" charset="0"/>
                <a:ea typeface="Consolas" pitchFamily="34" charset="-122"/>
                <a:cs typeface="Consolas" pitchFamily="34" charset="-120"/>
              </a:rPr>
              <a:t>CALCULATE([GMV],SAMEPERIODLASTYEAR('Calendar'[Date]))</a:t>
            </a:r>
            <a:endParaRPr lang="en-US" sz="700" dirty="0"/>
          </a:p>
        </p:txBody>
      </p:sp>
      <p:sp>
        <p:nvSpPr>
          <p:cNvPr id="30" name="Shape 28"/>
          <p:cNvSpPr/>
          <p:nvPr/>
        </p:nvSpPr>
        <p:spPr>
          <a:xfrm>
            <a:off x="2542032" y="2167128"/>
            <a:ext cx="2011680" cy="841248"/>
          </a:xfrm>
          <a:prstGeom prst="rect">
            <a:avLst/>
          </a:prstGeom>
          <a:solidFill>
            <a:srgbClr val="1A1F2E"/>
          </a:solidFill>
          <a:ln w="12700">
            <a:solidFill>
              <a:srgbClr val="2A2F40"/>
            </a:solidFill>
            <a:prstDash val="solid"/>
          </a:ln>
          <a:effectLst>
            <a:outerShdw blurRad="101600" dist="38100" dir="8100000" algn="bl" rotWithShape="0">
              <a:srgbClr val="000000">
                <a:alpha val="25000"/>
              </a:srgbClr>
            </a:outerShdw>
          </a:effectLst>
        </p:spPr>
        <p:txBody>
          <a:bodyPr/>
          <a:lstStyle/>
          <a:p>
            <a:endParaRPr lang="en-IN"/>
          </a:p>
        </p:txBody>
      </p:sp>
      <p:sp>
        <p:nvSpPr>
          <p:cNvPr id="31" name="Shape 29"/>
          <p:cNvSpPr/>
          <p:nvPr/>
        </p:nvSpPr>
        <p:spPr>
          <a:xfrm>
            <a:off x="2542032" y="2167128"/>
            <a:ext cx="54864" cy="841248"/>
          </a:xfrm>
          <a:prstGeom prst="rect">
            <a:avLst/>
          </a:prstGeom>
          <a:solidFill>
            <a:srgbClr val="7F77DD"/>
          </a:solidFill>
          <a:ln w="12700">
            <a:solidFill>
              <a:srgbClr val="7F77DD"/>
            </a:solidFill>
            <a:prstDash val="solid"/>
          </a:ln>
        </p:spPr>
        <p:txBody>
          <a:bodyPr/>
          <a:lstStyle/>
          <a:p>
            <a:endParaRPr lang="en-IN"/>
          </a:p>
        </p:txBody>
      </p:sp>
      <p:sp>
        <p:nvSpPr>
          <p:cNvPr id="32" name="Text 30"/>
          <p:cNvSpPr/>
          <p:nvPr/>
        </p:nvSpPr>
        <p:spPr>
          <a:xfrm>
            <a:off x="2706624" y="2231136"/>
            <a:ext cx="1737360" cy="219456"/>
          </a:xfrm>
          <a:prstGeom prst="rect">
            <a:avLst/>
          </a:prstGeom>
          <a:noFill/>
          <a:ln/>
        </p:spPr>
        <p:txBody>
          <a:bodyPr wrap="square" lIns="0" tIns="0" rIns="0" bIns="0" rtlCol="0" anchor="ctr"/>
          <a:lstStyle/>
          <a:p>
            <a:pPr marL="0" indent="0">
              <a:buNone/>
            </a:pPr>
            <a:r>
              <a:rPr lang="en-US" sz="950" b="1" dirty="0">
                <a:solidFill>
                  <a:srgbClr val="F5F0E8"/>
                </a:solidFill>
              </a:rPr>
              <a:t>GMV_YTD</a:t>
            </a:r>
            <a:endParaRPr lang="en-US" sz="950" dirty="0"/>
          </a:p>
        </p:txBody>
      </p:sp>
      <p:sp>
        <p:nvSpPr>
          <p:cNvPr id="33" name="Text 31"/>
          <p:cNvSpPr/>
          <p:nvPr/>
        </p:nvSpPr>
        <p:spPr>
          <a:xfrm>
            <a:off x="2706624" y="2468880"/>
            <a:ext cx="1737360" cy="475488"/>
          </a:xfrm>
          <a:prstGeom prst="rect">
            <a:avLst/>
          </a:prstGeom>
          <a:noFill/>
          <a:ln/>
        </p:spPr>
        <p:txBody>
          <a:bodyPr wrap="square" lIns="0" tIns="0" rIns="0" bIns="0" rtlCol="0" anchor="ctr"/>
          <a:lstStyle/>
          <a:p>
            <a:pPr marL="0" indent="0">
              <a:lnSpc>
                <a:spcPct val="125000"/>
              </a:lnSpc>
              <a:buNone/>
            </a:pPr>
            <a:r>
              <a:rPr lang="en-US" sz="700" dirty="0">
                <a:solidFill>
                  <a:srgbClr val="8B8FA8"/>
                </a:solidFill>
                <a:latin typeface="Consolas" pitchFamily="34" charset="0"/>
                <a:ea typeface="Consolas" pitchFamily="34" charset="-122"/>
                <a:cs typeface="Consolas" pitchFamily="34" charset="-120"/>
              </a:rPr>
              <a:t>CALCULATE([GMV],DATESYTD('Calendar'[Date]))</a:t>
            </a:r>
            <a:endParaRPr lang="en-US" sz="700" dirty="0"/>
          </a:p>
        </p:txBody>
      </p:sp>
      <p:sp>
        <p:nvSpPr>
          <p:cNvPr id="34" name="Shape 32"/>
          <p:cNvSpPr/>
          <p:nvPr/>
        </p:nvSpPr>
        <p:spPr>
          <a:xfrm>
            <a:off x="4718304" y="2167128"/>
            <a:ext cx="2011680" cy="841248"/>
          </a:xfrm>
          <a:prstGeom prst="rect">
            <a:avLst/>
          </a:prstGeom>
          <a:solidFill>
            <a:srgbClr val="1A1F2E"/>
          </a:solidFill>
          <a:ln w="12700">
            <a:solidFill>
              <a:srgbClr val="2A2F40"/>
            </a:solidFill>
            <a:prstDash val="solid"/>
          </a:ln>
          <a:effectLst>
            <a:outerShdw blurRad="101600" dist="38100" dir="8100000" algn="bl" rotWithShape="0">
              <a:srgbClr val="000000">
                <a:alpha val="25000"/>
              </a:srgbClr>
            </a:outerShdw>
          </a:effectLst>
        </p:spPr>
        <p:txBody>
          <a:bodyPr/>
          <a:lstStyle/>
          <a:p>
            <a:endParaRPr lang="en-IN"/>
          </a:p>
        </p:txBody>
      </p:sp>
      <p:sp>
        <p:nvSpPr>
          <p:cNvPr id="35" name="Shape 33"/>
          <p:cNvSpPr/>
          <p:nvPr/>
        </p:nvSpPr>
        <p:spPr>
          <a:xfrm>
            <a:off x="4718304" y="2167128"/>
            <a:ext cx="54864" cy="841248"/>
          </a:xfrm>
          <a:prstGeom prst="rect">
            <a:avLst/>
          </a:prstGeom>
          <a:solidFill>
            <a:srgbClr val="D4537E"/>
          </a:solidFill>
          <a:ln w="12700">
            <a:solidFill>
              <a:srgbClr val="D4537E"/>
            </a:solidFill>
            <a:prstDash val="solid"/>
          </a:ln>
        </p:spPr>
        <p:txBody>
          <a:bodyPr/>
          <a:lstStyle/>
          <a:p>
            <a:endParaRPr lang="en-IN"/>
          </a:p>
        </p:txBody>
      </p:sp>
      <p:sp>
        <p:nvSpPr>
          <p:cNvPr id="36" name="Text 34"/>
          <p:cNvSpPr/>
          <p:nvPr/>
        </p:nvSpPr>
        <p:spPr>
          <a:xfrm>
            <a:off x="4882896" y="2231136"/>
            <a:ext cx="1737360" cy="219456"/>
          </a:xfrm>
          <a:prstGeom prst="rect">
            <a:avLst/>
          </a:prstGeom>
          <a:noFill/>
          <a:ln/>
        </p:spPr>
        <p:txBody>
          <a:bodyPr wrap="square" lIns="0" tIns="0" rIns="0" bIns="0" rtlCol="0" anchor="ctr"/>
          <a:lstStyle/>
          <a:p>
            <a:pPr marL="0" indent="0">
              <a:buNone/>
            </a:pPr>
            <a:r>
              <a:rPr lang="en-US" sz="950" b="1" dirty="0">
                <a:solidFill>
                  <a:srgbClr val="F5F0E8"/>
                </a:solidFill>
              </a:rPr>
              <a:t>CLTV</a:t>
            </a:r>
            <a:endParaRPr lang="en-US" sz="950" dirty="0"/>
          </a:p>
        </p:txBody>
      </p:sp>
      <p:sp>
        <p:nvSpPr>
          <p:cNvPr id="37" name="Text 35"/>
          <p:cNvSpPr/>
          <p:nvPr/>
        </p:nvSpPr>
        <p:spPr>
          <a:xfrm>
            <a:off x="4882896" y="2468880"/>
            <a:ext cx="1737360" cy="475488"/>
          </a:xfrm>
          <a:prstGeom prst="rect">
            <a:avLst/>
          </a:prstGeom>
          <a:noFill/>
          <a:ln/>
        </p:spPr>
        <p:txBody>
          <a:bodyPr wrap="square" lIns="0" tIns="0" rIns="0" bIns="0" rtlCol="0" anchor="ctr"/>
          <a:lstStyle/>
          <a:p>
            <a:pPr marL="0" indent="0">
              <a:lnSpc>
                <a:spcPct val="125000"/>
              </a:lnSpc>
              <a:buNone/>
            </a:pPr>
            <a:r>
              <a:rPr lang="en-US" sz="700" dirty="0">
                <a:solidFill>
                  <a:srgbClr val="8B8FA8"/>
                </a:solidFill>
                <a:latin typeface="Consolas" pitchFamily="34" charset="0"/>
                <a:ea typeface="Consolas" pitchFamily="34" charset="-122"/>
                <a:cs typeface="Consolas" pitchFamily="34" charset="-120"/>
              </a:rPr>
              <a:t>[AOV]*[PurchaseFrequency]*[Avg_Lifespan_Years]</a:t>
            </a:r>
            <a:endParaRPr lang="en-US" sz="700" dirty="0"/>
          </a:p>
        </p:txBody>
      </p:sp>
      <p:sp>
        <p:nvSpPr>
          <p:cNvPr id="38" name="Shape 36"/>
          <p:cNvSpPr/>
          <p:nvPr/>
        </p:nvSpPr>
        <p:spPr>
          <a:xfrm>
            <a:off x="6894576" y="2167128"/>
            <a:ext cx="2011680" cy="841248"/>
          </a:xfrm>
          <a:prstGeom prst="rect">
            <a:avLst/>
          </a:prstGeom>
          <a:solidFill>
            <a:srgbClr val="1A1F2E"/>
          </a:solidFill>
          <a:ln w="12700">
            <a:solidFill>
              <a:srgbClr val="2A2F40"/>
            </a:solidFill>
            <a:prstDash val="solid"/>
          </a:ln>
          <a:effectLst>
            <a:outerShdw blurRad="101600" dist="38100" dir="8100000" algn="bl" rotWithShape="0">
              <a:srgbClr val="000000">
                <a:alpha val="25000"/>
              </a:srgbClr>
            </a:outerShdw>
          </a:effectLst>
        </p:spPr>
        <p:txBody>
          <a:bodyPr/>
          <a:lstStyle/>
          <a:p>
            <a:endParaRPr lang="en-IN"/>
          </a:p>
        </p:txBody>
      </p:sp>
      <p:sp>
        <p:nvSpPr>
          <p:cNvPr id="39" name="Shape 37"/>
          <p:cNvSpPr/>
          <p:nvPr/>
        </p:nvSpPr>
        <p:spPr>
          <a:xfrm>
            <a:off x="6894576" y="2167128"/>
            <a:ext cx="54864" cy="841248"/>
          </a:xfrm>
          <a:prstGeom prst="rect">
            <a:avLst/>
          </a:prstGeom>
          <a:solidFill>
            <a:srgbClr val="D4537E"/>
          </a:solidFill>
          <a:ln w="12700">
            <a:solidFill>
              <a:srgbClr val="D4537E"/>
            </a:solidFill>
            <a:prstDash val="solid"/>
          </a:ln>
        </p:spPr>
        <p:txBody>
          <a:bodyPr/>
          <a:lstStyle/>
          <a:p>
            <a:endParaRPr lang="en-IN"/>
          </a:p>
        </p:txBody>
      </p:sp>
      <p:sp>
        <p:nvSpPr>
          <p:cNvPr id="40" name="Text 38"/>
          <p:cNvSpPr/>
          <p:nvPr/>
        </p:nvSpPr>
        <p:spPr>
          <a:xfrm>
            <a:off x="7059168" y="2231136"/>
            <a:ext cx="1737360" cy="219456"/>
          </a:xfrm>
          <a:prstGeom prst="rect">
            <a:avLst/>
          </a:prstGeom>
          <a:noFill/>
          <a:ln/>
        </p:spPr>
        <p:txBody>
          <a:bodyPr wrap="square" lIns="0" tIns="0" rIns="0" bIns="0" rtlCol="0" anchor="ctr"/>
          <a:lstStyle/>
          <a:p>
            <a:pPr marL="0" indent="0">
              <a:buNone/>
            </a:pPr>
            <a:r>
              <a:rPr lang="en-US" sz="950" b="1" dirty="0">
                <a:solidFill>
                  <a:srgbClr val="F5F0E8"/>
                </a:solidFill>
              </a:rPr>
              <a:t>VIC_Share%</a:t>
            </a:r>
            <a:endParaRPr lang="en-US" sz="950" dirty="0"/>
          </a:p>
        </p:txBody>
      </p:sp>
      <p:sp>
        <p:nvSpPr>
          <p:cNvPr id="41" name="Text 39"/>
          <p:cNvSpPr/>
          <p:nvPr/>
        </p:nvSpPr>
        <p:spPr>
          <a:xfrm>
            <a:off x="7059168" y="2468880"/>
            <a:ext cx="1737360" cy="475488"/>
          </a:xfrm>
          <a:prstGeom prst="rect">
            <a:avLst/>
          </a:prstGeom>
          <a:noFill/>
          <a:ln/>
        </p:spPr>
        <p:txBody>
          <a:bodyPr wrap="square" lIns="0" tIns="0" rIns="0" bIns="0" rtlCol="0" anchor="ctr"/>
          <a:lstStyle/>
          <a:p>
            <a:pPr marL="0" indent="0">
              <a:lnSpc>
                <a:spcPct val="125000"/>
              </a:lnSpc>
              <a:buNone/>
            </a:pPr>
            <a:r>
              <a:rPr lang="en-US" sz="700" dirty="0">
                <a:solidFill>
                  <a:srgbClr val="8B8FA8"/>
                </a:solidFill>
                <a:latin typeface="Consolas" pitchFamily="34" charset="0"/>
                <a:ea typeface="Consolas" pitchFamily="34" charset="-122"/>
                <a:cs typeface="Consolas" pitchFamily="34" charset="-120"/>
              </a:rPr>
              <a:t>DIVIDE(CALCULATE([GMV],Tier="VIC"),[GMV])</a:t>
            </a:r>
            <a:endParaRPr lang="en-US" sz="700" dirty="0"/>
          </a:p>
        </p:txBody>
      </p:sp>
      <p:sp>
        <p:nvSpPr>
          <p:cNvPr id="42" name="Shape 40"/>
          <p:cNvSpPr/>
          <p:nvPr/>
        </p:nvSpPr>
        <p:spPr>
          <a:xfrm>
            <a:off x="365760" y="3127248"/>
            <a:ext cx="2011680" cy="841248"/>
          </a:xfrm>
          <a:prstGeom prst="rect">
            <a:avLst/>
          </a:prstGeom>
          <a:solidFill>
            <a:srgbClr val="1A1F2E"/>
          </a:solidFill>
          <a:ln w="12700">
            <a:solidFill>
              <a:srgbClr val="2A2F40"/>
            </a:solidFill>
            <a:prstDash val="solid"/>
          </a:ln>
          <a:effectLst>
            <a:outerShdw blurRad="101600" dist="38100" dir="8100000" algn="bl" rotWithShape="0">
              <a:srgbClr val="000000">
                <a:alpha val="25000"/>
              </a:srgbClr>
            </a:outerShdw>
          </a:effectLst>
        </p:spPr>
        <p:txBody>
          <a:bodyPr/>
          <a:lstStyle/>
          <a:p>
            <a:endParaRPr lang="en-IN"/>
          </a:p>
        </p:txBody>
      </p:sp>
      <p:sp>
        <p:nvSpPr>
          <p:cNvPr id="43" name="Shape 41"/>
          <p:cNvSpPr/>
          <p:nvPr/>
        </p:nvSpPr>
        <p:spPr>
          <a:xfrm>
            <a:off x="365760" y="3127248"/>
            <a:ext cx="54864" cy="841248"/>
          </a:xfrm>
          <a:prstGeom prst="rect">
            <a:avLst/>
          </a:prstGeom>
          <a:solidFill>
            <a:srgbClr val="C9A84C"/>
          </a:solidFill>
          <a:ln w="12700">
            <a:solidFill>
              <a:srgbClr val="C9A84C"/>
            </a:solidFill>
            <a:prstDash val="solid"/>
          </a:ln>
        </p:spPr>
        <p:txBody>
          <a:bodyPr/>
          <a:lstStyle/>
          <a:p>
            <a:endParaRPr lang="en-IN"/>
          </a:p>
        </p:txBody>
      </p:sp>
      <p:sp>
        <p:nvSpPr>
          <p:cNvPr id="44" name="Text 42"/>
          <p:cNvSpPr/>
          <p:nvPr/>
        </p:nvSpPr>
        <p:spPr>
          <a:xfrm>
            <a:off x="530352" y="3191256"/>
            <a:ext cx="1737360" cy="219456"/>
          </a:xfrm>
          <a:prstGeom prst="rect">
            <a:avLst/>
          </a:prstGeom>
          <a:noFill/>
          <a:ln/>
        </p:spPr>
        <p:txBody>
          <a:bodyPr wrap="square" lIns="0" tIns="0" rIns="0" bIns="0" rtlCol="0" anchor="ctr"/>
          <a:lstStyle/>
          <a:p>
            <a:pPr marL="0" indent="0">
              <a:buNone/>
            </a:pPr>
            <a:r>
              <a:rPr lang="en-US" sz="950" b="1" dirty="0">
                <a:solidFill>
                  <a:srgbClr val="F5F0E8"/>
                </a:solidFill>
              </a:rPr>
              <a:t>Repeat_Rate%</a:t>
            </a:r>
            <a:endParaRPr lang="en-US" sz="950" dirty="0"/>
          </a:p>
        </p:txBody>
      </p:sp>
      <p:sp>
        <p:nvSpPr>
          <p:cNvPr id="45" name="Text 43"/>
          <p:cNvSpPr/>
          <p:nvPr/>
        </p:nvSpPr>
        <p:spPr>
          <a:xfrm>
            <a:off x="530352" y="3429000"/>
            <a:ext cx="1737360" cy="475488"/>
          </a:xfrm>
          <a:prstGeom prst="rect">
            <a:avLst/>
          </a:prstGeom>
          <a:noFill/>
          <a:ln/>
        </p:spPr>
        <p:txBody>
          <a:bodyPr wrap="square" lIns="0" tIns="0" rIns="0" bIns="0" rtlCol="0" anchor="ctr"/>
          <a:lstStyle/>
          <a:p>
            <a:pPr marL="0" indent="0">
              <a:lnSpc>
                <a:spcPct val="125000"/>
              </a:lnSpc>
              <a:buNone/>
            </a:pPr>
            <a:r>
              <a:rPr lang="en-US" sz="700" dirty="0">
                <a:solidFill>
                  <a:srgbClr val="8B8FA8"/>
                </a:solidFill>
                <a:latin typeface="Consolas" pitchFamily="34" charset="0"/>
                <a:ea typeface="Consolas" pitchFamily="34" charset="-122"/>
                <a:cs typeface="Consolas" pitchFamily="34" charset="-120"/>
              </a:rPr>
              <a:t>DIVIDE([RepeatClients],[TotalClients])</a:t>
            </a:r>
            <a:endParaRPr lang="en-US" sz="700" dirty="0"/>
          </a:p>
        </p:txBody>
      </p:sp>
      <p:sp>
        <p:nvSpPr>
          <p:cNvPr id="46" name="Shape 44"/>
          <p:cNvSpPr/>
          <p:nvPr/>
        </p:nvSpPr>
        <p:spPr>
          <a:xfrm>
            <a:off x="2542032" y="3127248"/>
            <a:ext cx="2011680" cy="841248"/>
          </a:xfrm>
          <a:prstGeom prst="rect">
            <a:avLst/>
          </a:prstGeom>
          <a:solidFill>
            <a:srgbClr val="1A1F2E"/>
          </a:solidFill>
          <a:ln w="12700">
            <a:solidFill>
              <a:srgbClr val="2A2F40"/>
            </a:solidFill>
            <a:prstDash val="solid"/>
          </a:ln>
          <a:effectLst>
            <a:outerShdw blurRad="101600" dist="38100" dir="8100000" algn="bl" rotWithShape="0">
              <a:srgbClr val="000000">
                <a:alpha val="25000"/>
              </a:srgbClr>
            </a:outerShdw>
          </a:effectLst>
        </p:spPr>
        <p:txBody>
          <a:bodyPr/>
          <a:lstStyle/>
          <a:p>
            <a:endParaRPr lang="en-IN"/>
          </a:p>
        </p:txBody>
      </p:sp>
      <p:sp>
        <p:nvSpPr>
          <p:cNvPr id="47" name="Shape 45"/>
          <p:cNvSpPr/>
          <p:nvPr/>
        </p:nvSpPr>
        <p:spPr>
          <a:xfrm>
            <a:off x="2542032" y="3127248"/>
            <a:ext cx="54864" cy="841248"/>
          </a:xfrm>
          <a:prstGeom prst="rect">
            <a:avLst/>
          </a:prstGeom>
          <a:solidFill>
            <a:srgbClr val="C9A84C"/>
          </a:solidFill>
          <a:ln w="12700">
            <a:solidFill>
              <a:srgbClr val="C9A84C"/>
            </a:solidFill>
            <a:prstDash val="solid"/>
          </a:ln>
        </p:spPr>
        <p:txBody>
          <a:bodyPr/>
          <a:lstStyle/>
          <a:p>
            <a:endParaRPr lang="en-IN"/>
          </a:p>
        </p:txBody>
      </p:sp>
      <p:sp>
        <p:nvSpPr>
          <p:cNvPr id="48" name="Text 46"/>
          <p:cNvSpPr/>
          <p:nvPr/>
        </p:nvSpPr>
        <p:spPr>
          <a:xfrm>
            <a:off x="2706624" y="3191256"/>
            <a:ext cx="1737360" cy="219456"/>
          </a:xfrm>
          <a:prstGeom prst="rect">
            <a:avLst/>
          </a:prstGeom>
          <a:noFill/>
          <a:ln/>
        </p:spPr>
        <p:txBody>
          <a:bodyPr wrap="square" lIns="0" tIns="0" rIns="0" bIns="0" rtlCol="0" anchor="ctr"/>
          <a:lstStyle/>
          <a:p>
            <a:pPr marL="0" indent="0">
              <a:buNone/>
            </a:pPr>
            <a:r>
              <a:rPr lang="en-US" sz="950" b="1" dirty="0">
                <a:solidFill>
                  <a:srgbClr val="F5F0E8"/>
                </a:solidFill>
              </a:rPr>
              <a:t>RFM_Score</a:t>
            </a:r>
            <a:endParaRPr lang="en-US" sz="950" dirty="0"/>
          </a:p>
        </p:txBody>
      </p:sp>
      <p:sp>
        <p:nvSpPr>
          <p:cNvPr id="49" name="Text 47"/>
          <p:cNvSpPr/>
          <p:nvPr/>
        </p:nvSpPr>
        <p:spPr>
          <a:xfrm>
            <a:off x="2706624" y="3429000"/>
            <a:ext cx="1737360" cy="475488"/>
          </a:xfrm>
          <a:prstGeom prst="rect">
            <a:avLst/>
          </a:prstGeom>
          <a:noFill/>
          <a:ln/>
        </p:spPr>
        <p:txBody>
          <a:bodyPr wrap="square" lIns="0" tIns="0" rIns="0" bIns="0" rtlCol="0" anchor="ctr"/>
          <a:lstStyle/>
          <a:p>
            <a:pPr marL="0" indent="0">
              <a:lnSpc>
                <a:spcPct val="125000"/>
              </a:lnSpc>
              <a:buNone/>
            </a:pPr>
            <a:r>
              <a:rPr lang="en-US" sz="700" dirty="0">
                <a:solidFill>
                  <a:srgbClr val="8B8FA8"/>
                </a:solidFill>
                <a:latin typeface="Consolas" pitchFamily="34" charset="0"/>
                <a:ea typeface="Consolas" pitchFamily="34" charset="-122"/>
                <a:cs typeface="Consolas" pitchFamily="34" charset="-120"/>
              </a:rPr>
              <a:t>[RecencyScore]*100+[FrequencyScore]*10+[MonetaryScore]</a:t>
            </a:r>
            <a:endParaRPr lang="en-US" sz="700" dirty="0"/>
          </a:p>
        </p:txBody>
      </p:sp>
      <p:sp>
        <p:nvSpPr>
          <p:cNvPr id="50" name="Shape 48"/>
          <p:cNvSpPr/>
          <p:nvPr/>
        </p:nvSpPr>
        <p:spPr>
          <a:xfrm>
            <a:off x="4718304" y="3127248"/>
            <a:ext cx="2011680" cy="841248"/>
          </a:xfrm>
          <a:prstGeom prst="rect">
            <a:avLst/>
          </a:prstGeom>
          <a:solidFill>
            <a:srgbClr val="1A1F2E"/>
          </a:solidFill>
          <a:ln w="12700">
            <a:solidFill>
              <a:srgbClr val="2A2F40"/>
            </a:solidFill>
            <a:prstDash val="solid"/>
          </a:ln>
          <a:effectLst>
            <a:outerShdw blurRad="101600" dist="38100" dir="8100000" algn="bl" rotWithShape="0">
              <a:srgbClr val="000000">
                <a:alpha val="25000"/>
              </a:srgbClr>
            </a:outerShdw>
          </a:effectLst>
        </p:spPr>
        <p:txBody>
          <a:bodyPr/>
          <a:lstStyle/>
          <a:p>
            <a:endParaRPr lang="en-IN"/>
          </a:p>
        </p:txBody>
      </p:sp>
      <p:sp>
        <p:nvSpPr>
          <p:cNvPr id="51" name="Shape 49"/>
          <p:cNvSpPr/>
          <p:nvPr/>
        </p:nvSpPr>
        <p:spPr>
          <a:xfrm>
            <a:off x="4718304" y="3127248"/>
            <a:ext cx="54864" cy="841248"/>
          </a:xfrm>
          <a:prstGeom prst="rect">
            <a:avLst/>
          </a:prstGeom>
          <a:solidFill>
            <a:srgbClr val="1D9E75"/>
          </a:solidFill>
          <a:ln w="12700">
            <a:solidFill>
              <a:srgbClr val="1D9E75"/>
            </a:solidFill>
            <a:prstDash val="solid"/>
          </a:ln>
        </p:spPr>
        <p:txBody>
          <a:bodyPr/>
          <a:lstStyle/>
          <a:p>
            <a:endParaRPr lang="en-IN"/>
          </a:p>
        </p:txBody>
      </p:sp>
      <p:sp>
        <p:nvSpPr>
          <p:cNvPr id="52" name="Text 50"/>
          <p:cNvSpPr/>
          <p:nvPr/>
        </p:nvSpPr>
        <p:spPr>
          <a:xfrm>
            <a:off x="4882896" y="3191256"/>
            <a:ext cx="1737360" cy="219456"/>
          </a:xfrm>
          <a:prstGeom prst="rect">
            <a:avLst/>
          </a:prstGeom>
          <a:noFill/>
          <a:ln/>
        </p:spPr>
        <p:txBody>
          <a:bodyPr wrap="square" lIns="0" tIns="0" rIns="0" bIns="0" rtlCol="0" anchor="ctr"/>
          <a:lstStyle/>
          <a:p>
            <a:pPr marL="0" indent="0">
              <a:buNone/>
            </a:pPr>
            <a:r>
              <a:rPr lang="en-US" sz="950" b="1" dirty="0">
                <a:solidFill>
                  <a:srgbClr val="F5F0E8"/>
                </a:solidFill>
              </a:rPr>
              <a:t>SellThru%</a:t>
            </a:r>
            <a:endParaRPr lang="en-US" sz="950" dirty="0"/>
          </a:p>
        </p:txBody>
      </p:sp>
      <p:sp>
        <p:nvSpPr>
          <p:cNvPr id="53" name="Text 51"/>
          <p:cNvSpPr/>
          <p:nvPr/>
        </p:nvSpPr>
        <p:spPr>
          <a:xfrm>
            <a:off x="4882896" y="3429000"/>
            <a:ext cx="1737360" cy="475488"/>
          </a:xfrm>
          <a:prstGeom prst="rect">
            <a:avLst/>
          </a:prstGeom>
          <a:noFill/>
          <a:ln/>
        </p:spPr>
        <p:txBody>
          <a:bodyPr wrap="square" lIns="0" tIns="0" rIns="0" bIns="0" rtlCol="0" anchor="ctr"/>
          <a:lstStyle/>
          <a:p>
            <a:pPr marL="0" indent="0">
              <a:lnSpc>
                <a:spcPct val="125000"/>
              </a:lnSpc>
              <a:buNone/>
            </a:pPr>
            <a:r>
              <a:rPr lang="en-US" sz="700" dirty="0">
                <a:solidFill>
                  <a:srgbClr val="8B8FA8"/>
                </a:solidFill>
                <a:latin typeface="Consolas" pitchFamily="34" charset="0"/>
                <a:ea typeface="Consolas" pitchFamily="34" charset="-122"/>
                <a:cs typeface="Consolas" pitchFamily="34" charset="-120"/>
              </a:rPr>
              <a:t>DIVIDE([UnitsSold],[UnitsReceived],0)*100</a:t>
            </a:r>
            <a:endParaRPr lang="en-US" sz="700" dirty="0"/>
          </a:p>
        </p:txBody>
      </p:sp>
      <p:sp>
        <p:nvSpPr>
          <p:cNvPr id="54" name="Shape 52"/>
          <p:cNvSpPr/>
          <p:nvPr/>
        </p:nvSpPr>
        <p:spPr>
          <a:xfrm>
            <a:off x="6894576" y="3127248"/>
            <a:ext cx="2011680" cy="841248"/>
          </a:xfrm>
          <a:prstGeom prst="rect">
            <a:avLst/>
          </a:prstGeom>
          <a:solidFill>
            <a:srgbClr val="1A1F2E"/>
          </a:solidFill>
          <a:ln w="12700">
            <a:solidFill>
              <a:srgbClr val="2A2F40"/>
            </a:solidFill>
            <a:prstDash val="solid"/>
          </a:ln>
          <a:effectLst>
            <a:outerShdw blurRad="101600" dist="38100" dir="8100000" algn="bl" rotWithShape="0">
              <a:srgbClr val="000000">
                <a:alpha val="25000"/>
              </a:srgbClr>
            </a:outerShdw>
          </a:effectLst>
        </p:spPr>
        <p:txBody>
          <a:bodyPr/>
          <a:lstStyle/>
          <a:p>
            <a:endParaRPr lang="en-IN"/>
          </a:p>
        </p:txBody>
      </p:sp>
      <p:sp>
        <p:nvSpPr>
          <p:cNvPr id="55" name="Shape 53"/>
          <p:cNvSpPr/>
          <p:nvPr/>
        </p:nvSpPr>
        <p:spPr>
          <a:xfrm>
            <a:off x="6894576" y="3127248"/>
            <a:ext cx="54864" cy="841248"/>
          </a:xfrm>
          <a:prstGeom prst="rect">
            <a:avLst/>
          </a:prstGeom>
          <a:solidFill>
            <a:srgbClr val="1D9E75"/>
          </a:solidFill>
          <a:ln w="12700">
            <a:solidFill>
              <a:srgbClr val="1D9E75"/>
            </a:solidFill>
            <a:prstDash val="solid"/>
          </a:ln>
        </p:spPr>
        <p:txBody>
          <a:bodyPr/>
          <a:lstStyle/>
          <a:p>
            <a:endParaRPr lang="en-IN"/>
          </a:p>
        </p:txBody>
      </p:sp>
      <p:sp>
        <p:nvSpPr>
          <p:cNvPr id="56" name="Text 54"/>
          <p:cNvSpPr/>
          <p:nvPr/>
        </p:nvSpPr>
        <p:spPr>
          <a:xfrm>
            <a:off x="7059168" y="3191256"/>
            <a:ext cx="1737360" cy="219456"/>
          </a:xfrm>
          <a:prstGeom prst="rect">
            <a:avLst/>
          </a:prstGeom>
          <a:noFill/>
          <a:ln/>
        </p:spPr>
        <p:txBody>
          <a:bodyPr wrap="square" lIns="0" tIns="0" rIns="0" bIns="0" rtlCol="0" anchor="ctr"/>
          <a:lstStyle/>
          <a:p>
            <a:pPr marL="0" indent="0">
              <a:buNone/>
            </a:pPr>
            <a:r>
              <a:rPr lang="en-US" sz="950" b="1" dirty="0">
                <a:solidFill>
                  <a:srgbClr val="F5F0E8"/>
                </a:solidFill>
              </a:rPr>
              <a:t>GrossMargin%</a:t>
            </a:r>
            <a:endParaRPr lang="en-US" sz="950" dirty="0"/>
          </a:p>
        </p:txBody>
      </p:sp>
      <p:sp>
        <p:nvSpPr>
          <p:cNvPr id="57" name="Text 55"/>
          <p:cNvSpPr/>
          <p:nvPr/>
        </p:nvSpPr>
        <p:spPr>
          <a:xfrm>
            <a:off x="7059168" y="3429000"/>
            <a:ext cx="1737360" cy="475488"/>
          </a:xfrm>
          <a:prstGeom prst="rect">
            <a:avLst/>
          </a:prstGeom>
          <a:noFill/>
          <a:ln/>
        </p:spPr>
        <p:txBody>
          <a:bodyPr wrap="square" lIns="0" tIns="0" rIns="0" bIns="0" rtlCol="0" anchor="ctr"/>
          <a:lstStyle/>
          <a:p>
            <a:pPr marL="0" indent="0">
              <a:lnSpc>
                <a:spcPct val="125000"/>
              </a:lnSpc>
              <a:buNone/>
            </a:pPr>
            <a:r>
              <a:rPr lang="en-US" sz="700" dirty="0">
                <a:solidFill>
                  <a:srgbClr val="8B8FA8"/>
                </a:solidFill>
                <a:latin typeface="Consolas" pitchFamily="34" charset="0"/>
                <a:ea typeface="Consolas" pitchFamily="34" charset="-122"/>
                <a:cs typeface="Consolas" pitchFamily="34" charset="-120"/>
              </a:rPr>
              <a:t>DIVIDE([Revenue]-[COGS],[Revenue])</a:t>
            </a:r>
            <a:endParaRPr lang="en-US" sz="700" dirty="0"/>
          </a:p>
        </p:txBody>
      </p:sp>
      <p:sp>
        <p:nvSpPr>
          <p:cNvPr id="58" name="Shape 56"/>
          <p:cNvSpPr/>
          <p:nvPr/>
        </p:nvSpPr>
        <p:spPr>
          <a:xfrm>
            <a:off x="365760" y="4087368"/>
            <a:ext cx="2011680" cy="841248"/>
          </a:xfrm>
          <a:prstGeom prst="rect">
            <a:avLst/>
          </a:prstGeom>
          <a:solidFill>
            <a:srgbClr val="1A1F2E"/>
          </a:solidFill>
          <a:ln w="12700">
            <a:solidFill>
              <a:srgbClr val="2A2F40"/>
            </a:solidFill>
            <a:prstDash val="solid"/>
          </a:ln>
          <a:effectLst>
            <a:outerShdw blurRad="101600" dist="38100" dir="8100000" algn="bl" rotWithShape="0">
              <a:srgbClr val="000000">
                <a:alpha val="25000"/>
              </a:srgbClr>
            </a:outerShdw>
          </a:effectLst>
        </p:spPr>
        <p:txBody>
          <a:bodyPr/>
          <a:lstStyle/>
          <a:p>
            <a:endParaRPr lang="en-IN"/>
          </a:p>
        </p:txBody>
      </p:sp>
      <p:sp>
        <p:nvSpPr>
          <p:cNvPr id="59" name="Shape 57"/>
          <p:cNvSpPr/>
          <p:nvPr/>
        </p:nvSpPr>
        <p:spPr>
          <a:xfrm>
            <a:off x="365760" y="4087368"/>
            <a:ext cx="54864" cy="841248"/>
          </a:xfrm>
          <a:prstGeom prst="rect">
            <a:avLst/>
          </a:prstGeom>
          <a:solidFill>
            <a:srgbClr val="7F77DD"/>
          </a:solidFill>
          <a:ln w="12700">
            <a:solidFill>
              <a:srgbClr val="7F77DD"/>
            </a:solidFill>
            <a:prstDash val="solid"/>
          </a:ln>
        </p:spPr>
        <p:txBody>
          <a:bodyPr/>
          <a:lstStyle/>
          <a:p>
            <a:endParaRPr lang="en-IN"/>
          </a:p>
        </p:txBody>
      </p:sp>
      <p:sp>
        <p:nvSpPr>
          <p:cNvPr id="60" name="Text 58"/>
          <p:cNvSpPr/>
          <p:nvPr/>
        </p:nvSpPr>
        <p:spPr>
          <a:xfrm>
            <a:off x="530352" y="4151376"/>
            <a:ext cx="1737360" cy="219456"/>
          </a:xfrm>
          <a:prstGeom prst="rect">
            <a:avLst/>
          </a:prstGeom>
          <a:noFill/>
          <a:ln/>
        </p:spPr>
        <p:txBody>
          <a:bodyPr wrap="square" lIns="0" tIns="0" rIns="0" bIns="0" rtlCol="0" anchor="ctr"/>
          <a:lstStyle/>
          <a:p>
            <a:pPr marL="0" indent="0">
              <a:buNone/>
            </a:pPr>
            <a:r>
              <a:rPr lang="en-US" sz="950" b="1" dirty="0">
                <a:solidFill>
                  <a:srgbClr val="F5F0E8"/>
                </a:solidFill>
              </a:rPr>
              <a:t>ReturnRate%</a:t>
            </a:r>
            <a:endParaRPr lang="en-US" sz="950" dirty="0"/>
          </a:p>
        </p:txBody>
      </p:sp>
      <p:sp>
        <p:nvSpPr>
          <p:cNvPr id="61" name="Text 59"/>
          <p:cNvSpPr/>
          <p:nvPr/>
        </p:nvSpPr>
        <p:spPr>
          <a:xfrm>
            <a:off x="530352" y="4389120"/>
            <a:ext cx="1737360" cy="475488"/>
          </a:xfrm>
          <a:prstGeom prst="rect">
            <a:avLst/>
          </a:prstGeom>
          <a:noFill/>
          <a:ln/>
        </p:spPr>
        <p:txBody>
          <a:bodyPr wrap="square" lIns="0" tIns="0" rIns="0" bIns="0" rtlCol="0" anchor="ctr"/>
          <a:lstStyle/>
          <a:p>
            <a:pPr marL="0" indent="0">
              <a:lnSpc>
                <a:spcPct val="125000"/>
              </a:lnSpc>
              <a:buNone/>
            </a:pPr>
            <a:r>
              <a:rPr lang="en-US" sz="700" dirty="0">
                <a:solidFill>
                  <a:srgbClr val="8B8FA8"/>
                </a:solidFill>
                <a:latin typeface="Consolas" pitchFamily="34" charset="0"/>
                <a:ea typeface="Consolas" pitchFamily="34" charset="-122"/>
                <a:cs typeface="Consolas" pitchFamily="34" charset="-120"/>
              </a:rPr>
              <a:t>DIVIDE(CALCULATE([OrderCount],ReturnFlag="Yes"),[OrderCount])</a:t>
            </a:r>
            <a:endParaRPr lang="en-US" sz="700" dirty="0"/>
          </a:p>
        </p:txBody>
      </p:sp>
      <p:sp>
        <p:nvSpPr>
          <p:cNvPr id="62" name="Shape 60"/>
          <p:cNvSpPr/>
          <p:nvPr/>
        </p:nvSpPr>
        <p:spPr>
          <a:xfrm>
            <a:off x="2542032" y="4087368"/>
            <a:ext cx="2011680" cy="841248"/>
          </a:xfrm>
          <a:prstGeom prst="rect">
            <a:avLst/>
          </a:prstGeom>
          <a:solidFill>
            <a:srgbClr val="1A1F2E"/>
          </a:solidFill>
          <a:ln w="12700">
            <a:solidFill>
              <a:srgbClr val="2A2F40"/>
            </a:solidFill>
            <a:prstDash val="solid"/>
          </a:ln>
          <a:effectLst>
            <a:outerShdw blurRad="101600" dist="38100" dir="8100000" algn="bl" rotWithShape="0">
              <a:srgbClr val="000000">
                <a:alpha val="25000"/>
              </a:srgbClr>
            </a:outerShdw>
          </a:effectLst>
        </p:spPr>
        <p:txBody>
          <a:bodyPr/>
          <a:lstStyle/>
          <a:p>
            <a:endParaRPr lang="en-IN"/>
          </a:p>
        </p:txBody>
      </p:sp>
      <p:sp>
        <p:nvSpPr>
          <p:cNvPr id="63" name="Shape 61"/>
          <p:cNvSpPr/>
          <p:nvPr/>
        </p:nvSpPr>
        <p:spPr>
          <a:xfrm>
            <a:off x="2542032" y="4087368"/>
            <a:ext cx="54864" cy="841248"/>
          </a:xfrm>
          <a:prstGeom prst="rect">
            <a:avLst/>
          </a:prstGeom>
          <a:solidFill>
            <a:srgbClr val="7F77DD"/>
          </a:solidFill>
          <a:ln w="12700">
            <a:solidFill>
              <a:srgbClr val="7F77DD"/>
            </a:solidFill>
            <a:prstDash val="solid"/>
          </a:ln>
        </p:spPr>
        <p:txBody>
          <a:bodyPr/>
          <a:lstStyle/>
          <a:p>
            <a:endParaRPr lang="en-IN"/>
          </a:p>
        </p:txBody>
      </p:sp>
      <p:sp>
        <p:nvSpPr>
          <p:cNvPr id="64" name="Text 62"/>
          <p:cNvSpPr/>
          <p:nvPr/>
        </p:nvSpPr>
        <p:spPr>
          <a:xfrm>
            <a:off x="2706624" y="4151376"/>
            <a:ext cx="1737360" cy="219456"/>
          </a:xfrm>
          <a:prstGeom prst="rect">
            <a:avLst/>
          </a:prstGeom>
          <a:noFill/>
          <a:ln/>
        </p:spPr>
        <p:txBody>
          <a:bodyPr wrap="square" lIns="0" tIns="0" rIns="0" bIns="0" rtlCol="0" anchor="ctr"/>
          <a:lstStyle/>
          <a:p>
            <a:pPr marL="0" indent="0">
              <a:buNone/>
            </a:pPr>
            <a:r>
              <a:rPr lang="en-US" sz="950" b="1" dirty="0">
                <a:solidFill>
                  <a:srgbClr val="F5F0E8"/>
                </a:solidFill>
              </a:rPr>
              <a:t>PPI</a:t>
            </a:r>
            <a:endParaRPr lang="en-US" sz="950" dirty="0"/>
          </a:p>
        </p:txBody>
      </p:sp>
      <p:sp>
        <p:nvSpPr>
          <p:cNvPr id="65" name="Text 63"/>
          <p:cNvSpPr/>
          <p:nvPr/>
        </p:nvSpPr>
        <p:spPr>
          <a:xfrm>
            <a:off x="2706624" y="4389120"/>
            <a:ext cx="1737360" cy="475488"/>
          </a:xfrm>
          <a:prstGeom prst="rect">
            <a:avLst/>
          </a:prstGeom>
          <a:noFill/>
          <a:ln/>
        </p:spPr>
        <p:txBody>
          <a:bodyPr wrap="square" lIns="0" tIns="0" rIns="0" bIns="0" rtlCol="0" anchor="ctr"/>
          <a:lstStyle/>
          <a:p>
            <a:pPr marL="0" indent="0">
              <a:lnSpc>
                <a:spcPct val="125000"/>
              </a:lnSpc>
              <a:buNone/>
            </a:pPr>
            <a:r>
              <a:rPr lang="en-US" sz="700" dirty="0">
                <a:solidFill>
                  <a:srgbClr val="8B8FA8"/>
                </a:solidFill>
                <a:latin typeface="Consolas" pitchFamily="34" charset="0"/>
                <a:ea typeface="Consolas" pitchFamily="34" charset="-122"/>
                <a:cs typeface="Consolas" pitchFamily="34" charset="-120"/>
              </a:rPr>
              <a:t>DIVIDE([AvgSellingPrice],[MarketBenchmarkPrice],1)*100</a:t>
            </a:r>
            <a:endParaRPr lang="en-US" sz="700" dirty="0"/>
          </a:p>
        </p:txBody>
      </p:sp>
      <p:sp>
        <p:nvSpPr>
          <p:cNvPr id="66" name="Shape 64"/>
          <p:cNvSpPr/>
          <p:nvPr/>
        </p:nvSpPr>
        <p:spPr>
          <a:xfrm>
            <a:off x="4718304" y="4087368"/>
            <a:ext cx="2011680" cy="841248"/>
          </a:xfrm>
          <a:prstGeom prst="rect">
            <a:avLst/>
          </a:prstGeom>
          <a:solidFill>
            <a:srgbClr val="1A1F2E"/>
          </a:solidFill>
          <a:ln w="12700">
            <a:solidFill>
              <a:srgbClr val="2A2F40"/>
            </a:solidFill>
            <a:prstDash val="solid"/>
          </a:ln>
          <a:effectLst>
            <a:outerShdw blurRad="101600" dist="38100" dir="8100000" algn="bl" rotWithShape="0">
              <a:srgbClr val="000000">
                <a:alpha val="25000"/>
              </a:srgbClr>
            </a:outerShdw>
          </a:effectLst>
        </p:spPr>
        <p:txBody>
          <a:bodyPr/>
          <a:lstStyle/>
          <a:p>
            <a:endParaRPr lang="en-IN"/>
          </a:p>
        </p:txBody>
      </p:sp>
      <p:sp>
        <p:nvSpPr>
          <p:cNvPr id="67" name="Shape 65"/>
          <p:cNvSpPr/>
          <p:nvPr/>
        </p:nvSpPr>
        <p:spPr>
          <a:xfrm>
            <a:off x="4718304" y="4087368"/>
            <a:ext cx="54864" cy="841248"/>
          </a:xfrm>
          <a:prstGeom prst="rect">
            <a:avLst/>
          </a:prstGeom>
          <a:solidFill>
            <a:srgbClr val="D4537E"/>
          </a:solidFill>
          <a:ln w="12700">
            <a:solidFill>
              <a:srgbClr val="D4537E"/>
            </a:solidFill>
            <a:prstDash val="solid"/>
          </a:ln>
        </p:spPr>
        <p:txBody>
          <a:bodyPr/>
          <a:lstStyle/>
          <a:p>
            <a:endParaRPr lang="en-IN"/>
          </a:p>
        </p:txBody>
      </p:sp>
      <p:sp>
        <p:nvSpPr>
          <p:cNvPr id="68" name="Text 66"/>
          <p:cNvSpPr/>
          <p:nvPr/>
        </p:nvSpPr>
        <p:spPr>
          <a:xfrm>
            <a:off x="4882896" y="4151376"/>
            <a:ext cx="1737360" cy="219456"/>
          </a:xfrm>
          <a:prstGeom prst="rect">
            <a:avLst/>
          </a:prstGeom>
          <a:noFill/>
          <a:ln/>
        </p:spPr>
        <p:txBody>
          <a:bodyPr wrap="square" lIns="0" tIns="0" rIns="0" bIns="0" rtlCol="0" anchor="ctr"/>
          <a:lstStyle/>
          <a:p>
            <a:pPr marL="0" indent="0">
              <a:buNone/>
            </a:pPr>
            <a:r>
              <a:rPr lang="en-US" sz="950" b="1" dirty="0">
                <a:solidFill>
                  <a:srgbClr val="F5F0E8"/>
                </a:solidFill>
              </a:rPr>
              <a:t>ConvRate%</a:t>
            </a:r>
            <a:endParaRPr lang="en-US" sz="950" dirty="0"/>
          </a:p>
        </p:txBody>
      </p:sp>
      <p:sp>
        <p:nvSpPr>
          <p:cNvPr id="69" name="Text 67"/>
          <p:cNvSpPr/>
          <p:nvPr/>
        </p:nvSpPr>
        <p:spPr>
          <a:xfrm>
            <a:off x="4882896" y="4389120"/>
            <a:ext cx="1737360" cy="475488"/>
          </a:xfrm>
          <a:prstGeom prst="rect">
            <a:avLst/>
          </a:prstGeom>
          <a:noFill/>
          <a:ln/>
        </p:spPr>
        <p:txBody>
          <a:bodyPr wrap="square" lIns="0" tIns="0" rIns="0" bIns="0" rtlCol="0" anchor="ctr"/>
          <a:lstStyle/>
          <a:p>
            <a:pPr marL="0" indent="0">
              <a:lnSpc>
                <a:spcPct val="125000"/>
              </a:lnSpc>
              <a:buNone/>
            </a:pPr>
            <a:r>
              <a:rPr lang="en-US" sz="700" dirty="0">
                <a:solidFill>
                  <a:srgbClr val="8B8FA8"/>
                </a:solidFill>
                <a:latin typeface="Consolas" pitchFamily="34" charset="0"/>
                <a:ea typeface="Consolas" pitchFamily="34" charset="-122"/>
                <a:cs typeface="Consolas" pitchFamily="34" charset="-120"/>
              </a:rPr>
              <a:t>DIVIDE([Purchases],[Sessions],0)*100</a:t>
            </a:r>
            <a:endParaRPr lang="en-US" sz="700" dirty="0"/>
          </a:p>
        </p:txBody>
      </p:sp>
      <p:sp>
        <p:nvSpPr>
          <p:cNvPr id="70" name="Shape 68"/>
          <p:cNvSpPr/>
          <p:nvPr/>
        </p:nvSpPr>
        <p:spPr>
          <a:xfrm>
            <a:off x="6894576" y="4087368"/>
            <a:ext cx="2011680" cy="841248"/>
          </a:xfrm>
          <a:prstGeom prst="rect">
            <a:avLst/>
          </a:prstGeom>
          <a:solidFill>
            <a:srgbClr val="1A1F2E"/>
          </a:solidFill>
          <a:ln w="12700">
            <a:solidFill>
              <a:srgbClr val="2A2F40"/>
            </a:solidFill>
            <a:prstDash val="solid"/>
          </a:ln>
          <a:effectLst>
            <a:outerShdw blurRad="101600" dist="38100" dir="8100000" algn="bl" rotWithShape="0">
              <a:srgbClr val="000000">
                <a:alpha val="25000"/>
              </a:srgbClr>
            </a:outerShdw>
          </a:effectLst>
        </p:spPr>
        <p:txBody>
          <a:bodyPr/>
          <a:lstStyle/>
          <a:p>
            <a:endParaRPr lang="en-IN"/>
          </a:p>
        </p:txBody>
      </p:sp>
      <p:sp>
        <p:nvSpPr>
          <p:cNvPr id="71" name="Shape 69"/>
          <p:cNvSpPr/>
          <p:nvPr/>
        </p:nvSpPr>
        <p:spPr>
          <a:xfrm>
            <a:off x="6894576" y="4087368"/>
            <a:ext cx="54864" cy="841248"/>
          </a:xfrm>
          <a:prstGeom prst="rect">
            <a:avLst/>
          </a:prstGeom>
          <a:solidFill>
            <a:srgbClr val="D4537E"/>
          </a:solidFill>
          <a:ln w="12700">
            <a:solidFill>
              <a:srgbClr val="D4537E"/>
            </a:solidFill>
            <a:prstDash val="solid"/>
          </a:ln>
        </p:spPr>
        <p:txBody>
          <a:bodyPr/>
          <a:lstStyle/>
          <a:p>
            <a:endParaRPr lang="en-IN"/>
          </a:p>
        </p:txBody>
      </p:sp>
      <p:sp>
        <p:nvSpPr>
          <p:cNvPr id="72" name="Text 70"/>
          <p:cNvSpPr/>
          <p:nvPr/>
        </p:nvSpPr>
        <p:spPr>
          <a:xfrm>
            <a:off x="7059168" y="4151376"/>
            <a:ext cx="1737360" cy="219456"/>
          </a:xfrm>
          <a:prstGeom prst="rect">
            <a:avLst/>
          </a:prstGeom>
          <a:noFill/>
          <a:ln/>
        </p:spPr>
        <p:txBody>
          <a:bodyPr wrap="square" lIns="0" tIns="0" rIns="0" bIns="0" rtlCol="0" anchor="ctr"/>
          <a:lstStyle/>
          <a:p>
            <a:pPr marL="0" indent="0">
              <a:buNone/>
            </a:pPr>
            <a:r>
              <a:rPr lang="en-US" sz="950" b="1" dirty="0">
                <a:solidFill>
                  <a:srgbClr val="F5F0E8"/>
                </a:solidFill>
              </a:rPr>
              <a:t>FW_Lift%</a:t>
            </a:r>
            <a:endParaRPr lang="en-US" sz="950" dirty="0"/>
          </a:p>
        </p:txBody>
      </p:sp>
      <p:sp>
        <p:nvSpPr>
          <p:cNvPr id="73" name="Text 71"/>
          <p:cNvSpPr/>
          <p:nvPr/>
        </p:nvSpPr>
        <p:spPr>
          <a:xfrm>
            <a:off x="7059168" y="4389120"/>
            <a:ext cx="1737360" cy="475488"/>
          </a:xfrm>
          <a:prstGeom prst="rect">
            <a:avLst/>
          </a:prstGeom>
          <a:noFill/>
          <a:ln/>
        </p:spPr>
        <p:txBody>
          <a:bodyPr wrap="square" lIns="0" tIns="0" rIns="0" bIns="0" rtlCol="0" anchor="ctr"/>
          <a:lstStyle/>
          <a:p>
            <a:pPr marL="0" indent="0">
              <a:lnSpc>
                <a:spcPct val="125000"/>
              </a:lnSpc>
              <a:buNone/>
            </a:pPr>
            <a:r>
              <a:rPr lang="en-US" sz="700" dirty="0">
                <a:solidFill>
                  <a:srgbClr val="8B8FA8"/>
                </a:solidFill>
                <a:latin typeface="Consolas" pitchFamily="34" charset="0"/>
                <a:ea typeface="Consolas" pitchFamily="34" charset="-122"/>
                <a:cs typeface="Consolas" pitchFamily="34" charset="-120"/>
              </a:rPr>
              <a:t>DIVIDE(CALCULATE([GMV],FashionWeekFlag="Yes"),CALCULATE([GMV],FashionWeekFlag="No"),0)-1</a:t>
            </a:r>
            <a:endParaRPr lang="en-US" sz="700" dirty="0"/>
          </a:p>
        </p:txBody>
      </p:sp>
      <p:sp>
        <p:nvSpPr>
          <p:cNvPr id="74" name="Shape 72"/>
          <p:cNvSpPr/>
          <p:nvPr/>
        </p:nvSpPr>
        <p:spPr>
          <a:xfrm>
            <a:off x="393192" y="4873751"/>
            <a:ext cx="8412480" cy="173737"/>
          </a:xfrm>
          <a:prstGeom prst="rect">
            <a:avLst/>
          </a:prstGeom>
          <a:solidFill>
            <a:srgbClr val="161B2A"/>
          </a:solidFill>
          <a:ln w="12700">
            <a:solidFill>
              <a:srgbClr val="C9A84C"/>
            </a:solidFill>
            <a:prstDash val="solid"/>
          </a:ln>
        </p:spPr>
        <p:txBody>
          <a:bodyPr/>
          <a:lstStyle/>
          <a:p>
            <a:endParaRPr lang="en-IN"/>
          </a:p>
        </p:txBody>
      </p:sp>
      <p:sp>
        <p:nvSpPr>
          <p:cNvPr id="75" name="Text 73"/>
          <p:cNvSpPr/>
          <p:nvPr/>
        </p:nvSpPr>
        <p:spPr>
          <a:xfrm>
            <a:off x="502920" y="4791456"/>
            <a:ext cx="8138160" cy="274320"/>
          </a:xfrm>
          <a:prstGeom prst="rect">
            <a:avLst/>
          </a:prstGeom>
          <a:noFill/>
          <a:ln/>
        </p:spPr>
        <p:txBody>
          <a:bodyPr wrap="square" lIns="0" tIns="0" rIns="0" bIns="0" rtlCol="0" anchor="ctr"/>
          <a:lstStyle/>
          <a:p>
            <a:pPr marL="0" indent="0">
              <a:buNone/>
            </a:pPr>
            <a:r>
              <a:rPr lang="en-US" sz="750" dirty="0">
                <a:solidFill>
                  <a:srgbClr val="C9A84C"/>
                </a:solidFill>
              </a:rPr>
              <a:t>Supporting measures:  PurchaseFrequency  ·  Avg_Lifespan_Years  ·  RepeatClients  ·  RecencyScore  ·  FrequencyScore  ·  MonetaryScore  ·  UnitsSold  ·  UnitsReceived  ·  TargetGMV  ·  Sessions  ·  Top10_Clients</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9A84C"/>
          </a:solidFill>
          <a:ln w="12700">
            <a:solidFill>
              <a:srgbClr val="C9A84C"/>
            </a:solidFill>
            <a:prstDash val="solid"/>
          </a:ln>
        </p:spPr>
        <p:txBody>
          <a:bodyPr/>
          <a:lstStyle/>
          <a:p>
            <a:endParaRPr lang="en-IN"/>
          </a:p>
        </p:txBody>
      </p:sp>
      <p:sp>
        <p:nvSpPr>
          <p:cNvPr id="3" name="Shape 1"/>
          <p:cNvSpPr/>
          <p:nvPr/>
        </p:nvSpPr>
        <p:spPr>
          <a:xfrm>
            <a:off x="0" y="5074920"/>
            <a:ext cx="9144000" cy="68580"/>
          </a:xfrm>
          <a:prstGeom prst="rect">
            <a:avLst/>
          </a:prstGeom>
          <a:solidFill>
            <a:srgbClr val="1A1F2E"/>
          </a:solidFill>
          <a:ln w="12700">
            <a:solidFill>
              <a:srgbClr val="1A1F2E"/>
            </a:solidFill>
            <a:prstDash val="solid"/>
          </a:ln>
        </p:spPr>
        <p:txBody>
          <a:bodyPr/>
          <a:lstStyle/>
          <a:p>
            <a:endParaRPr lang="en-IN"/>
          </a:p>
        </p:txBody>
      </p:sp>
      <p:sp>
        <p:nvSpPr>
          <p:cNvPr id="4" name="Text 2"/>
          <p:cNvSpPr/>
          <p:nvPr/>
        </p:nvSpPr>
        <p:spPr>
          <a:xfrm>
            <a:off x="274320" y="5074920"/>
            <a:ext cx="6400800" cy="68580"/>
          </a:xfrm>
          <a:prstGeom prst="rect">
            <a:avLst/>
          </a:prstGeom>
          <a:noFill/>
          <a:ln/>
        </p:spPr>
        <p:txBody>
          <a:bodyPr wrap="square" lIns="0" tIns="0" rIns="0" bIns="0" rtlCol="0" anchor="ctr"/>
          <a:lstStyle/>
          <a:p>
            <a:pPr marL="0" indent="0">
              <a:buNone/>
            </a:pPr>
            <a:r>
              <a:rPr lang="en-US" sz="700" dirty="0">
                <a:solidFill>
                  <a:srgbClr val="8B8FA8"/>
                </a:solidFill>
              </a:rPr>
              <a:t>  Luxury Fashion Performance Intelligence</a:t>
            </a:r>
            <a:endParaRPr lang="en-US" sz="700" dirty="0"/>
          </a:p>
        </p:txBody>
      </p:sp>
      <p:sp>
        <p:nvSpPr>
          <p:cNvPr id="6" name="Shape 4"/>
          <p:cNvSpPr/>
          <p:nvPr/>
        </p:nvSpPr>
        <p:spPr>
          <a:xfrm>
            <a:off x="365760" y="164592"/>
            <a:ext cx="2194560" cy="201168"/>
          </a:xfrm>
          <a:prstGeom prst="rect">
            <a:avLst/>
          </a:prstGeom>
          <a:solidFill>
            <a:srgbClr val="C9A84C"/>
          </a:solidFill>
          <a:ln w="12700">
            <a:solidFill>
              <a:srgbClr val="C9A84C"/>
            </a:solidFill>
            <a:prstDash val="solid"/>
          </a:ln>
        </p:spPr>
        <p:txBody>
          <a:bodyPr/>
          <a:lstStyle/>
          <a:p>
            <a:endParaRPr lang="en-IN"/>
          </a:p>
        </p:txBody>
      </p:sp>
      <p:sp>
        <p:nvSpPr>
          <p:cNvPr id="7" name="Text 5"/>
          <p:cNvSpPr/>
          <p:nvPr/>
        </p:nvSpPr>
        <p:spPr>
          <a:xfrm>
            <a:off x="365760" y="164592"/>
            <a:ext cx="2194560" cy="201168"/>
          </a:xfrm>
          <a:prstGeom prst="rect">
            <a:avLst/>
          </a:prstGeom>
          <a:noFill/>
          <a:ln/>
        </p:spPr>
        <p:txBody>
          <a:bodyPr wrap="square" lIns="0" tIns="0" rIns="0" bIns="0" rtlCol="0" anchor="ctr"/>
          <a:lstStyle/>
          <a:p>
            <a:pPr marL="0" indent="0" algn="ctr">
              <a:buNone/>
            </a:pPr>
            <a:r>
              <a:rPr lang="en-US" sz="750" b="1" kern="0" spc="200" dirty="0">
                <a:solidFill>
                  <a:srgbClr val="0D0D0D"/>
                </a:solidFill>
              </a:rPr>
              <a:t>08  ·  DASHBOARD OVERVIEW</a:t>
            </a:r>
            <a:endParaRPr lang="en-US" sz="750" dirty="0"/>
          </a:p>
        </p:txBody>
      </p:sp>
      <p:sp>
        <p:nvSpPr>
          <p:cNvPr id="8" name="Text 6"/>
          <p:cNvSpPr/>
          <p:nvPr/>
        </p:nvSpPr>
        <p:spPr>
          <a:xfrm>
            <a:off x="365760" y="457200"/>
            <a:ext cx="8229600" cy="457200"/>
          </a:xfrm>
          <a:prstGeom prst="rect">
            <a:avLst/>
          </a:prstGeom>
          <a:noFill/>
          <a:ln/>
        </p:spPr>
        <p:txBody>
          <a:bodyPr wrap="square" lIns="0" tIns="0" rIns="0" bIns="0" rtlCol="0" anchor="ctr"/>
          <a:lstStyle/>
          <a:p>
            <a:pPr marL="0" indent="0">
              <a:buNone/>
            </a:pPr>
            <a:r>
              <a:rPr lang="en-US" sz="2600" b="1" dirty="0">
                <a:solidFill>
                  <a:srgbClr val="F5F0E8"/>
                </a:solidFill>
              </a:rPr>
              <a:t>Six Analytical Views </a:t>
            </a:r>
            <a:endParaRPr lang="en-US" sz="2600" dirty="0"/>
          </a:p>
        </p:txBody>
      </p:sp>
      <p:sp>
        <p:nvSpPr>
          <p:cNvPr id="9" name="Text 7"/>
          <p:cNvSpPr/>
          <p:nvPr/>
        </p:nvSpPr>
        <p:spPr>
          <a:xfrm>
            <a:off x="365760" y="896112"/>
            <a:ext cx="8229600" cy="201168"/>
          </a:xfrm>
          <a:prstGeom prst="rect">
            <a:avLst/>
          </a:prstGeom>
          <a:noFill/>
          <a:ln/>
        </p:spPr>
        <p:txBody>
          <a:bodyPr wrap="square" lIns="0" tIns="0" rIns="0" bIns="0" rtlCol="0" anchor="ctr"/>
          <a:lstStyle/>
          <a:p>
            <a:pPr marL="0" indent="0">
              <a:buNone/>
            </a:pPr>
            <a:r>
              <a:rPr lang="en-US" sz="1100" dirty="0">
                <a:solidFill>
                  <a:srgbClr val="8B8FA8"/>
                </a:solidFill>
              </a:rPr>
              <a:t>Each page is supported by interactive slicers for year, season, brand, channel, and client tier</a:t>
            </a:r>
            <a:endParaRPr lang="en-US" sz="1100" dirty="0"/>
          </a:p>
        </p:txBody>
      </p:sp>
      <p:sp>
        <p:nvSpPr>
          <p:cNvPr id="10" name="Shape 8"/>
          <p:cNvSpPr/>
          <p:nvPr/>
        </p:nvSpPr>
        <p:spPr>
          <a:xfrm>
            <a:off x="365760" y="1207008"/>
            <a:ext cx="4114800" cy="1051560"/>
          </a:xfrm>
          <a:prstGeom prst="rect">
            <a:avLst/>
          </a:prstGeom>
          <a:solidFill>
            <a:srgbClr val="1A1F2E"/>
          </a:solidFill>
          <a:ln w="12700">
            <a:solidFill>
              <a:srgbClr val="2A2F40"/>
            </a:solidFill>
            <a:prstDash val="solid"/>
          </a:ln>
          <a:effectLst>
            <a:outerShdw blurRad="101600" dist="38100" dir="8100000" algn="bl" rotWithShape="0">
              <a:srgbClr val="000000">
                <a:alpha val="25000"/>
              </a:srgbClr>
            </a:outerShdw>
          </a:effectLst>
        </p:spPr>
        <p:txBody>
          <a:bodyPr/>
          <a:lstStyle/>
          <a:p>
            <a:endParaRPr lang="en-IN"/>
          </a:p>
        </p:txBody>
      </p:sp>
      <p:sp>
        <p:nvSpPr>
          <p:cNvPr id="11" name="Shape 9"/>
          <p:cNvSpPr/>
          <p:nvPr/>
        </p:nvSpPr>
        <p:spPr>
          <a:xfrm>
            <a:off x="365760" y="1207008"/>
            <a:ext cx="54864" cy="1051560"/>
          </a:xfrm>
          <a:prstGeom prst="rect">
            <a:avLst/>
          </a:prstGeom>
          <a:solidFill>
            <a:srgbClr val="C9A84C"/>
          </a:solidFill>
          <a:ln w="12700">
            <a:solidFill>
              <a:srgbClr val="C9A84C"/>
            </a:solidFill>
            <a:prstDash val="solid"/>
          </a:ln>
        </p:spPr>
        <p:txBody>
          <a:bodyPr/>
          <a:lstStyle/>
          <a:p>
            <a:endParaRPr lang="en-IN"/>
          </a:p>
        </p:txBody>
      </p:sp>
      <p:sp>
        <p:nvSpPr>
          <p:cNvPr id="12" name="Shape 10"/>
          <p:cNvSpPr/>
          <p:nvPr/>
        </p:nvSpPr>
        <p:spPr>
          <a:xfrm>
            <a:off x="502920" y="1362456"/>
            <a:ext cx="347472" cy="347472"/>
          </a:xfrm>
          <a:prstGeom prst="rect">
            <a:avLst/>
          </a:prstGeom>
          <a:solidFill>
            <a:srgbClr val="C9A84C"/>
          </a:solidFill>
          <a:ln w="12700">
            <a:solidFill>
              <a:srgbClr val="C9A84C"/>
            </a:solidFill>
            <a:prstDash val="solid"/>
          </a:ln>
        </p:spPr>
        <p:txBody>
          <a:bodyPr/>
          <a:lstStyle/>
          <a:p>
            <a:endParaRPr lang="en-IN"/>
          </a:p>
        </p:txBody>
      </p:sp>
      <p:sp>
        <p:nvSpPr>
          <p:cNvPr id="13" name="Text 11"/>
          <p:cNvSpPr/>
          <p:nvPr/>
        </p:nvSpPr>
        <p:spPr>
          <a:xfrm>
            <a:off x="502920" y="1362456"/>
            <a:ext cx="347472" cy="347472"/>
          </a:xfrm>
          <a:prstGeom prst="rect">
            <a:avLst/>
          </a:prstGeom>
          <a:noFill/>
          <a:ln/>
        </p:spPr>
        <p:txBody>
          <a:bodyPr wrap="square" lIns="0" tIns="0" rIns="0" bIns="0" rtlCol="0" anchor="ctr"/>
          <a:lstStyle/>
          <a:p>
            <a:pPr marL="0" indent="0" algn="ctr">
              <a:buNone/>
            </a:pPr>
            <a:r>
              <a:rPr lang="en-US" sz="1400" b="1" dirty="0">
                <a:solidFill>
                  <a:srgbClr val="0D0D0D"/>
                </a:solidFill>
              </a:rPr>
              <a:t>1</a:t>
            </a:r>
            <a:endParaRPr lang="en-US" sz="1400" dirty="0"/>
          </a:p>
        </p:txBody>
      </p:sp>
      <p:sp>
        <p:nvSpPr>
          <p:cNvPr id="14" name="Text 12"/>
          <p:cNvSpPr/>
          <p:nvPr/>
        </p:nvSpPr>
        <p:spPr>
          <a:xfrm>
            <a:off x="960120" y="1371600"/>
            <a:ext cx="3383280" cy="256032"/>
          </a:xfrm>
          <a:prstGeom prst="rect">
            <a:avLst/>
          </a:prstGeom>
          <a:noFill/>
          <a:ln/>
        </p:spPr>
        <p:txBody>
          <a:bodyPr wrap="square" lIns="0" tIns="0" rIns="0" bIns="0" rtlCol="0" anchor="ctr"/>
          <a:lstStyle/>
          <a:p>
            <a:pPr marL="0" indent="0">
              <a:buNone/>
            </a:pPr>
            <a:r>
              <a:rPr lang="en-US" sz="1200" b="1" dirty="0">
                <a:solidFill>
                  <a:srgbClr val="F5F0E8"/>
                </a:solidFill>
              </a:rPr>
              <a:t>Executive Overview</a:t>
            </a:r>
            <a:endParaRPr lang="en-US" sz="1200" dirty="0"/>
          </a:p>
        </p:txBody>
      </p:sp>
      <p:sp>
        <p:nvSpPr>
          <p:cNvPr id="15" name="Text 13"/>
          <p:cNvSpPr/>
          <p:nvPr/>
        </p:nvSpPr>
        <p:spPr>
          <a:xfrm>
            <a:off x="960120" y="1645920"/>
            <a:ext cx="3383280" cy="548640"/>
          </a:xfrm>
          <a:prstGeom prst="rect">
            <a:avLst/>
          </a:prstGeom>
          <a:noFill/>
          <a:ln/>
        </p:spPr>
        <p:txBody>
          <a:bodyPr wrap="square" lIns="0" tIns="0" rIns="0" bIns="0" rtlCol="0" anchor="ctr"/>
          <a:lstStyle/>
          <a:p>
            <a:pPr marL="0" indent="0">
              <a:lnSpc>
                <a:spcPct val="140000"/>
              </a:lnSpc>
              <a:buNone/>
            </a:pPr>
            <a:r>
              <a:rPr lang="en-US" sz="850" dirty="0">
                <a:solidFill>
                  <a:srgbClr val="8B8FA8"/>
                </a:solidFill>
              </a:rPr>
              <a:t>Total GMV · AOV · Repeat Rate · Return Rate · Monthly Trend · Brand Revenue · Channel Mix · Geo Map</a:t>
            </a:r>
            <a:endParaRPr lang="en-US" sz="850" dirty="0"/>
          </a:p>
        </p:txBody>
      </p:sp>
      <p:sp>
        <p:nvSpPr>
          <p:cNvPr id="16" name="Shape 14"/>
          <p:cNvSpPr/>
          <p:nvPr/>
        </p:nvSpPr>
        <p:spPr>
          <a:xfrm>
            <a:off x="4709160" y="1207008"/>
            <a:ext cx="4114800" cy="1051560"/>
          </a:xfrm>
          <a:prstGeom prst="rect">
            <a:avLst/>
          </a:prstGeom>
          <a:solidFill>
            <a:srgbClr val="1A1F2E"/>
          </a:solidFill>
          <a:ln w="12700">
            <a:solidFill>
              <a:srgbClr val="2A2F40"/>
            </a:solidFill>
            <a:prstDash val="solid"/>
          </a:ln>
          <a:effectLst>
            <a:outerShdw blurRad="101600" dist="38100" dir="8100000" algn="bl" rotWithShape="0">
              <a:srgbClr val="000000">
                <a:alpha val="25000"/>
              </a:srgbClr>
            </a:outerShdw>
          </a:effectLst>
        </p:spPr>
        <p:txBody>
          <a:bodyPr/>
          <a:lstStyle/>
          <a:p>
            <a:endParaRPr lang="en-IN"/>
          </a:p>
        </p:txBody>
      </p:sp>
      <p:sp>
        <p:nvSpPr>
          <p:cNvPr id="17" name="Shape 15"/>
          <p:cNvSpPr/>
          <p:nvPr/>
        </p:nvSpPr>
        <p:spPr>
          <a:xfrm>
            <a:off x="4709160" y="1207008"/>
            <a:ext cx="54864" cy="1051560"/>
          </a:xfrm>
          <a:prstGeom prst="rect">
            <a:avLst/>
          </a:prstGeom>
          <a:solidFill>
            <a:srgbClr val="7F77DD"/>
          </a:solidFill>
          <a:ln w="12700">
            <a:solidFill>
              <a:srgbClr val="7F77DD"/>
            </a:solidFill>
            <a:prstDash val="solid"/>
          </a:ln>
        </p:spPr>
        <p:txBody>
          <a:bodyPr/>
          <a:lstStyle/>
          <a:p>
            <a:endParaRPr lang="en-IN"/>
          </a:p>
        </p:txBody>
      </p:sp>
      <p:sp>
        <p:nvSpPr>
          <p:cNvPr id="18" name="Shape 16"/>
          <p:cNvSpPr/>
          <p:nvPr/>
        </p:nvSpPr>
        <p:spPr>
          <a:xfrm>
            <a:off x="4846320" y="1362456"/>
            <a:ext cx="347472" cy="347472"/>
          </a:xfrm>
          <a:prstGeom prst="rect">
            <a:avLst/>
          </a:prstGeom>
          <a:solidFill>
            <a:srgbClr val="7F77DD"/>
          </a:solidFill>
          <a:ln w="12700">
            <a:solidFill>
              <a:srgbClr val="7F77DD"/>
            </a:solidFill>
            <a:prstDash val="solid"/>
          </a:ln>
        </p:spPr>
        <p:txBody>
          <a:bodyPr/>
          <a:lstStyle/>
          <a:p>
            <a:endParaRPr lang="en-IN"/>
          </a:p>
        </p:txBody>
      </p:sp>
      <p:sp>
        <p:nvSpPr>
          <p:cNvPr id="19" name="Text 17"/>
          <p:cNvSpPr/>
          <p:nvPr/>
        </p:nvSpPr>
        <p:spPr>
          <a:xfrm>
            <a:off x="4846320" y="1362456"/>
            <a:ext cx="347472" cy="347472"/>
          </a:xfrm>
          <a:prstGeom prst="rect">
            <a:avLst/>
          </a:prstGeom>
          <a:noFill/>
          <a:ln/>
        </p:spPr>
        <p:txBody>
          <a:bodyPr wrap="square" lIns="0" tIns="0" rIns="0" bIns="0" rtlCol="0" anchor="ctr"/>
          <a:lstStyle/>
          <a:p>
            <a:pPr marL="0" indent="0" algn="ctr">
              <a:buNone/>
            </a:pPr>
            <a:r>
              <a:rPr lang="en-US" sz="1400" b="1" dirty="0">
                <a:solidFill>
                  <a:srgbClr val="0D0D0D"/>
                </a:solidFill>
              </a:rPr>
              <a:t>2</a:t>
            </a:r>
            <a:endParaRPr lang="en-US" sz="1400" dirty="0"/>
          </a:p>
        </p:txBody>
      </p:sp>
      <p:sp>
        <p:nvSpPr>
          <p:cNvPr id="20" name="Text 18"/>
          <p:cNvSpPr/>
          <p:nvPr/>
        </p:nvSpPr>
        <p:spPr>
          <a:xfrm>
            <a:off x="5303520" y="1371600"/>
            <a:ext cx="3383280" cy="256032"/>
          </a:xfrm>
          <a:prstGeom prst="rect">
            <a:avLst/>
          </a:prstGeom>
          <a:noFill/>
          <a:ln/>
        </p:spPr>
        <p:txBody>
          <a:bodyPr wrap="square" lIns="0" tIns="0" rIns="0" bIns="0" rtlCol="0" anchor="ctr"/>
          <a:lstStyle/>
          <a:p>
            <a:pPr marL="0" indent="0">
              <a:buNone/>
            </a:pPr>
            <a:r>
              <a:rPr lang="en-US" sz="1200" b="1" dirty="0">
                <a:solidFill>
                  <a:srgbClr val="F5F0E8"/>
                </a:solidFill>
              </a:rPr>
              <a:t>Client Intelligence</a:t>
            </a:r>
            <a:endParaRPr lang="en-US" sz="1200" dirty="0"/>
          </a:p>
        </p:txBody>
      </p:sp>
      <p:sp>
        <p:nvSpPr>
          <p:cNvPr id="21" name="Text 19"/>
          <p:cNvSpPr/>
          <p:nvPr/>
        </p:nvSpPr>
        <p:spPr>
          <a:xfrm>
            <a:off x="5303520" y="1645920"/>
            <a:ext cx="3383280" cy="548640"/>
          </a:xfrm>
          <a:prstGeom prst="rect">
            <a:avLst/>
          </a:prstGeom>
          <a:noFill/>
          <a:ln/>
        </p:spPr>
        <p:txBody>
          <a:bodyPr wrap="square" lIns="0" tIns="0" rIns="0" bIns="0" rtlCol="0" anchor="ctr"/>
          <a:lstStyle/>
          <a:p>
            <a:pPr marL="0" indent="0">
              <a:lnSpc>
                <a:spcPct val="140000"/>
              </a:lnSpc>
              <a:buNone/>
            </a:pPr>
            <a:r>
              <a:rPr lang="en-US" sz="850" dirty="0">
                <a:solidFill>
                  <a:srgbClr val="8B8FA8"/>
                </a:solidFill>
              </a:rPr>
              <a:t>VIC Count · CLTV · GMV by Tier · CLTV vs Frequency Scatter · Churn Risk · Top 20 VIC Table</a:t>
            </a:r>
            <a:endParaRPr lang="en-US" sz="850" dirty="0"/>
          </a:p>
        </p:txBody>
      </p:sp>
      <p:sp>
        <p:nvSpPr>
          <p:cNvPr id="22" name="Shape 20"/>
          <p:cNvSpPr/>
          <p:nvPr/>
        </p:nvSpPr>
        <p:spPr>
          <a:xfrm>
            <a:off x="365760" y="2414016"/>
            <a:ext cx="4114800" cy="1051560"/>
          </a:xfrm>
          <a:prstGeom prst="rect">
            <a:avLst/>
          </a:prstGeom>
          <a:solidFill>
            <a:srgbClr val="1A1F2E"/>
          </a:solidFill>
          <a:ln w="12700">
            <a:solidFill>
              <a:srgbClr val="2A2F40"/>
            </a:solidFill>
            <a:prstDash val="solid"/>
          </a:ln>
          <a:effectLst>
            <a:outerShdw blurRad="101600" dist="38100" dir="8100000" algn="bl" rotWithShape="0">
              <a:srgbClr val="000000">
                <a:alpha val="25000"/>
              </a:srgbClr>
            </a:outerShdw>
          </a:effectLst>
        </p:spPr>
        <p:txBody>
          <a:bodyPr/>
          <a:lstStyle/>
          <a:p>
            <a:endParaRPr lang="en-IN"/>
          </a:p>
        </p:txBody>
      </p:sp>
      <p:sp>
        <p:nvSpPr>
          <p:cNvPr id="23" name="Shape 21"/>
          <p:cNvSpPr/>
          <p:nvPr/>
        </p:nvSpPr>
        <p:spPr>
          <a:xfrm>
            <a:off x="365760" y="2414016"/>
            <a:ext cx="54864" cy="1051560"/>
          </a:xfrm>
          <a:prstGeom prst="rect">
            <a:avLst/>
          </a:prstGeom>
          <a:solidFill>
            <a:srgbClr val="1D9E75"/>
          </a:solidFill>
          <a:ln w="12700">
            <a:solidFill>
              <a:srgbClr val="1D9E75"/>
            </a:solidFill>
            <a:prstDash val="solid"/>
          </a:ln>
        </p:spPr>
        <p:txBody>
          <a:bodyPr/>
          <a:lstStyle/>
          <a:p>
            <a:endParaRPr lang="en-IN"/>
          </a:p>
        </p:txBody>
      </p:sp>
      <p:sp>
        <p:nvSpPr>
          <p:cNvPr id="24" name="Shape 22"/>
          <p:cNvSpPr/>
          <p:nvPr/>
        </p:nvSpPr>
        <p:spPr>
          <a:xfrm>
            <a:off x="502920" y="2569464"/>
            <a:ext cx="347472" cy="347472"/>
          </a:xfrm>
          <a:prstGeom prst="rect">
            <a:avLst/>
          </a:prstGeom>
          <a:solidFill>
            <a:srgbClr val="1D9E75"/>
          </a:solidFill>
          <a:ln w="12700">
            <a:solidFill>
              <a:srgbClr val="1D9E75"/>
            </a:solidFill>
            <a:prstDash val="solid"/>
          </a:ln>
        </p:spPr>
        <p:txBody>
          <a:bodyPr/>
          <a:lstStyle/>
          <a:p>
            <a:endParaRPr lang="en-IN"/>
          </a:p>
        </p:txBody>
      </p:sp>
      <p:sp>
        <p:nvSpPr>
          <p:cNvPr id="25" name="Text 23"/>
          <p:cNvSpPr/>
          <p:nvPr/>
        </p:nvSpPr>
        <p:spPr>
          <a:xfrm>
            <a:off x="502920" y="2569464"/>
            <a:ext cx="347472" cy="347472"/>
          </a:xfrm>
          <a:prstGeom prst="rect">
            <a:avLst/>
          </a:prstGeom>
          <a:noFill/>
          <a:ln/>
        </p:spPr>
        <p:txBody>
          <a:bodyPr wrap="square" lIns="0" tIns="0" rIns="0" bIns="0" rtlCol="0" anchor="ctr"/>
          <a:lstStyle/>
          <a:p>
            <a:pPr marL="0" indent="0" algn="ctr">
              <a:buNone/>
            </a:pPr>
            <a:r>
              <a:rPr lang="en-US" sz="1400" b="1" dirty="0">
                <a:solidFill>
                  <a:srgbClr val="0D0D0D"/>
                </a:solidFill>
              </a:rPr>
              <a:t>3</a:t>
            </a:r>
            <a:endParaRPr lang="en-US" sz="1400" dirty="0"/>
          </a:p>
        </p:txBody>
      </p:sp>
      <p:sp>
        <p:nvSpPr>
          <p:cNvPr id="26" name="Text 24"/>
          <p:cNvSpPr/>
          <p:nvPr/>
        </p:nvSpPr>
        <p:spPr>
          <a:xfrm>
            <a:off x="960120" y="2578608"/>
            <a:ext cx="3383280" cy="256032"/>
          </a:xfrm>
          <a:prstGeom prst="rect">
            <a:avLst/>
          </a:prstGeom>
          <a:noFill/>
          <a:ln/>
        </p:spPr>
        <p:txBody>
          <a:bodyPr wrap="square" lIns="0" tIns="0" rIns="0" bIns="0" rtlCol="0" anchor="ctr"/>
          <a:lstStyle/>
          <a:p>
            <a:pPr marL="0" indent="0">
              <a:buNone/>
            </a:pPr>
            <a:r>
              <a:rPr lang="en-US" sz="1200" b="1" dirty="0">
                <a:solidFill>
                  <a:srgbClr val="F5F0E8"/>
                </a:solidFill>
              </a:rPr>
              <a:t>Product Performance</a:t>
            </a:r>
            <a:endParaRPr lang="en-US" sz="1200" dirty="0"/>
          </a:p>
        </p:txBody>
      </p:sp>
      <p:sp>
        <p:nvSpPr>
          <p:cNvPr id="27" name="Text 25"/>
          <p:cNvSpPr/>
          <p:nvPr/>
        </p:nvSpPr>
        <p:spPr>
          <a:xfrm>
            <a:off x="960120" y="2852928"/>
            <a:ext cx="3383280" cy="548640"/>
          </a:xfrm>
          <a:prstGeom prst="rect">
            <a:avLst/>
          </a:prstGeom>
          <a:noFill/>
          <a:ln/>
        </p:spPr>
        <p:txBody>
          <a:bodyPr wrap="square" lIns="0" tIns="0" rIns="0" bIns="0" rtlCol="0" anchor="ctr"/>
          <a:lstStyle/>
          <a:p>
            <a:pPr marL="0" indent="0">
              <a:lnSpc>
                <a:spcPct val="140000"/>
              </a:lnSpc>
              <a:buNone/>
            </a:pPr>
            <a:r>
              <a:rPr lang="en-US" sz="850" dirty="0">
                <a:solidFill>
                  <a:srgbClr val="8B8FA8"/>
                </a:solidFill>
              </a:rPr>
              <a:t>Gross Margin · Sell-Through Matrix · Brand Treemap · Return Waterfall · Margin by Category</a:t>
            </a:r>
            <a:endParaRPr lang="en-US" sz="850" dirty="0"/>
          </a:p>
        </p:txBody>
      </p:sp>
      <p:sp>
        <p:nvSpPr>
          <p:cNvPr id="28" name="Shape 26"/>
          <p:cNvSpPr/>
          <p:nvPr/>
        </p:nvSpPr>
        <p:spPr>
          <a:xfrm>
            <a:off x="4709160" y="2414016"/>
            <a:ext cx="4114800" cy="1051560"/>
          </a:xfrm>
          <a:prstGeom prst="rect">
            <a:avLst/>
          </a:prstGeom>
          <a:solidFill>
            <a:srgbClr val="1A1F2E"/>
          </a:solidFill>
          <a:ln w="12700">
            <a:solidFill>
              <a:srgbClr val="2A2F40"/>
            </a:solidFill>
            <a:prstDash val="solid"/>
          </a:ln>
          <a:effectLst>
            <a:outerShdw blurRad="101600" dist="38100" dir="8100000" algn="bl" rotWithShape="0">
              <a:srgbClr val="000000">
                <a:alpha val="25000"/>
              </a:srgbClr>
            </a:outerShdw>
          </a:effectLst>
        </p:spPr>
        <p:txBody>
          <a:bodyPr/>
          <a:lstStyle/>
          <a:p>
            <a:endParaRPr lang="en-IN"/>
          </a:p>
        </p:txBody>
      </p:sp>
      <p:sp>
        <p:nvSpPr>
          <p:cNvPr id="29" name="Shape 27"/>
          <p:cNvSpPr/>
          <p:nvPr/>
        </p:nvSpPr>
        <p:spPr>
          <a:xfrm>
            <a:off x="4709160" y="2414016"/>
            <a:ext cx="54864" cy="1051560"/>
          </a:xfrm>
          <a:prstGeom prst="rect">
            <a:avLst/>
          </a:prstGeom>
          <a:solidFill>
            <a:srgbClr val="D4537E"/>
          </a:solidFill>
          <a:ln w="12700">
            <a:solidFill>
              <a:srgbClr val="D4537E"/>
            </a:solidFill>
            <a:prstDash val="solid"/>
          </a:ln>
        </p:spPr>
        <p:txBody>
          <a:bodyPr/>
          <a:lstStyle/>
          <a:p>
            <a:endParaRPr lang="en-IN"/>
          </a:p>
        </p:txBody>
      </p:sp>
      <p:sp>
        <p:nvSpPr>
          <p:cNvPr id="30" name="Shape 28"/>
          <p:cNvSpPr/>
          <p:nvPr/>
        </p:nvSpPr>
        <p:spPr>
          <a:xfrm>
            <a:off x="4846320" y="2569464"/>
            <a:ext cx="347472" cy="347472"/>
          </a:xfrm>
          <a:prstGeom prst="rect">
            <a:avLst/>
          </a:prstGeom>
          <a:solidFill>
            <a:srgbClr val="D4537E"/>
          </a:solidFill>
          <a:ln w="12700">
            <a:solidFill>
              <a:srgbClr val="D4537E"/>
            </a:solidFill>
            <a:prstDash val="solid"/>
          </a:ln>
        </p:spPr>
        <p:txBody>
          <a:bodyPr/>
          <a:lstStyle/>
          <a:p>
            <a:endParaRPr lang="en-IN"/>
          </a:p>
        </p:txBody>
      </p:sp>
      <p:sp>
        <p:nvSpPr>
          <p:cNvPr id="31" name="Text 29"/>
          <p:cNvSpPr/>
          <p:nvPr/>
        </p:nvSpPr>
        <p:spPr>
          <a:xfrm>
            <a:off x="4846320" y="2569464"/>
            <a:ext cx="347472" cy="347472"/>
          </a:xfrm>
          <a:prstGeom prst="rect">
            <a:avLst/>
          </a:prstGeom>
          <a:noFill/>
          <a:ln/>
        </p:spPr>
        <p:txBody>
          <a:bodyPr wrap="square" lIns="0" tIns="0" rIns="0" bIns="0" rtlCol="0" anchor="ctr"/>
          <a:lstStyle/>
          <a:p>
            <a:pPr marL="0" indent="0" algn="ctr">
              <a:buNone/>
            </a:pPr>
            <a:r>
              <a:rPr lang="en-US" sz="1400" b="1" dirty="0">
                <a:solidFill>
                  <a:srgbClr val="0D0D0D"/>
                </a:solidFill>
              </a:rPr>
              <a:t>4</a:t>
            </a:r>
            <a:endParaRPr lang="en-US" sz="1400" dirty="0"/>
          </a:p>
        </p:txBody>
      </p:sp>
      <p:sp>
        <p:nvSpPr>
          <p:cNvPr id="32" name="Text 30"/>
          <p:cNvSpPr/>
          <p:nvPr/>
        </p:nvSpPr>
        <p:spPr>
          <a:xfrm>
            <a:off x="5303520" y="2578608"/>
            <a:ext cx="3383280" cy="256032"/>
          </a:xfrm>
          <a:prstGeom prst="rect">
            <a:avLst/>
          </a:prstGeom>
          <a:noFill/>
          <a:ln/>
        </p:spPr>
        <p:txBody>
          <a:bodyPr wrap="square" lIns="0" tIns="0" rIns="0" bIns="0" rtlCol="0" anchor="ctr"/>
          <a:lstStyle/>
          <a:p>
            <a:pPr marL="0" indent="0">
              <a:buNone/>
            </a:pPr>
            <a:r>
              <a:rPr lang="en-US" sz="1200" b="1" dirty="0">
                <a:solidFill>
                  <a:srgbClr val="F5F0E8"/>
                </a:solidFill>
              </a:rPr>
              <a:t>Channel Flow</a:t>
            </a:r>
            <a:endParaRPr lang="en-US" sz="1200" dirty="0"/>
          </a:p>
        </p:txBody>
      </p:sp>
      <p:sp>
        <p:nvSpPr>
          <p:cNvPr id="33" name="Text 31"/>
          <p:cNvSpPr/>
          <p:nvPr/>
        </p:nvSpPr>
        <p:spPr>
          <a:xfrm>
            <a:off x="5303520" y="2852928"/>
            <a:ext cx="3383280" cy="548640"/>
          </a:xfrm>
          <a:prstGeom prst="rect">
            <a:avLst/>
          </a:prstGeom>
          <a:noFill/>
          <a:ln/>
        </p:spPr>
        <p:txBody>
          <a:bodyPr wrap="square" lIns="0" tIns="0" rIns="0" bIns="0" rtlCol="0" anchor="ctr"/>
          <a:lstStyle/>
          <a:p>
            <a:pPr marL="0" indent="0">
              <a:lnSpc>
                <a:spcPct val="140000"/>
              </a:lnSpc>
              <a:buNone/>
            </a:pPr>
            <a:r>
              <a:rPr lang="en-US" sz="850" dirty="0">
                <a:solidFill>
                  <a:srgbClr val="8B8FA8"/>
                </a:solidFill>
              </a:rPr>
              <a:t>Digital Funnel · AOV by Channel · Stacked Area · Channel Volume vs AOV Scatter</a:t>
            </a:r>
            <a:endParaRPr lang="en-US" sz="850" dirty="0"/>
          </a:p>
        </p:txBody>
      </p:sp>
      <p:sp>
        <p:nvSpPr>
          <p:cNvPr id="34" name="Shape 32"/>
          <p:cNvSpPr/>
          <p:nvPr/>
        </p:nvSpPr>
        <p:spPr>
          <a:xfrm>
            <a:off x="365760" y="3621024"/>
            <a:ext cx="4114800" cy="1051560"/>
          </a:xfrm>
          <a:prstGeom prst="rect">
            <a:avLst/>
          </a:prstGeom>
          <a:solidFill>
            <a:srgbClr val="1A1F2E"/>
          </a:solidFill>
          <a:ln w="12700">
            <a:solidFill>
              <a:srgbClr val="2A2F40"/>
            </a:solidFill>
            <a:prstDash val="solid"/>
          </a:ln>
          <a:effectLst>
            <a:outerShdw blurRad="101600" dist="38100" dir="8100000" algn="bl" rotWithShape="0">
              <a:srgbClr val="000000">
                <a:alpha val="25000"/>
              </a:srgbClr>
            </a:outerShdw>
          </a:effectLst>
        </p:spPr>
        <p:txBody>
          <a:bodyPr/>
          <a:lstStyle/>
          <a:p>
            <a:endParaRPr lang="en-IN"/>
          </a:p>
        </p:txBody>
      </p:sp>
      <p:sp>
        <p:nvSpPr>
          <p:cNvPr id="35" name="Shape 33"/>
          <p:cNvSpPr/>
          <p:nvPr/>
        </p:nvSpPr>
        <p:spPr>
          <a:xfrm>
            <a:off x="365760" y="3621024"/>
            <a:ext cx="54864" cy="1051560"/>
          </a:xfrm>
          <a:prstGeom prst="rect">
            <a:avLst/>
          </a:prstGeom>
          <a:solidFill>
            <a:srgbClr val="EF9F27"/>
          </a:solidFill>
          <a:ln w="12700">
            <a:solidFill>
              <a:srgbClr val="EF9F27"/>
            </a:solidFill>
            <a:prstDash val="solid"/>
          </a:ln>
        </p:spPr>
        <p:txBody>
          <a:bodyPr/>
          <a:lstStyle/>
          <a:p>
            <a:endParaRPr lang="en-IN"/>
          </a:p>
        </p:txBody>
      </p:sp>
      <p:sp>
        <p:nvSpPr>
          <p:cNvPr id="36" name="Shape 34"/>
          <p:cNvSpPr/>
          <p:nvPr/>
        </p:nvSpPr>
        <p:spPr>
          <a:xfrm>
            <a:off x="502920" y="3776472"/>
            <a:ext cx="347472" cy="347472"/>
          </a:xfrm>
          <a:prstGeom prst="rect">
            <a:avLst/>
          </a:prstGeom>
          <a:solidFill>
            <a:srgbClr val="EF9F27"/>
          </a:solidFill>
          <a:ln w="12700">
            <a:solidFill>
              <a:srgbClr val="EF9F27"/>
            </a:solidFill>
            <a:prstDash val="solid"/>
          </a:ln>
        </p:spPr>
        <p:txBody>
          <a:bodyPr/>
          <a:lstStyle/>
          <a:p>
            <a:endParaRPr lang="en-IN"/>
          </a:p>
        </p:txBody>
      </p:sp>
      <p:sp>
        <p:nvSpPr>
          <p:cNvPr id="37" name="Text 35"/>
          <p:cNvSpPr/>
          <p:nvPr/>
        </p:nvSpPr>
        <p:spPr>
          <a:xfrm>
            <a:off x="502920" y="3776472"/>
            <a:ext cx="347472" cy="347472"/>
          </a:xfrm>
          <a:prstGeom prst="rect">
            <a:avLst/>
          </a:prstGeom>
          <a:noFill/>
          <a:ln/>
        </p:spPr>
        <p:txBody>
          <a:bodyPr wrap="square" lIns="0" tIns="0" rIns="0" bIns="0" rtlCol="0" anchor="ctr"/>
          <a:lstStyle/>
          <a:p>
            <a:pPr marL="0" indent="0" algn="ctr">
              <a:buNone/>
            </a:pPr>
            <a:r>
              <a:rPr lang="en-US" sz="1400" b="1" dirty="0">
                <a:solidFill>
                  <a:srgbClr val="0D0D0D"/>
                </a:solidFill>
              </a:rPr>
              <a:t>5</a:t>
            </a:r>
            <a:endParaRPr lang="en-US" sz="1400" dirty="0"/>
          </a:p>
        </p:txBody>
      </p:sp>
      <p:sp>
        <p:nvSpPr>
          <p:cNvPr id="38" name="Text 36"/>
          <p:cNvSpPr/>
          <p:nvPr/>
        </p:nvSpPr>
        <p:spPr>
          <a:xfrm>
            <a:off x="960120" y="3785616"/>
            <a:ext cx="3383280" cy="256032"/>
          </a:xfrm>
          <a:prstGeom prst="rect">
            <a:avLst/>
          </a:prstGeom>
          <a:noFill/>
          <a:ln/>
        </p:spPr>
        <p:txBody>
          <a:bodyPr wrap="square" lIns="0" tIns="0" rIns="0" bIns="0" rtlCol="0" anchor="ctr"/>
          <a:lstStyle/>
          <a:p>
            <a:pPr marL="0" indent="0">
              <a:buNone/>
            </a:pPr>
            <a:r>
              <a:rPr lang="en-US" sz="1200" b="1" dirty="0">
                <a:solidFill>
                  <a:srgbClr val="F5F0E8"/>
                </a:solidFill>
              </a:rPr>
              <a:t>Seasonal Trends</a:t>
            </a:r>
            <a:endParaRPr lang="en-US" sz="1200" dirty="0"/>
          </a:p>
        </p:txBody>
      </p:sp>
      <p:sp>
        <p:nvSpPr>
          <p:cNvPr id="39" name="Text 37"/>
          <p:cNvSpPr/>
          <p:nvPr/>
        </p:nvSpPr>
        <p:spPr>
          <a:xfrm>
            <a:off x="960120" y="4059936"/>
            <a:ext cx="3383280" cy="548640"/>
          </a:xfrm>
          <a:prstGeom prst="rect">
            <a:avLst/>
          </a:prstGeom>
          <a:noFill/>
          <a:ln/>
        </p:spPr>
        <p:txBody>
          <a:bodyPr wrap="square" lIns="0" tIns="0" rIns="0" bIns="0" rtlCol="0" anchor="ctr"/>
          <a:lstStyle/>
          <a:p>
            <a:pPr marL="0" indent="0">
              <a:lnSpc>
                <a:spcPct val="140000"/>
              </a:lnSpc>
              <a:buNone/>
            </a:pPr>
            <a:r>
              <a:rPr lang="en-US" sz="850" dirty="0">
                <a:solidFill>
                  <a:srgbClr val="8B8FA8"/>
                </a:solidFill>
              </a:rPr>
              <a:t>Fashion Week Uplift · GMV by Season Area · Brand×Month Heatmap · Category Ribbon Chart</a:t>
            </a:r>
            <a:endParaRPr lang="en-US" sz="850" dirty="0"/>
          </a:p>
        </p:txBody>
      </p:sp>
      <p:sp>
        <p:nvSpPr>
          <p:cNvPr id="40" name="Shape 38"/>
          <p:cNvSpPr/>
          <p:nvPr/>
        </p:nvSpPr>
        <p:spPr>
          <a:xfrm>
            <a:off x="4709160" y="3621024"/>
            <a:ext cx="4114800" cy="1051560"/>
          </a:xfrm>
          <a:prstGeom prst="rect">
            <a:avLst/>
          </a:prstGeom>
          <a:solidFill>
            <a:srgbClr val="1A1F2E"/>
          </a:solidFill>
          <a:ln w="12700">
            <a:solidFill>
              <a:srgbClr val="2A2F40"/>
            </a:solidFill>
            <a:prstDash val="solid"/>
          </a:ln>
          <a:effectLst>
            <a:outerShdw blurRad="101600" dist="38100" dir="8100000" algn="bl" rotWithShape="0">
              <a:srgbClr val="000000">
                <a:alpha val="25000"/>
              </a:srgbClr>
            </a:outerShdw>
          </a:effectLst>
        </p:spPr>
        <p:txBody>
          <a:bodyPr/>
          <a:lstStyle/>
          <a:p>
            <a:endParaRPr lang="en-IN"/>
          </a:p>
        </p:txBody>
      </p:sp>
      <p:sp>
        <p:nvSpPr>
          <p:cNvPr id="41" name="Shape 39"/>
          <p:cNvSpPr/>
          <p:nvPr/>
        </p:nvSpPr>
        <p:spPr>
          <a:xfrm>
            <a:off x="4709160" y="3621024"/>
            <a:ext cx="54864" cy="1051560"/>
          </a:xfrm>
          <a:prstGeom prst="rect">
            <a:avLst/>
          </a:prstGeom>
          <a:solidFill>
            <a:srgbClr val="7F77DD"/>
          </a:solidFill>
          <a:ln w="12700">
            <a:solidFill>
              <a:srgbClr val="7F77DD"/>
            </a:solidFill>
            <a:prstDash val="solid"/>
          </a:ln>
        </p:spPr>
        <p:txBody>
          <a:bodyPr/>
          <a:lstStyle/>
          <a:p>
            <a:endParaRPr lang="en-IN"/>
          </a:p>
        </p:txBody>
      </p:sp>
      <p:sp>
        <p:nvSpPr>
          <p:cNvPr id="42" name="Shape 40"/>
          <p:cNvSpPr/>
          <p:nvPr/>
        </p:nvSpPr>
        <p:spPr>
          <a:xfrm>
            <a:off x="4846320" y="3776472"/>
            <a:ext cx="347472" cy="347472"/>
          </a:xfrm>
          <a:prstGeom prst="rect">
            <a:avLst/>
          </a:prstGeom>
          <a:solidFill>
            <a:srgbClr val="7F77DD"/>
          </a:solidFill>
          <a:ln w="12700">
            <a:solidFill>
              <a:srgbClr val="7F77DD"/>
            </a:solidFill>
            <a:prstDash val="solid"/>
          </a:ln>
        </p:spPr>
        <p:txBody>
          <a:bodyPr/>
          <a:lstStyle/>
          <a:p>
            <a:endParaRPr lang="en-IN"/>
          </a:p>
        </p:txBody>
      </p:sp>
      <p:sp>
        <p:nvSpPr>
          <p:cNvPr id="43" name="Text 41"/>
          <p:cNvSpPr/>
          <p:nvPr/>
        </p:nvSpPr>
        <p:spPr>
          <a:xfrm>
            <a:off x="4846320" y="3776472"/>
            <a:ext cx="347472" cy="347472"/>
          </a:xfrm>
          <a:prstGeom prst="rect">
            <a:avLst/>
          </a:prstGeom>
          <a:noFill/>
          <a:ln/>
        </p:spPr>
        <p:txBody>
          <a:bodyPr wrap="square" lIns="0" tIns="0" rIns="0" bIns="0" rtlCol="0" anchor="ctr"/>
          <a:lstStyle/>
          <a:p>
            <a:pPr marL="0" indent="0" algn="ctr">
              <a:buNone/>
            </a:pPr>
            <a:r>
              <a:rPr lang="en-US" sz="1400" b="1" dirty="0">
                <a:solidFill>
                  <a:srgbClr val="0D0D0D"/>
                </a:solidFill>
              </a:rPr>
              <a:t>6</a:t>
            </a:r>
            <a:endParaRPr lang="en-US" sz="1400" dirty="0"/>
          </a:p>
        </p:txBody>
      </p:sp>
      <p:sp>
        <p:nvSpPr>
          <p:cNvPr id="44" name="Text 42"/>
          <p:cNvSpPr/>
          <p:nvPr/>
        </p:nvSpPr>
        <p:spPr>
          <a:xfrm>
            <a:off x="5303520" y="3785616"/>
            <a:ext cx="3383280" cy="256032"/>
          </a:xfrm>
          <a:prstGeom prst="rect">
            <a:avLst/>
          </a:prstGeom>
          <a:noFill/>
          <a:ln/>
        </p:spPr>
        <p:txBody>
          <a:bodyPr wrap="square" lIns="0" tIns="0" rIns="0" bIns="0" rtlCol="0" anchor="ctr"/>
          <a:lstStyle/>
          <a:p>
            <a:pPr marL="0" indent="0">
              <a:buNone/>
            </a:pPr>
            <a:r>
              <a:rPr lang="en-US" sz="1200" b="1" dirty="0">
                <a:solidFill>
                  <a:srgbClr val="F5F0E8"/>
                </a:solidFill>
              </a:rPr>
              <a:t>Brand Equity Index</a:t>
            </a:r>
            <a:endParaRPr lang="en-US" sz="1200" dirty="0"/>
          </a:p>
        </p:txBody>
      </p:sp>
      <p:sp>
        <p:nvSpPr>
          <p:cNvPr id="45" name="Text 43"/>
          <p:cNvSpPr/>
          <p:nvPr/>
        </p:nvSpPr>
        <p:spPr>
          <a:xfrm>
            <a:off x="5303520" y="4059936"/>
            <a:ext cx="3383280" cy="548640"/>
          </a:xfrm>
          <a:prstGeom prst="rect">
            <a:avLst/>
          </a:prstGeom>
          <a:noFill/>
          <a:ln/>
        </p:spPr>
        <p:txBody>
          <a:bodyPr wrap="square" lIns="0" tIns="0" rIns="0" bIns="0" rtlCol="0" anchor="ctr"/>
          <a:lstStyle/>
          <a:p>
            <a:pPr marL="0" indent="0">
              <a:lnSpc>
                <a:spcPct val="140000"/>
              </a:lnSpc>
              <a:buNone/>
            </a:pPr>
            <a:r>
              <a:rPr lang="en-US" sz="850" dirty="0">
                <a:solidFill>
                  <a:srgbClr val="8B8FA8"/>
                </a:solidFill>
              </a:rPr>
              <a:t>Prestige Price Index Gauge · Actual vs Target · Ltd Edition Premium · Margin by Category</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9A84C"/>
          </a:solidFill>
          <a:ln w="12700">
            <a:solidFill>
              <a:srgbClr val="C9A84C"/>
            </a:solidFill>
            <a:prstDash val="solid"/>
          </a:ln>
        </p:spPr>
        <p:txBody>
          <a:bodyPr/>
          <a:lstStyle/>
          <a:p>
            <a:endParaRPr lang="en-IN"/>
          </a:p>
        </p:txBody>
      </p:sp>
      <p:sp>
        <p:nvSpPr>
          <p:cNvPr id="3" name="Shape 1"/>
          <p:cNvSpPr/>
          <p:nvPr/>
        </p:nvSpPr>
        <p:spPr>
          <a:xfrm>
            <a:off x="0" y="5074920"/>
            <a:ext cx="9144000" cy="68580"/>
          </a:xfrm>
          <a:prstGeom prst="rect">
            <a:avLst/>
          </a:prstGeom>
          <a:solidFill>
            <a:srgbClr val="1A1F2E"/>
          </a:solidFill>
          <a:ln w="12700">
            <a:solidFill>
              <a:srgbClr val="1A1F2E"/>
            </a:solidFill>
            <a:prstDash val="solid"/>
          </a:ln>
        </p:spPr>
        <p:txBody>
          <a:bodyPr/>
          <a:lstStyle/>
          <a:p>
            <a:endParaRPr lang="en-IN"/>
          </a:p>
        </p:txBody>
      </p:sp>
      <p:sp>
        <p:nvSpPr>
          <p:cNvPr id="4" name="Text 2"/>
          <p:cNvSpPr/>
          <p:nvPr/>
        </p:nvSpPr>
        <p:spPr>
          <a:xfrm>
            <a:off x="274320" y="5074920"/>
            <a:ext cx="6400800" cy="68580"/>
          </a:xfrm>
          <a:prstGeom prst="rect">
            <a:avLst/>
          </a:prstGeom>
          <a:noFill/>
          <a:ln/>
        </p:spPr>
        <p:txBody>
          <a:bodyPr wrap="square" lIns="0" tIns="0" rIns="0" bIns="0" rtlCol="0" anchor="ctr"/>
          <a:lstStyle/>
          <a:p>
            <a:pPr marL="0" indent="0">
              <a:buNone/>
            </a:pPr>
            <a:r>
              <a:rPr lang="en-US" sz="700" dirty="0">
                <a:solidFill>
                  <a:srgbClr val="8B8FA8"/>
                </a:solidFill>
              </a:rPr>
              <a:t> Luxury Fashion Performance Intelligence</a:t>
            </a:r>
            <a:endParaRPr lang="en-US" sz="700" dirty="0"/>
          </a:p>
        </p:txBody>
      </p:sp>
      <p:sp>
        <p:nvSpPr>
          <p:cNvPr id="6" name="Shape 4"/>
          <p:cNvSpPr/>
          <p:nvPr/>
        </p:nvSpPr>
        <p:spPr>
          <a:xfrm>
            <a:off x="365760" y="164592"/>
            <a:ext cx="2194560" cy="201168"/>
          </a:xfrm>
          <a:prstGeom prst="rect">
            <a:avLst/>
          </a:prstGeom>
          <a:solidFill>
            <a:srgbClr val="C9A84C"/>
          </a:solidFill>
          <a:ln w="12700">
            <a:solidFill>
              <a:srgbClr val="C9A84C"/>
            </a:solidFill>
            <a:prstDash val="solid"/>
          </a:ln>
        </p:spPr>
        <p:txBody>
          <a:bodyPr/>
          <a:lstStyle/>
          <a:p>
            <a:endParaRPr lang="en-IN"/>
          </a:p>
        </p:txBody>
      </p:sp>
      <p:sp>
        <p:nvSpPr>
          <p:cNvPr id="7" name="Text 5"/>
          <p:cNvSpPr/>
          <p:nvPr/>
        </p:nvSpPr>
        <p:spPr>
          <a:xfrm>
            <a:off x="365760" y="164592"/>
            <a:ext cx="2194560" cy="201168"/>
          </a:xfrm>
          <a:prstGeom prst="rect">
            <a:avLst/>
          </a:prstGeom>
          <a:noFill/>
          <a:ln/>
        </p:spPr>
        <p:txBody>
          <a:bodyPr wrap="square" lIns="0" tIns="0" rIns="0" bIns="0" rtlCol="0" anchor="ctr"/>
          <a:lstStyle/>
          <a:p>
            <a:pPr marL="0" indent="0" algn="ctr">
              <a:buNone/>
            </a:pPr>
            <a:r>
              <a:rPr lang="en-US" sz="750" b="1" kern="0" spc="200" dirty="0">
                <a:solidFill>
                  <a:srgbClr val="0D0D0D"/>
                </a:solidFill>
              </a:rPr>
              <a:t>09  ·  KEY INSIGHTS</a:t>
            </a:r>
            <a:endParaRPr lang="en-US" sz="750" dirty="0"/>
          </a:p>
        </p:txBody>
      </p:sp>
      <p:sp>
        <p:nvSpPr>
          <p:cNvPr id="8" name="Text 6"/>
          <p:cNvSpPr/>
          <p:nvPr/>
        </p:nvSpPr>
        <p:spPr>
          <a:xfrm>
            <a:off x="365760" y="457200"/>
            <a:ext cx="8229600" cy="457200"/>
          </a:xfrm>
          <a:prstGeom prst="rect">
            <a:avLst/>
          </a:prstGeom>
          <a:noFill/>
          <a:ln/>
        </p:spPr>
        <p:txBody>
          <a:bodyPr wrap="square" lIns="0" tIns="0" rIns="0" bIns="0" rtlCol="0" anchor="ctr"/>
          <a:lstStyle/>
          <a:p>
            <a:pPr marL="0" indent="0">
              <a:buNone/>
            </a:pPr>
            <a:r>
              <a:rPr lang="en-US" sz="2600" b="1" dirty="0">
                <a:solidFill>
                  <a:srgbClr val="F5F0E8"/>
                </a:solidFill>
              </a:rPr>
              <a:t>Key Insights</a:t>
            </a:r>
            <a:endParaRPr lang="en-US" sz="2600" dirty="0"/>
          </a:p>
        </p:txBody>
      </p:sp>
      <p:sp>
        <p:nvSpPr>
          <p:cNvPr id="9" name="Text 7"/>
          <p:cNvSpPr/>
          <p:nvPr/>
        </p:nvSpPr>
        <p:spPr>
          <a:xfrm>
            <a:off x="365760" y="896112"/>
            <a:ext cx="8229600" cy="201168"/>
          </a:xfrm>
          <a:prstGeom prst="rect">
            <a:avLst/>
          </a:prstGeom>
          <a:noFill/>
          <a:ln/>
        </p:spPr>
        <p:txBody>
          <a:bodyPr wrap="square" lIns="0" tIns="0" rIns="0" bIns="0" rtlCol="0" anchor="ctr"/>
          <a:lstStyle/>
          <a:p>
            <a:pPr marL="0" indent="0">
              <a:buNone/>
            </a:pPr>
            <a:r>
              <a:rPr lang="en-US" sz="1100" dirty="0">
                <a:solidFill>
                  <a:srgbClr val="8B8FA8"/>
                </a:solidFill>
              </a:rPr>
              <a:t>Critical findings from the 2023–2024 luxury retail analysis</a:t>
            </a:r>
            <a:endParaRPr lang="en-US" sz="1100" dirty="0"/>
          </a:p>
        </p:txBody>
      </p:sp>
      <p:sp>
        <p:nvSpPr>
          <p:cNvPr id="10" name="Shape 8"/>
          <p:cNvSpPr/>
          <p:nvPr/>
        </p:nvSpPr>
        <p:spPr>
          <a:xfrm>
            <a:off x="365760" y="1188720"/>
            <a:ext cx="2377440" cy="3566160"/>
          </a:xfrm>
          <a:prstGeom prst="rect">
            <a:avLst/>
          </a:prstGeom>
          <a:solidFill>
            <a:srgbClr val="C9A84C"/>
          </a:solidFill>
          <a:ln w="12700">
            <a:solidFill>
              <a:srgbClr val="C9A84C"/>
            </a:solidFill>
            <a:prstDash val="solid"/>
          </a:ln>
          <a:effectLst>
            <a:outerShdw blurRad="101600" dist="38100" dir="8100000" algn="bl" rotWithShape="0">
              <a:srgbClr val="000000">
                <a:alpha val="25000"/>
              </a:srgbClr>
            </a:outerShdw>
          </a:effectLst>
        </p:spPr>
        <p:txBody>
          <a:bodyPr/>
          <a:lstStyle/>
          <a:p>
            <a:endParaRPr lang="en-IN"/>
          </a:p>
        </p:txBody>
      </p:sp>
      <p:sp>
        <p:nvSpPr>
          <p:cNvPr id="11" name="Text 9"/>
          <p:cNvSpPr/>
          <p:nvPr/>
        </p:nvSpPr>
        <p:spPr>
          <a:xfrm>
            <a:off x="365760" y="1508760"/>
            <a:ext cx="2377440" cy="777240"/>
          </a:xfrm>
          <a:prstGeom prst="rect">
            <a:avLst/>
          </a:prstGeom>
          <a:noFill/>
          <a:ln/>
        </p:spPr>
        <p:txBody>
          <a:bodyPr wrap="square" lIns="0" tIns="0" rIns="0" bIns="0" rtlCol="0" anchor="ctr"/>
          <a:lstStyle/>
          <a:p>
            <a:pPr marL="0" indent="0" algn="ctr">
              <a:buNone/>
            </a:pPr>
            <a:r>
              <a:rPr lang="en-US" sz="3800" b="1" dirty="0">
                <a:solidFill>
                  <a:srgbClr val="0D0D0D"/>
                </a:solidFill>
              </a:rPr>
              <a:t>40–50%</a:t>
            </a:r>
            <a:endParaRPr lang="en-US" sz="3800" dirty="0"/>
          </a:p>
        </p:txBody>
      </p:sp>
      <p:sp>
        <p:nvSpPr>
          <p:cNvPr id="12" name="Text 10"/>
          <p:cNvSpPr/>
          <p:nvPr/>
        </p:nvSpPr>
        <p:spPr>
          <a:xfrm>
            <a:off x="365760" y="2240280"/>
            <a:ext cx="2377440" cy="274320"/>
          </a:xfrm>
          <a:prstGeom prst="rect">
            <a:avLst/>
          </a:prstGeom>
          <a:noFill/>
          <a:ln/>
        </p:spPr>
        <p:txBody>
          <a:bodyPr wrap="square" lIns="0" tIns="0" rIns="0" bIns="0" rtlCol="0" anchor="ctr"/>
          <a:lstStyle/>
          <a:p>
            <a:pPr marL="0" indent="0" algn="ctr">
              <a:buNone/>
            </a:pPr>
            <a:r>
              <a:rPr lang="en-US" sz="1100" dirty="0">
                <a:solidFill>
                  <a:srgbClr val="0D0D0D"/>
                </a:solidFill>
              </a:rPr>
              <a:t>of total GMV</a:t>
            </a:r>
            <a:endParaRPr lang="en-US" sz="1100" dirty="0"/>
          </a:p>
        </p:txBody>
      </p:sp>
      <p:sp>
        <p:nvSpPr>
          <p:cNvPr id="13" name="Text 11"/>
          <p:cNvSpPr/>
          <p:nvPr/>
        </p:nvSpPr>
        <p:spPr>
          <a:xfrm>
            <a:off x="365760" y="2560320"/>
            <a:ext cx="2377440" cy="502920"/>
          </a:xfrm>
          <a:prstGeom prst="rect">
            <a:avLst/>
          </a:prstGeom>
          <a:noFill/>
          <a:ln/>
        </p:spPr>
        <p:txBody>
          <a:bodyPr wrap="square" lIns="0" tIns="0" rIns="0" bIns="0" rtlCol="0" anchor="ctr"/>
          <a:lstStyle/>
          <a:p>
            <a:pPr marL="0" indent="0" algn="ctr">
              <a:lnSpc>
                <a:spcPct val="140000"/>
              </a:lnSpc>
              <a:buNone/>
            </a:pPr>
            <a:r>
              <a:rPr lang="en-US" sz="1050" dirty="0">
                <a:solidFill>
                  <a:srgbClr val="0D0D0D"/>
                </a:solidFill>
              </a:rPr>
              <a:t>generated by VIC clients — just 5% of the total client base</a:t>
            </a:r>
            <a:endParaRPr lang="en-US" sz="1050" dirty="0"/>
          </a:p>
        </p:txBody>
      </p:sp>
      <p:sp>
        <p:nvSpPr>
          <p:cNvPr id="14" name="Shape 12"/>
          <p:cNvSpPr/>
          <p:nvPr/>
        </p:nvSpPr>
        <p:spPr>
          <a:xfrm>
            <a:off x="548640" y="3200400"/>
            <a:ext cx="2011680" cy="27432"/>
          </a:xfrm>
          <a:prstGeom prst="rect">
            <a:avLst/>
          </a:prstGeom>
          <a:solidFill>
            <a:srgbClr val="0D0D0D"/>
          </a:solidFill>
          <a:ln w="12700">
            <a:solidFill>
              <a:srgbClr val="0D0D0D"/>
            </a:solidFill>
            <a:prstDash val="solid"/>
          </a:ln>
        </p:spPr>
        <p:txBody>
          <a:bodyPr/>
          <a:lstStyle/>
          <a:p>
            <a:endParaRPr lang="en-IN"/>
          </a:p>
        </p:txBody>
      </p:sp>
      <p:sp>
        <p:nvSpPr>
          <p:cNvPr id="15" name="Text 13"/>
          <p:cNvSpPr/>
          <p:nvPr/>
        </p:nvSpPr>
        <p:spPr>
          <a:xfrm>
            <a:off x="365760" y="3291840"/>
            <a:ext cx="2377440" cy="502920"/>
          </a:xfrm>
          <a:prstGeom prst="rect">
            <a:avLst/>
          </a:prstGeom>
          <a:noFill/>
          <a:ln/>
        </p:spPr>
        <p:txBody>
          <a:bodyPr wrap="square" lIns="0" tIns="0" rIns="0" bIns="0" rtlCol="0" anchor="ctr"/>
          <a:lstStyle/>
          <a:p>
            <a:pPr marL="0" indent="0" algn="ctr">
              <a:lnSpc>
                <a:spcPct val="140000"/>
              </a:lnSpc>
              <a:buNone/>
            </a:pPr>
            <a:r>
              <a:rPr lang="en-US" sz="1100" b="1" dirty="0">
                <a:solidFill>
                  <a:srgbClr val="0D0D0D"/>
                </a:solidFill>
              </a:rPr>
              <a:t>Retention ROI is</a:t>
            </a:r>
            <a:endParaRPr lang="en-US" sz="1100" dirty="0"/>
          </a:p>
          <a:p>
            <a:pPr marL="0" indent="0" algn="ctr">
              <a:lnSpc>
                <a:spcPct val="140000"/>
              </a:lnSpc>
              <a:buNone/>
            </a:pPr>
            <a:r>
              <a:rPr lang="en-US" sz="1100" b="1" dirty="0">
                <a:solidFill>
                  <a:srgbClr val="0D0D0D"/>
                </a:solidFill>
              </a:rPr>
              <a:t>8× acquisition spend</a:t>
            </a:r>
            <a:endParaRPr lang="en-US" sz="1100" dirty="0"/>
          </a:p>
        </p:txBody>
      </p:sp>
      <p:sp>
        <p:nvSpPr>
          <p:cNvPr id="16" name="Text 14"/>
          <p:cNvSpPr/>
          <p:nvPr/>
        </p:nvSpPr>
        <p:spPr>
          <a:xfrm>
            <a:off x="365760" y="3886200"/>
            <a:ext cx="2377440" cy="457200"/>
          </a:xfrm>
          <a:prstGeom prst="rect">
            <a:avLst/>
          </a:prstGeom>
          <a:noFill/>
          <a:ln/>
        </p:spPr>
        <p:txBody>
          <a:bodyPr wrap="square" lIns="0" tIns="0" rIns="0" bIns="0" rtlCol="0" anchor="ctr"/>
          <a:lstStyle/>
          <a:p>
            <a:pPr marL="0" indent="0" algn="ctr">
              <a:lnSpc>
                <a:spcPct val="140000"/>
              </a:lnSpc>
              <a:buNone/>
            </a:pPr>
            <a:r>
              <a:rPr lang="en-US" sz="1050" dirty="0">
                <a:solidFill>
                  <a:srgbClr val="0D0D0D"/>
                </a:solidFill>
              </a:rPr>
              <a:t>VIC reactivation</a:t>
            </a:r>
            <a:endParaRPr lang="en-US" sz="1050" dirty="0"/>
          </a:p>
          <a:p>
            <a:pPr marL="0" indent="0" algn="ctr">
              <a:lnSpc>
                <a:spcPct val="140000"/>
              </a:lnSpc>
              <a:buNone/>
            </a:pPr>
            <a:r>
              <a:rPr lang="en-US" sz="1050" dirty="0">
                <a:solidFill>
                  <a:srgbClr val="0D0D0D"/>
                </a:solidFill>
              </a:rPr>
              <a:t>campaign priority</a:t>
            </a:r>
            <a:endParaRPr lang="en-US" sz="1050" dirty="0"/>
          </a:p>
        </p:txBody>
      </p:sp>
      <p:sp>
        <p:nvSpPr>
          <p:cNvPr id="17" name="Shape 15"/>
          <p:cNvSpPr/>
          <p:nvPr/>
        </p:nvSpPr>
        <p:spPr>
          <a:xfrm>
            <a:off x="2926080" y="1188720"/>
            <a:ext cx="5852160" cy="804672"/>
          </a:xfrm>
          <a:prstGeom prst="rect">
            <a:avLst/>
          </a:prstGeom>
          <a:solidFill>
            <a:srgbClr val="1A1F2E"/>
          </a:solidFill>
          <a:ln w="12700">
            <a:solidFill>
              <a:srgbClr val="2A2F40"/>
            </a:solidFill>
            <a:prstDash val="solid"/>
          </a:ln>
          <a:effectLst>
            <a:outerShdw blurRad="101600" dist="38100" dir="8100000" algn="bl" rotWithShape="0">
              <a:srgbClr val="000000">
                <a:alpha val="25000"/>
              </a:srgbClr>
            </a:outerShdw>
          </a:effectLst>
        </p:spPr>
        <p:txBody>
          <a:bodyPr/>
          <a:lstStyle/>
          <a:p>
            <a:endParaRPr lang="en-IN"/>
          </a:p>
        </p:txBody>
      </p:sp>
      <p:sp>
        <p:nvSpPr>
          <p:cNvPr id="18" name="Shape 16"/>
          <p:cNvSpPr/>
          <p:nvPr/>
        </p:nvSpPr>
        <p:spPr>
          <a:xfrm>
            <a:off x="2926080" y="1188720"/>
            <a:ext cx="54864" cy="804672"/>
          </a:xfrm>
          <a:prstGeom prst="rect">
            <a:avLst/>
          </a:prstGeom>
          <a:solidFill>
            <a:srgbClr val="7F77DD"/>
          </a:solidFill>
          <a:ln w="12700">
            <a:solidFill>
              <a:srgbClr val="7F77DD"/>
            </a:solidFill>
            <a:prstDash val="solid"/>
          </a:ln>
        </p:spPr>
        <p:txBody>
          <a:bodyPr/>
          <a:lstStyle/>
          <a:p>
            <a:endParaRPr lang="en-IN"/>
          </a:p>
        </p:txBody>
      </p:sp>
      <p:sp>
        <p:nvSpPr>
          <p:cNvPr id="19" name="Text 17"/>
          <p:cNvSpPr/>
          <p:nvPr/>
        </p:nvSpPr>
        <p:spPr>
          <a:xfrm>
            <a:off x="3063240" y="1280160"/>
            <a:ext cx="914400" cy="475488"/>
          </a:xfrm>
          <a:prstGeom prst="rect">
            <a:avLst/>
          </a:prstGeom>
          <a:noFill/>
          <a:ln/>
        </p:spPr>
        <p:txBody>
          <a:bodyPr wrap="square" lIns="0" tIns="0" rIns="0" bIns="0" rtlCol="0" anchor="ctr"/>
          <a:lstStyle/>
          <a:p>
            <a:pPr marL="0" indent="0" algn="ctr">
              <a:buNone/>
            </a:pPr>
            <a:r>
              <a:rPr lang="en-US" sz="2800" b="1" dirty="0">
                <a:solidFill>
                  <a:srgbClr val="7F77DD"/>
                </a:solidFill>
              </a:rPr>
              <a:t>+3×</a:t>
            </a:r>
            <a:endParaRPr lang="en-US" sz="2800" dirty="0"/>
          </a:p>
        </p:txBody>
      </p:sp>
      <p:sp>
        <p:nvSpPr>
          <p:cNvPr id="20" name="Text 18"/>
          <p:cNvSpPr/>
          <p:nvPr/>
        </p:nvSpPr>
        <p:spPr>
          <a:xfrm>
            <a:off x="3063240" y="1755648"/>
            <a:ext cx="914400" cy="182880"/>
          </a:xfrm>
          <a:prstGeom prst="rect">
            <a:avLst/>
          </a:prstGeom>
          <a:noFill/>
          <a:ln/>
        </p:spPr>
        <p:txBody>
          <a:bodyPr wrap="square" lIns="0" tIns="0" rIns="0" bIns="0" rtlCol="0" anchor="ctr"/>
          <a:lstStyle/>
          <a:p>
            <a:pPr marL="0" indent="0" algn="ctr">
              <a:buNone/>
            </a:pPr>
            <a:r>
              <a:rPr lang="en-US" sz="750" dirty="0">
                <a:solidFill>
                  <a:srgbClr val="8B8FA8"/>
                </a:solidFill>
              </a:rPr>
              <a:t>New client acquisition</a:t>
            </a:r>
            <a:endParaRPr lang="en-US" sz="750" dirty="0"/>
          </a:p>
        </p:txBody>
      </p:sp>
      <p:sp>
        <p:nvSpPr>
          <p:cNvPr id="21" name="Shape 19"/>
          <p:cNvSpPr/>
          <p:nvPr/>
        </p:nvSpPr>
        <p:spPr>
          <a:xfrm>
            <a:off x="4114800" y="1280160"/>
            <a:ext cx="27432" cy="640080"/>
          </a:xfrm>
          <a:prstGeom prst="rect">
            <a:avLst/>
          </a:prstGeom>
          <a:solidFill>
            <a:srgbClr val="2A2F40"/>
          </a:solidFill>
          <a:ln w="12700">
            <a:solidFill>
              <a:srgbClr val="2A2F40"/>
            </a:solidFill>
            <a:prstDash val="solid"/>
          </a:ln>
        </p:spPr>
        <p:txBody>
          <a:bodyPr/>
          <a:lstStyle/>
          <a:p>
            <a:endParaRPr lang="en-IN"/>
          </a:p>
        </p:txBody>
      </p:sp>
      <p:sp>
        <p:nvSpPr>
          <p:cNvPr id="22" name="Text 20"/>
          <p:cNvSpPr/>
          <p:nvPr/>
        </p:nvSpPr>
        <p:spPr>
          <a:xfrm>
            <a:off x="4251960" y="1280160"/>
            <a:ext cx="4297680" cy="228600"/>
          </a:xfrm>
          <a:prstGeom prst="rect">
            <a:avLst/>
          </a:prstGeom>
          <a:noFill/>
          <a:ln/>
        </p:spPr>
        <p:txBody>
          <a:bodyPr wrap="square" lIns="0" tIns="0" rIns="0" bIns="0" rtlCol="0" anchor="ctr"/>
          <a:lstStyle/>
          <a:p>
            <a:pPr marL="0" indent="0">
              <a:buNone/>
            </a:pPr>
            <a:r>
              <a:rPr lang="en-US" sz="1050" b="1" dirty="0">
                <a:solidFill>
                  <a:srgbClr val="F5F0E8"/>
                </a:solidFill>
              </a:rPr>
              <a:t>Limited Edition Spike</a:t>
            </a:r>
            <a:endParaRPr lang="en-US" sz="1050" dirty="0"/>
          </a:p>
        </p:txBody>
      </p:sp>
      <p:sp>
        <p:nvSpPr>
          <p:cNvPr id="23" name="Text 21"/>
          <p:cNvSpPr/>
          <p:nvPr/>
        </p:nvSpPr>
        <p:spPr>
          <a:xfrm>
            <a:off x="4251960" y="1508760"/>
            <a:ext cx="4297680" cy="438912"/>
          </a:xfrm>
          <a:prstGeom prst="rect">
            <a:avLst/>
          </a:prstGeom>
          <a:noFill/>
          <a:ln/>
        </p:spPr>
        <p:txBody>
          <a:bodyPr wrap="square" lIns="0" tIns="0" rIns="0" bIns="0" rtlCol="0" anchor="ctr"/>
          <a:lstStyle/>
          <a:p>
            <a:pPr marL="0" indent="0">
              <a:lnSpc>
                <a:spcPct val="135000"/>
              </a:lnSpc>
              <a:buNone/>
            </a:pPr>
            <a:r>
              <a:rPr lang="en-US" sz="850" dirty="0">
                <a:solidFill>
                  <a:srgbClr val="8B8FA8"/>
                </a:solidFill>
              </a:rPr>
              <a:t>Limited edition drops cause a 3× spike in new client acquisition — use as a controlled entry funnel into the brand ecosystem.</a:t>
            </a:r>
            <a:endParaRPr lang="en-US" sz="850" dirty="0"/>
          </a:p>
        </p:txBody>
      </p:sp>
      <p:sp>
        <p:nvSpPr>
          <p:cNvPr id="24" name="Shape 22"/>
          <p:cNvSpPr/>
          <p:nvPr/>
        </p:nvSpPr>
        <p:spPr>
          <a:xfrm>
            <a:off x="2926080" y="2080260"/>
            <a:ext cx="5852160" cy="804672"/>
          </a:xfrm>
          <a:prstGeom prst="rect">
            <a:avLst/>
          </a:prstGeom>
          <a:solidFill>
            <a:srgbClr val="1A1F2E"/>
          </a:solidFill>
          <a:ln w="12700">
            <a:solidFill>
              <a:srgbClr val="2A2F40"/>
            </a:solidFill>
            <a:prstDash val="solid"/>
          </a:ln>
          <a:effectLst>
            <a:outerShdw blurRad="101600" dist="38100" dir="8100000" algn="bl" rotWithShape="0">
              <a:srgbClr val="000000">
                <a:alpha val="25000"/>
              </a:srgbClr>
            </a:outerShdw>
          </a:effectLst>
        </p:spPr>
        <p:txBody>
          <a:bodyPr/>
          <a:lstStyle/>
          <a:p>
            <a:endParaRPr lang="en-IN"/>
          </a:p>
        </p:txBody>
      </p:sp>
      <p:sp>
        <p:nvSpPr>
          <p:cNvPr id="25" name="Shape 23"/>
          <p:cNvSpPr/>
          <p:nvPr/>
        </p:nvSpPr>
        <p:spPr>
          <a:xfrm>
            <a:off x="2926080" y="2080260"/>
            <a:ext cx="54864" cy="804672"/>
          </a:xfrm>
          <a:prstGeom prst="rect">
            <a:avLst/>
          </a:prstGeom>
          <a:solidFill>
            <a:srgbClr val="1D9E75"/>
          </a:solidFill>
          <a:ln w="12700">
            <a:solidFill>
              <a:srgbClr val="1D9E75"/>
            </a:solidFill>
            <a:prstDash val="solid"/>
          </a:ln>
        </p:spPr>
        <p:txBody>
          <a:bodyPr/>
          <a:lstStyle/>
          <a:p>
            <a:endParaRPr lang="en-IN"/>
          </a:p>
        </p:txBody>
      </p:sp>
      <p:sp>
        <p:nvSpPr>
          <p:cNvPr id="26" name="Text 24"/>
          <p:cNvSpPr/>
          <p:nvPr/>
        </p:nvSpPr>
        <p:spPr>
          <a:xfrm>
            <a:off x="3163824" y="2231136"/>
            <a:ext cx="740664" cy="283464"/>
          </a:xfrm>
          <a:prstGeom prst="rect">
            <a:avLst/>
          </a:prstGeom>
          <a:noFill/>
          <a:ln/>
        </p:spPr>
        <p:txBody>
          <a:bodyPr wrap="square" lIns="0" tIns="0" rIns="0" bIns="0" rtlCol="0" anchor="ctr"/>
          <a:lstStyle/>
          <a:p>
            <a:pPr marL="0" indent="0" algn="ctr">
              <a:buNone/>
            </a:pPr>
            <a:r>
              <a:rPr lang="en-US" sz="2800" b="1" dirty="0">
                <a:solidFill>
                  <a:srgbClr val="1D9E75"/>
                </a:solidFill>
              </a:rPr>
              <a:t>55 70%</a:t>
            </a:r>
            <a:endParaRPr lang="en-US" sz="2800" dirty="0"/>
          </a:p>
        </p:txBody>
      </p:sp>
      <p:sp>
        <p:nvSpPr>
          <p:cNvPr id="27" name="Text 25"/>
          <p:cNvSpPr/>
          <p:nvPr/>
        </p:nvSpPr>
        <p:spPr>
          <a:xfrm>
            <a:off x="3090672" y="2698786"/>
            <a:ext cx="914400" cy="182880"/>
          </a:xfrm>
          <a:prstGeom prst="rect">
            <a:avLst/>
          </a:prstGeom>
          <a:noFill/>
          <a:ln/>
        </p:spPr>
        <p:txBody>
          <a:bodyPr wrap="square" lIns="0" tIns="0" rIns="0" bIns="0" rtlCol="0" anchor="ctr"/>
          <a:lstStyle/>
          <a:p>
            <a:pPr marL="0" indent="0" algn="ctr">
              <a:buNone/>
            </a:pPr>
            <a:r>
              <a:rPr lang="en-US" sz="750" dirty="0">
                <a:solidFill>
                  <a:srgbClr val="8B8FA8"/>
                </a:solidFill>
              </a:rPr>
              <a:t>Gross margin</a:t>
            </a:r>
            <a:endParaRPr lang="en-US" sz="750" dirty="0"/>
          </a:p>
        </p:txBody>
      </p:sp>
      <p:sp>
        <p:nvSpPr>
          <p:cNvPr id="28" name="Shape 26"/>
          <p:cNvSpPr/>
          <p:nvPr/>
        </p:nvSpPr>
        <p:spPr>
          <a:xfrm>
            <a:off x="4114800" y="2171700"/>
            <a:ext cx="27432" cy="640080"/>
          </a:xfrm>
          <a:prstGeom prst="rect">
            <a:avLst/>
          </a:prstGeom>
          <a:solidFill>
            <a:srgbClr val="2A2F40"/>
          </a:solidFill>
          <a:ln w="12700">
            <a:solidFill>
              <a:srgbClr val="2A2F40"/>
            </a:solidFill>
            <a:prstDash val="solid"/>
          </a:ln>
        </p:spPr>
        <p:txBody>
          <a:bodyPr/>
          <a:lstStyle/>
          <a:p>
            <a:endParaRPr lang="en-IN"/>
          </a:p>
        </p:txBody>
      </p:sp>
      <p:sp>
        <p:nvSpPr>
          <p:cNvPr id="29" name="Text 27"/>
          <p:cNvSpPr/>
          <p:nvPr/>
        </p:nvSpPr>
        <p:spPr>
          <a:xfrm>
            <a:off x="4251960" y="2171700"/>
            <a:ext cx="4297680" cy="228600"/>
          </a:xfrm>
          <a:prstGeom prst="rect">
            <a:avLst/>
          </a:prstGeom>
          <a:noFill/>
          <a:ln/>
        </p:spPr>
        <p:txBody>
          <a:bodyPr wrap="square" lIns="0" tIns="0" rIns="0" bIns="0" rtlCol="0" anchor="ctr"/>
          <a:lstStyle/>
          <a:p>
            <a:pPr marL="0" indent="0">
              <a:buNone/>
            </a:pPr>
            <a:r>
              <a:rPr lang="en-US" sz="1050" b="1" dirty="0">
                <a:solidFill>
                  <a:srgbClr val="F5F0E8"/>
                </a:solidFill>
              </a:rPr>
              <a:t>Handbags &amp; Fine Jewellery</a:t>
            </a:r>
            <a:endParaRPr lang="en-US" sz="1050" dirty="0"/>
          </a:p>
        </p:txBody>
      </p:sp>
      <p:sp>
        <p:nvSpPr>
          <p:cNvPr id="30" name="Text 28"/>
          <p:cNvSpPr/>
          <p:nvPr/>
        </p:nvSpPr>
        <p:spPr>
          <a:xfrm>
            <a:off x="4251960" y="2400300"/>
            <a:ext cx="4297680" cy="438912"/>
          </a:xfrm>
          <a:prstGeom prst="rect">
            <a:avLst/>
          </a:prstGeom>
          <a:noFill/>
          <a:ln/>
        </p:spPr>
        <p:txBody>
          <a:bodyPr wrap="square" lIns="0" tIns="0" rIns="0" bIns="0" rtlCol="0" anchor="ctr"/>
          <a:lstStyle/>
          <a:p>
            <a:pPr marL="0" indent="0">
              <a:lnSpc>
                <a:spcPct val="135000"/>
              </a:lnSpc>
              <a:buNone/>
            </a:pPr>
            <a:r>
              <a:rPr lang="en-US" sz="850" dirty="0">
                <a:solidFill>
                  <a:srgbClr val="8B8FA8"/>
                </a:solidFill>
              </a:rPr>
              <a:t>Accessories and handbags sustain the highest gross margins vs RTW at 35–45% — directly informing inventory mix strategy.</a:t>
            </a:r>
            <a:endParaRPr lang="en-US" sz="850" dirty="0"/>
          </a:p>
        </p:txBody>
      </p:sp>
      <p:sp>
        <p:nvSpPr>
          <p:cNvPr id="31" name="Shape 29"/>
          <p:cNvSpPr/>
          <p:nvPr/>
        </p:nvSpPr>
        <p:spPr>
          <a:xfrm>
            <a:off x="2926080" y="2971800"/>
            <a:ext cx="5852160" cy="804672"/>
          </a:xfrm>
          <a:prstGeom prst="rect">
            <a:avLst/>
          </a:prstGeom>
          <a:solidFill>
            <a:srgbClr val="1A1F2E"/>
          </a:solidFill>
          <a:ln w="12700">
            <a:solidFill>
              <a:srgbClr val="2A2F40"/>
            </a:solidFill>
            <a:prstDash val="solid"/>
          </a:ln>
          <a:effectLst>
            <a:outerShdw blurRad="101600" dist="38100" dir="8100000" algn="bl" rotWithShape="0">
              <a:srgbClr val="000000">
                <a:alpha val="25000"/>
              </a:srgbClr>
            </a:outerShdw>
          </a:effectLst>
        </p:spPr>
        <p:txBody>
          <a:bodyPr/>
          <a:lstStyle/>
          <a:p>
            <a:endParaRPr lang="en-IN"/>
          </a:p>
        </p:txBody>
      </p:sp>
      <p:sp>
        <p:nvSpPr>
          <p:cNvPr id="32" name="Shape 30"/>
          <p:cNvSpPr/>
          <p:nvPr/>
        </p:nvSpPr>
        <p:spPr>
          <a:xfrm>
            <a:off x="2926080" y="2971800"/>
            <a:ext cx="54864" cy="804672"/>
          </a:xfrm>
          <a:prstGeom prst="rect">
            <a:avLst/>
          </a:prstGeom>
          <a:solidFill>
            <a:srgbClr val="D4537E"/>
          </a:solidFill>
          <a:ln w="12700">
            <a:solidFill>
              <a:srgbClr val="D4537E"/>
            </a:solidFill>
            <a:prstDash val="solid"/>
          </a:ln>
        </p:spPr>
        <p:txBody>
          <a:bodyPr/>
          <a:lstStyle/>
          <a:p>
            <a:endParaRPr lang="en-IN"/>
          </a:p>
        </p:txBody>
      </p:sp>
      <p:sp>
        <p:nvSpPr>
          <p:cNvPr id="33" name="Text 31"/>
          <p:cNvSpPr/>
          <p:nvPr/>
        </p:nvSpPr>
        <p:spPr>
          <a:xfrm>
            <a:off x="3063240" y="3063240"/>
            <a:ext cx="914400" cy="475488"/>
          </a:xfrm>
          <a:prstGeom prst="rect">
            <a:avLst/>
          </a:prstGeom>
          <a:noFill/>
          <a:ln/>
        </p:spPr>
        <p:txBody>
          <a:bodyPr wrap="square" lIns="0" tIns="0" rIns="0" bIns="0" rtlCol="0" anchor="ctr"/>
          <a:lstStyle/>
          <a:p>
            <a:pPr marL="0" indent="0" algn="ctr">
              <a:buNone/>
            </a:pPr>
            <a:r>
              <a:rPr lang="en-US" sz="2800" b="1" dirty="0">
                <a:solidFill>
                  <a:srgbClr val="D4537E"/>
                </a:solidFill>
              </a:rPr>
              <a:t>2×</a:t>
            </a:r>
            <a:endParaRPr lang="en-US" sz="2800" dirty="0"/>
          </a:p>
        </p:txBody>
      </p:sp>
      <p:sp>
        <p:nvSpPr>
          <p:cNvPr id="34" name="Text 32"/>
          <p:cNvSpPr/>
          <p:nvPr/>
        </p:nvSpPr>
        <p:spPr>
          <a:xfrm>
            <a:off x="3063240" y="3538728"/>
            <a:ext cx="914400" cy="182880"/>
          </a:xfrm>
          <a:prstGeom prst="rect">
            <a:avLst/>
          </a:prstGeom>
          <a:noFill/>
          <a:ln/>
        </p:spPr>
        <p:txBody>
          <a:bodyPr wrap="square" lIns="0" tIns="0" rIns="0" bIns="0" rtlCol="0" anchor="ctr"/>
          <a:lstStyle/>
          <a:p>
            <a:pPr marL="0" indent="0" algn="ctr">
              <a:buNone/>
            </a:pPr>
            <a:r>
              <a:rPr lang="en-US" sz="750" dirty="0">
                <a:solidFill>
                  <a:srgbClr val="8B8FA8"/>
                </a:solidFill>
              </a:rPr>
              <a:t>Returning client AOV</a:t>
            </a:r>
            <a:endParaRPr lang="en-US" sz="750" dirty="0"/>
          </a:p>
        </p:txBody>
      </p:sp>
      <p:sp>
        <p:nvSpPr>
          <p:cNvPr id="35" name="Shape 33"/>
          <p:cNvSpPr/>
          <p:nvPr/>
        </p:nvSpPr>
        <p:spPr>
          <a:xfrm>
            <a:off x="4114800" y="3063240"/>
            <a:ext cx="27432" cy="640080"/>
          </a:xfrm>
          <a:prstGeom prst="rect">
            <a:avLst/>
          </a:prstGeom>
          <a:solidFill>
            <a:srgbClr val="2A2F40"/>
          </a:solidFill>
          <a:ln w="12700">
            <a:solidFill>
              <a:srgbClr val="2A2F40"/>
            </a:solidFill>
            <a:prstDash val="solid"/>
          </a:ln>
        </p:spPr>
        <p:txBody>
          <a:bodyPr/>
          <a:lstStyle/>
          <a:p>
            <a:endParaRPr lang="en-IN"/>
          </a:p>
        </p:txBody>
      </p:sp>
      <p:sp>
        <p:nvSpPr>
          <p:cNvPr id="36" name="Text 34"/>
          <p:cNvSpPr/>
          <p:nvPr/>
        </p:nvSpPr>
        <p:spPr>
          <a:xfrm>
            <a:off x="4251960" y="3063240"/>
            <a:ext cx="4297680" cy="228600"/>
          </a:xfrm>
          <a:prstGeom prst="rect">
            <a:avLst/>
          </a:prstGeom>
          <a:noFill/>
          <a:ln/>
        </p:spPr>
        <p:txBody>
          <a:bodyPr wrap="square" lIns="0" tIns="0" rIns="0" bIns="0" rtlCol="0" anchor="ctr"/>
          <a:lstStyle/>
          <a:p>
            <a:pPr marL="0" indent="0">
              <a:buNone/>
            </a:pPr>
            <a:r>
              <a:rPr lang="en-US" sz="1050" b="1" dirty="0">
                <a:solidFill>
                  <a:srgbClr val="F5F0E8"/>
                </a:solidFill>
              </a:rPr>
              <a:t>Digital AOV Premium</a:t>
            </a:r>
            <a:endParaRPr lang="en-US" sz="1050" dirty="0"/>
          </a:p>
        </p:txBody>
      </p:sp>
      <p:sp>
        <p:nvSpPr>
          <p:cNvPr id="37" name="Text 35"/>
          <p:cNvSpPr/>
          <p:nvPr/>
        </p:nvSpPr>
        <p:spPr>
          <a:xfrm>
            <a:off x="4251960" y="3291840"/>
            <a:ext cx="4297680" cy="438912"/>
          </a:xfrm>
          <a:prstGeom prst="rect">
            <a:avLst/>
          </a:prstGeom>
          <a:noFill/>
          <a:ln/>
        </p:spPr>
        <p:txBody>
          <a:bodyPr wrap="square" lIns="0" tIns="0" rIns="0" bIns="0" rtlCol="0" anchor="ctr"/>
          <a:lstStyle/>
          <a:p>
            <a:pPr marL="0" indent="0">
              <a:lnSpc>
                <a:spcPct val="135000"/>
              </a:lnSpc>
              <a:buNone/>
            </a:pPr>
            <a:r>
              <a:rPr lang="en-US" sz="850" dirty="0">
                <a:solidFill>
                  <a:srgbClr val="8B8FA8"/>
                </a:solidFill>
              </a:rPr>
              <a:t>Returning clients spend 2× their boutique AOV when purchasing online — invest in digital clienteling over raw traffic acquisition.</a:t>
            </a:r>
            <a:endParaRPr lang="en-US" sz="850" dirty="0"/>
          </a:p>
        </p:txBody>
      </p:sp>
      <p:sp>
        <p:nvSpPr>
          <p:cNvPr id="38" name="Shape 36"/>
          <p:cNvSpPr/>
          <p:nvPr/>
        </p:nvSpPr>
        <p:spPr>
          <a:xfrm>
            <a:off x="2926080" y="3863340"/>
            <a:ext cx="5852160" cy="804672"/>
          </a:xfrm>
          <a:prstGeom prst="rect">
            <a:avLst/>
          </a:prstGeom>
          <a:solidFill>
            <a:srgbClr val="1A1F2E"/>
          </a:solidFill>
          <a:ln w="12700">
            <a:solidFill>
              <a:srgbClr val="2A2F40"/>
            </a:solidFill>
            <a:prstDash val="solid"/>
          </a:ln>
          <a:effectLst>
            <a:outerShdw blurRad="101600" dist="38100" dir="8100000" algn="bl" rotWithShape="0">
              <a:srgbClr val="000000">
                <a:alpha val="25000"/>
              </a:srgbClr>
            </a:outerShdw>
          </a:effectLst>
        </p:spPr>
        <p:txBody>
          <a:bodyPr/>
          <a:lstStyle/>
          <a:p>
            <a:endParaRPr lang="en-IN"/>
          </a:p>
        </p:txBody>
      </p:sp>
      <p:sp>
        <p:nvSpPr>
          <p:cNvPr id="39" name="Shape 37"/>
          <p:cNvSpPr/>
          <p:nvPr/>
        </p:nvSpPr>
        <p:spPr>
          <a:xfrm>
            <a:off x="2926080" y="3863340"/>
            <a:ext cx="54864" cy="804672"/>
          </a:xfrm>
          <a:prstGeom prst="rect">
            <a:avLst/>
          </a:prstGeom>
          <a:solidFill>
            <a:srgbClr val="EF9F27"/>
          </a:solidFill>
          <a:ln w="12700">
            <a:solidFill>
              <a:srgbClr val="EF9F27"/>
            </a:solidFill>
            <a:prstDash val="solid"/>
          </a:ln>
        </p:spPr>
        <p:txBody>
          <a:bodyPr/>
          <a:lstStyle/>
          <a:p>
            <a:endParaRPr lang="en-IN"/>
          </a:p>
        </p:txBody>
      </p:sp>
      <p:sp>
        <p:nvSpPr>
          <p:cNvPr id="40" name="Text 38"/>
          <p:cNvSpPr/>
          <p:nvPr/>
        </p:nvSpPr>
        <p:spPr>
          <a:xfrm>
            <a:off x="3063240" y="3954780"/>
            <a:ext cx="914400" cy="475488"/>
          </a:xfrm>
          <a:prstGeom prst="rect">
            <a:avLst/>
          </a:prstGeom>
          <a:noFill/>
          <a:ln/>
        </p:spPr>
        <p:txBody>
          <a:bodyPr wrap="square" lIns="0" tIns="0" rIns="0" bIns="0" rtlCol="0" anchor="ctr"/>
          <a:lstStyle/>
          <a:p>
            <a:pPr marL="0" indent="0" algn="ctr">
              <a:buNone/>
            </a:pPr>
            <a:r>
              <a:rPr lang="en-US" sz="2800" b="1" dirty="0">
                <a:solidFill>
                  <a:srgbClr val="EF9F27"/>
                </a:solidFill>
              </a:rPr>
              <a:t>&gt;12%</a:t>
            </a:r>
            <a:endParaRPr lang="en-US" sz="2800" dirty="0"/>
          </a:p>
        </p:txBody>
      </p:sp>
      <p:sp>
        <p:nvSpPr>
          <p:cNvPr id="41" name="Text 39"/>
          <p:cNvSpPr/>
          <p:nvPr/>
        </p:nvSpPr>
        <p:spPr>
          <a:xfrm>
            <a:off x="3063240" y="4430268"/>
            <a:ext cx="914400" cy="182880"/>
          </a:xfrm>
          <a:prstGeom prst="rect">
            <a:avLst/>
          </a:prstGeom>
          <a:noFill/>
          <a:ln/>
        </p:spPr>
        <p:txBody>
          <a:bodyPr wrap="square" lIns="0" tIns="0" rIns="0" bIns="0" rtlCol="0" anchor="ctr"/>
          <a:lstStyle/>
          <a:p>
            <a:pPr marL="0" indent="0" algn="ctr">
              <a:buNone/>
            </a:pPr>
            <a:r>
              <a:rPr lang="en-US" sz="750" dirty="0">
                <a:solidFill>
                  <a:srgbClr val="8B8FA8"/>
                </a:solidFill>
              </a:rPr>
              <a:t>RTW return rate</a:t>
            </a:r>
            <a:endParaRPr lang="en-US" sz="750" dirty="0"/>
          </a:p>
        </p:txBody>
      </p:sp>
      <p:sp>
        <p:nvSpPr>
          <p:cNvPr id="42" name="Shape 40"/>
          <p:cNvSpPr/>
          <p:nvPr/>
        </p:nvSpPr>
        <p:spPr>
          <a:xfrm>
            <a:off x="4114800" y="3954780"/>
            <a:ext cx="27432" cy="640080"/>
          </a:xfrm>
          <a:prstGeom prst="rect">
            <a:avLst/>
          </a:prstGeom>
          <a:solidFill>
            <a:srgbClr val="2A2F40"/>
          </a:solidFill>
          <a:ln w="12700">
            <a:solidFill>
              <a:srgbClr val="2A2F40"/>
            </a:solidFill>
            <a:prstDash val="solid"/>
          </a:ln>
        </p:spPr>
        <p:txBody>
          <a:bodyPr/>
          <a:lstStyle/>
          <a:p>
            <a:endParaRPr lang="en-IN"/>
          </a:p>
        </p:txBody>
      </p:sp>
      <p:sp>
        <p:nvSpPr>
          <p:cNvPr id="43" name="Text 41"/>
          <p:cNvSpPr/>
          <p:nvPr/>
        </p:nvSpPr>
        <p:spPr>
          <a:xfrm>
            <a:off x="4251960" y="3954780"/>
            <a:ext cx="4297680" cy="228600"/>
          </a:xfrm>
          <a:prstGeom prst="rect">
            <a:avLst/>
          </a:prstGeom>
          <a:noFill/>
          <a:ln/>
        </p:spPr>
        <p:txBody>
          <a:bodyPr wrap="square" lIns="0" tIns="0" rIns="0" bIns="0" rtlCol="0" anchor="ctr"/>
          <a:lstStyle/>
          <a:p>
            <a:pPr marL="0" indent="0">
              <a:buNone/>
            </a:pPr>
            <a:r>
              <a:rPr lang="en-US" sz="1050" b="1" dirty="0">
                <a:solidFill>
                  <a:srgbClr val="F5F0E8"/>
                </a:solidFill>
              </a:rPr>
              <a:t>RTW Return Problem</a:t>
            </a:r>
            <a:endParaRPr lang="en-US" sz="1050" dirty="0"/>
          </a:p>
        </p:txBody>
      </p:sp>
      <p:sp>
        <p:nvSpPr>
          <p:cNvPr id="44" name="Text 42"/>
          <p:cNvSpPr/>
          <p:nvPr/>
        </p:nvSpPr>
        <p:spPr>
          <a:xfrm>
            <a:off x="4251960" y="4183380"/>
            <a:ext cx="4297680" cy="438912"/>
          </a:xfrm>
          <a:prstGeom prst="rect">
            <a:avLst/>
          </a:prstGeom>
          <a:noFill/>
          <a:ln/>
        </p:spPr>
        <p:txBody>
          <a:bodyPr wrap="square" lIns="0" tIns="0" rIns="0" bIns="0" rtlCol="0" anchor="ctr"/>
          <a:lstStyle/>
          <a:p>
            <a:pPr marL="0" indent="0">
              <a:lnSpc>
                <a:spcPct val="135000"/>
              </a:lnSpc>
              <a:buNone/>
            </a:pPr>
            <a:r>
              <a:rPr lang="en-US" sz="850" dirty="0">
                <a:solidFill>
                  <a:srgbClr val="8B8FA8"/>
                </a:solidFill>
              </a:rPr>
              <a:t>Return rates above 12% on RTW signal sizing inconsistency — a waterfall chart quickly isolates the problem SKUs by collection.</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9A84C"/>
          </a:solidFill>
          <a:ln w="12700">
            <a:solidFill>
              <a:srgbClr val="C9A84C"/>
            </a:solidFill>
            <a:prstDash val="solid"/>
          </a:ln>
        </p:spPr>
        <p:txBody>
          <a:bodyPr/>
          <a:lstStyle/>
          <a:p>
            <a:endParaRPr lang="en-IN"/>
          </a:p>
        </p:txBody>
      </p:sp>
      <p:sp>
        <p:nvSpPr>
          <p:cNvPr id="3" name="Shape 1"/>
          <p:cNvSpPr/>
          <p:nvPr/>
        </p:nvSpPr>
        <p:spPr>
          <a:xfrm>
            <a:off x="0" y="5074920"/>
            <a:ext cx="9144000" cy="68580"/>
          </a:xfrm>
          <a:prstGeom prst="rect">
            <a:avLst/>
          </a:prstGeom>
          <a:solidFill>
            <a:srgbClr val="1A1F2E"/>
          </a:solidFill>
          <a:ln w="12700">
            <a:solidFill>
              <a:srgbClr val="1A1F2E"/>
            </a:solidFill>
            <a:prstDash val="solid"/>
          </a:ln>
        </p:spPr>
        <p:txBody>
          <a:bodyPr/>
          <a:lstStyle/>
          <a:p>
            <a:endParaRPr lang="en-IN"/>
          </a:p>
        </p:txBody>
      </p:sp>
      <p:sp>
        <p:nvSpPr>
          <p:cNvPr id="4" name="Text 2"/>
          <p:cNvSpPr/>
          <p:nvPr/>
        </p:nvSpPr>
        <p:spPr>
          <a:xfrm>
            <a:off x="274320" y="5074920"/>
            <a:ext cx="6400800" cy="68580"/>
          </a:xfrm>
          <a:prstGeom prst="rect">
            <a:avLst/>
          </a:prstGeom>
          <a:noFill/>
          <a:ln/>
        </p:spPr>
        <p:txBody>
          <a:bodyPr wrap="square" lIns="0" tIns="0" rIns="0" bIns="0" rtlCol="0" anchor="ctr"/>
          <a:lstStyle/>
          <a:p>
            <a:pPr marL="0" indent="0">
              <a:buNone/>
            </a:pPr>
            <a:r>
              <a:rPr lang="en-US" sz="700" dirty="0">
                <a:solidFill>
                  <a:srgbClr val="8B8FA8"/>
                </a:solidFill>
              </a:rPr>
              <a:t>  Luxury Fashion Performance Intelligence</a:t>
            </a:r>
            <a:endParaRPr lang="en-US" sz="700" dirty="0"/>
          </a:p>
        </p:txBody>
      </p:sp>
      <p:sp>
        <p:nvSpPr>
          <p:cNvPr id="6" name="Shape 4"/>
          <p:cNvSpPr/>
          <p:nvPr/>
        </p:nvSpPr>
        <p:spPr>
          <a:xfrm>
            <a:off x="365760" y="164592"/>
            <a:ext cx="2194560" cy="201168"/>
          </a:xfrm>
          <a:prstGeom prst="rect">
            <a:avLst/>
          </a:prstGeom>
          <a:solidFill>
            <a:srgbClr val="C9A84C"/>
          </a:solidFill>
          <a:ln w="12700">
            <a:solidFill>
              <a:srgbClr val="C9A84C"/>
            </a:solidFill>
            <a:prstDash val="solid"/>
          </a:ln>
        </p:spPr>
        <p:txBody>
          <a:bodyPr/>
          <a:lstStyle/>
          <a:p>
            <a:endParaRPr lang="en-IN"/>
          </a:p>
        </p:txBody>
      </p:sp>
      <p:sp>
        <p:nvSpPr>
          <p:cNvPr id="7" name="Text 5"/>
          <p:cNvSpPr/>
          <p:nvPr/>
        </p:nvSpPr>
        <p:spPr>
          <a:xfrm>
            <a:off x="365760" y="164592"/>
            <a:ext cx="2194560" cy="201168"/>
          </a:xfrm>
          <a:prstGeom prst="rect">
            <a:avLst/>
          </a:prstGeom>
          <a:noFill/>
          <a:ln/>
        </p:spPr>
        <p:txBody>
          <a:bodyPr wrap="square" lIns="0" tIns="0" rIns="0" bIns="0" rtlCol="0" anchor="ctr"/>
          <a:lstStyle/>
          <a:p>
            <a:pPr marL="0" indent="0" algn="ctr">
              <a:buNone/>
            </a:pPr>
            <a:r>
              <a:rPr lang="en-US" sz="750" b="1" kern="0" spc="200" dirty="0">
                <a:solidFill>
                  <a:srgbClr val="0D0D0D"/>
                </a:solidFill>
              </a:rPr>
              <a:t>10  ·  STORYTELLING</a:t>
            </a:r>
            <a:endParaRPr lang="en-US" sz="750" dirty="0"/>
          </a:p>
        </p:txBody>
      </p:sp>
      <p:sp>
        <p:nvSpPr>
          <p:cNvPr id="8" name="Text 6"/>
          <p:cNvSpPr/>
          <p:nvPr/>
        </p:nvSpPr>
        <p:spPr>
          <a:xfrm>
            <a:off x="365760" y="457200"/>
            <a:ext cx="8229600" cy="457200"/>
          </a:xfrm>
          <a:prstGeom prst="rect">
            <a:avLst/>
          </a:prstGeom>
          <a:noFill/>
          <a:ln/>
        </p:spPr>
        <p:txBody>
          <a:bodyPr wrap="square" lIns="0" tIns="0" rIns="0" bIns="0" rtlCol="0" anchor="ctr"/>
          <a:lstStyle/>
          <a:p>
            <a:pPr marL="0" indent="0">
              <a:buNone/>
            </a:pPr>
            <a:r>
              <a:rPr lang="en-US" sz="2600" b="1" dirty="0">
                <a:solidFill>
                  <a:srgbClr val="F5F0E8"/>
                </a:solidFill>
              </a:rPr>
              <a:t>Storytelling &amp; Business Impact</a:t>
            </a:r>
            <a:endParaRPr lang="en-US" sz="2600" dirty="0"/>
          </a:p>
        </p:txBody>
      </p:sp>
      <p:sp>
        <p:nvSpPr>
          <p:cNvPr id="9" name="Text 7"/>
          <p:cNvSpPr/>
          <p:nvPr/>
        </p:nvSpPr>
        <p:spPr>
          <a:xfrm>
            <a:off x="365760" y="896112"/>
            <a:ext cx="8229600" cy="201168"/>
          </a:xfrm>
          <a:prstGeom prst="rect">
            <a:avLst/>
          </a:prstGeom>
          <a:noFill/>
          <a:ln/>
        </p:spPr>
        <p:txBody>
          <a:bodyPr wrap="square" lIns="0" tIns="0" rIns="0" bIns="0" rtlCol="0" anchor="ctr"/>
          <a:lstStyle/>
          <a:p>
            <a:pPr marL="0" indent="0">
              <a:buNone/>
            </a:pPr>
            <a:r>
              <a:rPr lang="en-US" sz="1100" dirty="0">
                <a:solidFill>
                  <a:srgbClr val="8B8FA8"/>
                </a:solidFill>
              </a:rPr>
              <a:t>The data narrative in four acts</a:t>
            </a:r>
            <a:endParaRPr lang="en-US" sz="1100" dirty="0"/>
          </a:p>
        </p:txBody>
      </p:sp>
      <p:sp>
        <p:nvSpPr>
          <p:cNvPr id="10" name="Shape 8"/>
          <p:cNvSpPr/>
          <p:nvPr/>
        </p:nvSpPr>
        <p:spPr>
          <a:xfrm>
            <a:off x="365760" y="1207008"/>
            <a:ext cx="1965960" cy="3566160"/>
          </a:xfrm>
          <a:prstGeom prst="rect">
            <a:avLst/>
          </a:prstGeom>
          <a:solidFill>
            <a:srgbClr val="1A1F2E"/>
          </a:solidFill>
          <a:ln w="12700">
            <a:solidFill>
              <a:srgbClr val="2A2F40"/>
            </a:solidFill>
            <a:prstDash val="solid"/>
          </a:ln>
          <a:effectLst>
            <a:outerShdw blurRad="101600" dist="38100" dir="8100000" algn="bl" rotWithShape="0">
              <a:srgbClr val="000000">
                <a:alpha val="25000"/>
              </a:srgbClr>
            </a:outerShdw>
          </a:effectLst>
        </p:spPr>
        <p:txBody>
          <a:bodyPr/>
          <a:lstStyle/>
          <a:p>
            <a:endParaRPr lang="en-IN"/>
          </a:p>
        </p:txBody>
      </p:sp>
      <p:sp>
        <p:nvSpPr>
          <p:cNvPr id="11" name="Shape 9"/>
          <p:cNvSpPr/>
          <p:nvPr/>
        </p:nvSpPr>
        <p:spPr>
          <a:xfrm>
            <a:off x="365760" y="1207008"/>
            <a:ext cx="1965960" cy="54864"/>
          </a:xfrm>
          <a:prstGeom prst="rect">
            <a:avLst/>
          </a:prstGeom>
          <a:solidFill>
            <a:srgbClr val="C9A84C"/>
          </a:solidFill>
          <a:ln w="12700">
            <a:solidFill>
              <a:srgbClr val="C9A84C"/>
            </a:solidFill>
            <a:prstDash val="solid"/>
          </a:ln>
        </p:spPr>
        <p:txBody>
          <a:bodyPr/>
          <a:lstStyle/>
          <a:p>
            <a:endParaRPr lang="en-IN"/>
          </a:p>
        </p:txBody>
      </p:sp>
      <p:sp>
        <p:nvSpPr>
          <p:cNvPr id="12" name="Shape 10"/>
          <p:cNvSpPr/>
          <p:nvPr/>
        </p:nvSpPr>
        <p:spPr>
          <a:xfrm>
            <a:off x="475488" y="1298448"/>
            <a:ext cx="822960" cy="310896"/>
          </a:xfrm>
          <a:prstGeom prst="rect">
            <a:avLst/>
          </a:prstGeom>
          <a:solidFill>
            <a:srgbClr val="C9A84C"/>
          </a:solidFill>
          <a:ln w="12700">
            <a:solidFill>
              <a:srgbClr val="C9A84C"/>
            </a:solidFill>
            <a:prstDash val="solid"/>
          </a:ln>
        </p:spPr>
        <p:txBody>
          <a:bodyPr/>
          <a:lstStyle/>
          <a:p>
            <a:endParaRPr lang="en-IN"/>
          </a:p>
        </p:txBody>
      </p:sp>
      <p:sp>
        <p:nvSpPr>
          <p:cNvPr id="13" name="Text 11"/>
          <p:cNvSpPr/>
          <p:nvPr/>
        </p:nvSpPr>
        <p:spPr>
          <a:xfrm>
            <a:off x="475488" y="1298448"/>
            <a:ext cx="822960" cy="310896"/>
          </a:xfrm>
          <a:prstGeom prst="rect">
            <a:avLst/>
          </a:prstGeom>
          <a:noFill/>
          <a:ln/>
        </p:spPr>
        <p:txBody>
          <a:bodyPr wrap="square" lIns="0" tIns="0" rIns="0" bIns="0" rtlCol="0" anchor="ctr"/>
          <a:lstStyle/>
          <a:p>
            <a:pPr marL="0" indent="0" algn="ctr">
              <a:buNone/>
            </a:pPr>
            <a:r>
              <a:rPr lang="en-US" sz="1100" b="1" dirty="0">
                <a:solidFill>
                  <a:srgbClr val="0D0D0D"/>
                </a:solidFill>
              </a:rPr>
              <a:t>2023 Jan</a:t>
            </a:r>
            <a:endParaRPr lang="en-US" sz="1100" dirty="0"/>
          </a:p>
        </p:txBody>
      </p:sp>
      <p:sp>
        <p:nvSpPr>
          <p:cNvPr id="14" name="Text 12"/>
          <p:cNvSpPr/>
          <p:nvPr/>
        </p:nvSpPr>
        <p:spPr>
          <a:xfrm>
            <a:off x="475488" y="1719072"/>
            <a:ext cx="1737360" cy="411480"/>
          </a:xfrm>
          <a:prstGeom prst="rect">
            <a:avLst/>
          </a:prstGeom>
          <a:noFill/>
          <a:ln/>
        </p:spPr>
        <p:txBody>
          <a:bodyPr wrap="square" lIns="0" tIns="0" rIns="0" bIns="0" rtlCol="0" anchor="ctr"/>
          <a:lstStyle/>
          <a:p>
            <a:pPr marL="0" indent="0">
              <a:lnSpc>
                <a:spcPct val="120000"/>
              </a:lnSpc>
              <a:buNone/>
            </a:pPr>
            <a:r>
              <a:rPr lang="en-US" sz="1150" b="1" dirty="0">
                <a:solidFill>
                  <a:srgbClr val="F5F0E8"/>
                </a:solidFill>
              </a:rPr>
              <a:t>The Baseline</a:t>
            </a:r>
            <a:endParaRPr lang="en-US" sz="1150" dirty="0"/>
          </a:p>
        </p:txBody>
      </p:sp>
      <p:sp>
        <p:nvSpPr>
          <p:cNvPr id="15" name="Text 13"/>
          <p:cNvSpPr/>
          <p:nvPr/>
        </p:nvSpPr>
        <p:spPr>
          <a:xfrm>
            <a:off x="475488" y="2194560"/>
            <a:ext cx="1737360" cy="2468880"/>
          </a:xfrm>
          <a:prstGeom prst="rect">
            <a:avLst/>
          </a:prstGeom>
          <a:noFill/>
          <a:ln/>
        </p:spPr>
        <p:txBody>
          <a:bodyPr wrap="square" lIns="0" tIns="0" rIns="0" bIns="0" rtlCol="0" anchor="ctr"/>
          <a:lstStyle/>
          <a:p>
            <a:pPr marL="0" indent="0">
              <a:lnSpc>
                <a:spcPct val="150000"/>
              </a:lnSpc>
              <a:buNone/>
            </a:pPr>
            <a:r>
              <a:rPr lang="en-US" sz="1050" dirty="0">
                <a:solidFill>
                  <a:srgbClr val="8B8FA8"/>
                </a:solidFill>
              </a:rPr>
              <a:t>The system opens at €28.4M GMV with a 38.7% repeat rate. VIC clients account for 44% of revenue despite being just 5% of the base. Boutique dominates at 60% channel share.</a:t>
            </a:r>
            <a:endParaRPr lang="en-US" sz="1050" dirty="0"/>
          </a:p>
        </p:txBody>
      </p:sp>
      <p:sp>
        <p:nvSpPr>
          <p:cNvPr id="16" name="Shape 14"/>
          <p:cNvSpPr/>
          <p:nvPr/>
        </p:nvSpPr>
        <p:spPr>
          <a:xfrm>
            <a:off x="2331720" y="2560320"/>
            <a:ext cx="228600" cy="54864"/>
          </a:xfrm>
          <a:prstGeom prst="rect">
            <a:avLst/>
          </a:prstGeom>
          <a:solidFill>
            <a:srgbClr val="C9A84C"/>
          </a:solidFill>
          <a:ln w="12700">
            <a:solidFill>
              <a:srgbClr val="C9A84C"/>
            </a:solidFill>
            <a:prstDash val="solid"/>
          </a:ln>
        </p:spPr>
        <p:txBody>
          <a:bodyPr/>
          <a:lstStyle/>
          <a:p>
            <a:endParaRPr lang="en-IN"/>
          </a:p>
        </p:txBody>
      </p:sp>
      <p:sp>
        <p:nvSpPr>
          <p:cNvPr id="17" name="Shape 15"/>
          <p:cNvSpPr/>
          <p:nvPr/>
        </p:nvSpPr>
        <p:spPr>
          <a:xfrm>
            <a:off x="2560320" y="1207008"/>
            <a:ext cx="1965960" cy="3566160"/>
          </a:xfrm>
          <a:prstGeom prst="rect">
            <a:avLst/>
          </a:prstGeom>
          <a:solidFill>
            <a:srgbClr val="1A1F2E"/>
          </a:solidFill>
          <a:ln w="12700">
            <a:solidFill>
              <a:srgbClr val="2A2F40"/>
            </a:solidFill>
            <a:prstDash val="solid"/>
          </a:ln>
          <a:effectLst>
            <a:outerShdw blurRad="101600" dist="38100" dir="8100000" algn="bl" rotWithShape="0">
              <a:srgbClr val="000000">
                <a:alpha val="25000"/>
              </a:srgbClr>
            </a:outerShdw>
          </a:effectLst>
        </p:spPr>
        <p:txBody>
          <a:bodyPr/>
          <a:lstStyle/>
          <a:p>
            <a:endParaRPr lang="en-IN"/>
          </a:p>
        </p:txBody>
      </p:sp>
      <p:sp>
        <p:nvSpPr>
          <p:cNvPr id="18" name="Shape 16"/>
          <p:cNvSpPr/>
          <p:nvPr/>
        </p:nvSpPr>
        <p:spPr>
          <a:xfrm>
            <a:off x="2560320" y="1207008"/>
            <a:ext cx="1965960" cy="54864"/>
          </a:xfrm>
          <a:prstGeom prst="rect">
            <a:avLst/>
          </a:prstGeom>
          <a:solidFill>
            <a:srgbClr val="7F77DD"/>
          </a:solidFill>
          <a:ln w="12700">
            <a:solidFill>
              <a:srgbClr val="7F77DD"/>
            </a:solidFill>
            <a:prstDash val="solid"/>
          </a:ln>
        </p:spPr>
        <p:txBody>
          <a:bodyPr/>
          <a:lstStyle/>
          <a:p>
            <a:endParaRPr lang="en-IN"/>
          </a:p>
        </p:txBody>
      </p:sp>
      <p:sp>
        <p:nvSpPr>
          <p:cNvPr id="19" name="Shape 17"/>
          <p:cNvSpPr/>
          <p:nvPr/>
        </p:nvSpPr>
        <p:spPr>
          <a:xfrm>
            <a:off x="2670048" y="1298448"/>
            <a:ext cx="822960" cy="310896"/>
          </a:xfrm>
          <a:prstGeom prst="rect">
            <a:avLst/>
          </a:prstGeom>
          <a:solidFill>
            <a:srgbClr val="7F77DD"/>
          </a:solidFill>
          <a:ln w="12700">
            <a:solidFill>
              <a:srgbClr val="7F77DD"/>
            </a:solidFill>
            <a:prstDash val="solid"/>
          </a:ln>
        </p:spPr>
        <p:txBody>
          <a:bodyPr/>
          <a:lstStyle/>
          <a:p>
            <a:endParaRPr lang="en-IN"/>
          </a:p>
        </p:txBody>
      </p:sp>
      <p:sp>
        <p:nvSpPr>
          <p:cNvPr id="20" name="Text 18"/>
          <p:cNvSpPr/>
          <p:nvPr/>
        </p:nvSpPr>
        <p:spPr>
          <a:xfrm>
            <a:off x="2670048" y="1298448"/>
            <a:ext cx="822960" cy="310896"/>
          </a:xfrm>
          <a:prstGeom prst="rect">
            <a:avLst/>
          </a:prstGeom>
          <a:noFill/>
          <a:ln/>
        </p:spPr>
        <p:txBody>
          <a:bodyPr wrap="square" lIns="0" tIns="0" rIns="0" bIns="0" rtlCol="0" anchor="ctr"/>
          <a:lstStyle/>
          <a:p>
            <a:pPr marL="0" indent="0" algn="ctr">
              <a:buNone/>
            </a:pPr>
            <a:r>
              <a:rPr lang="en-US" sz="1100" b="1" dirty="0">
                <a:solidFill>
                  <a:srgbClr val="0D0D0D"/>
                </a:solidFill>
              </a:rPr>
              <a:t>2023 FW</a:t>
            </a:r>
            <a:endParaRPr lang="en-US" sz="1100" dirty="0"/>
          </a:p>
        </p:txBody>
      </p:sp>
      <p:sp>
        <p:nvSpPr>
          <p:cNvPr id="21" name="Text 19"/>
          <p:cNvSpPr/>
          <p:nvPr/>
        </p:nvSpPr>
        <p:spPr>
          <a:xfrm>
            <a:off x="2670048" y="1719072"/>
            <a:ext cx="1737360" cy="411480"/>
          </a:xfrm>
          <a:prstGeom prst="rect">
            <a:avLst/>
          </a:prstGeom>
          <a:noFill/>
          <a:ln/>
        </p:spPr>
        <p:txBody>
          <a:bodyPr wrap="square" lIns="0" tIns="0" rIns="0" bIns="0" rtlCol="0" anchor="ctr"/>
          <a:lstStyle/>
          <a:p>
            <a:pPr marL="0" indent="0">
              <a:lnSpc>
                <a:spcPct val="120000"/>
              </a:lnSpc>
              <a:buNone/>
            </a:pPr>
            <a:r>
              <a:rPr lang="en-US" sz="1150" b="1" dirty="0">
                <a:solidFill>
                  <a:srgbClr val="F5F0E8"/>
                </a:solidFill>
              </a:rPr>
              <a:t>Fashion Week Lift</a:t>
            </a:r>
            <a:endParaRPr lang="en-US" sz="1150" dirty="0"/>
          </a:p>
        </p:txBody>
      </p:sp>
      <p:sp>
        <p:nvSpPr>
          <p:cNvPr id="22" name="Text 20"/>
          <p:cNvSpPr/>
          <p:nvPr/>
        </p:nvSpPr>
        <p:spPr>
          <a:xfrm>
            <a:off x="2670048" y="2194560"/>
            <a:ext cx="1737360" cy="2468880"/>
          </a:xfrm>
          <a:prstGeom prst="rect">
            <a:avLst/>
          </a:prstGeom>
          <a:noFill/>
          <a:ln/>
        </p:spPr>
        <p:txBody>
          <a:bodyPr wrap="square" lIns="0" tIns="0" rIns="0" bIns="0" rtlCol="0" anchor="ctr"/>
          <a:lstStyle/>
          <a:p>
            <a:pPr marL="0" indent="0">
              <a:lnSpc>
                <a:spcPct val="150000"/>
              </a:lnSpc>
              <a:buNone/>
            </a:pPr>
            <a:r>
              <a:rPr lang="en-US" sz="1050" dirty="0">
                <a:solidFill>
                  <a:srgbClr val="8B8FA8"/>
                </a:solidFill>
              </a:rPr>
              <a:t>September–October brings a 186% GMV uplift during fashion week months. Hermès and Chanel lead. Limited edition drops spike new client acquisition by 3×. The seasonal engine kicks in.</a:t>
            </a:r>
            <a:endParaRPr lang="en-US" sz="1050" dirty="0"/>
          </a:p>
        </p:txBody>
      </p:sp>
      <p:sp>
        <p:nvSpPr>
          <p:cNvPr id="23" name="Shape 21"/>
          <p:cNvSpPr/>
          <p:nvPr/>
        </p:nvSpPr>
        <p:spPr>
          <a:xfrm>
            <a:off x="4526280" y="2560320"/>
            <a:ext cx="228600" cy="54864"/>
          </a:xfrm>
          <a:prstGeom prst="rect">
            <a:avLst/>
          </a:prstGeom>
          <a:solidFill>
            <a:srgbClr val="7F77DD"/>
          </a:solidFill>
          <a:ln w="12700">
            <a:solidFill>
              <a:srgbClr val="7F77DD"/>
            </a:solidFill>
            <a:prstDash val="solid"/>
          </a:ln>
        </p:spPr>
        <p:txBody>
          <a:bodyPr/>
          <a:lstStyle/>
          <a:p>
            <a:endParaRPr lang="en-IN"/>
          </a:p>
        </p:txBody>
      </p:sp>
      <p:sp>
        <p:nvSpPr>
          <p:cNvPr id="24" name="Shape 22"/>
          <p:cNvSpPr/>
          <p:nvPr/>
        </p:nvSpPr>
        <p:spPr>
          <a:xfrm>
            <a:off x="4754880" y="1207008"/>
            <a:ext cx="1965960" cy="3566160"/>
          </a:xfrm>
          <a:prstGeom prst="rect">
            <a:avLst/>
          </a:prstGeom>
          <a:solidFill>
            <a:srgbClr val="1A1F2E"/>
          </a:solidFill>
          <a:ln w="12700">
            <a:solidFill>
              <a:srgbClr val="2A2F40"/>
            </a:solidFill>
            <a:prstDash val="solid"/>
          </a:ln>
          <a:effectLst>
            <a:outerShdw blurRad="101600" dist="38100" dir="8100000" algn="bl" rotWithShape="0">
              <a:srgbClr val="000000">
                <a:alpha val="25000"/>
              </a:srgbClr>
            </a:outerShdw>
          </a:effectLst>
        </p:spPr>
        <p:txBody>
          <a:bodyPr/>
          <a:lstStyle/>
          <a:p>
            <a:endParaRPr lang="en-IN"/>
          </a:p>
        </p:txBody>
      </p:sp>
      <p:sp>
        <p:nvSpPr>
          <p:cNvPr id="25" name="Shape 23"/>
          <p:cNvSpPr/>
          <p:nvPr/>
        </p:nvSpPr>
        <p:spPr>
          <a:xfrm>
            <a:off x="4754880" y="1207008"/>
            <a:ext cx="1965960" cy="54864"/>
          </a:xfrm>
          <a:prstGeom prst="rect">
            <a:avLst/>
          </a:prstGeom>
          <a:solidFill>
            <a:srgbClr val="1D9E75"/>
          </a:solidFill>
          <a:ln w="12700">
            <a:solidFill>
              <a:srgbClr val="1D9E75"/>
            </a:solidFill>
            <a:prstDash val="solid"/>
          </a:ln>
        </p:spPr>
        <p:txBody>
          <a:bodyPr/>
          <a:lstStyle/>
          <a:p>
            <a:endParaRPr lang="en-IN"/>
          </a:p>
        </p:txBody>
      </p:sp>
      <p:sp>
        <p:nvSpPr>
          <p:cNvPr id="26" name="Shape 24"/>
          <p:cNvSpPr/>
          <p:nvPr/>
        </p:nvSpPr>
        <p:spPr>
          <a:xfrm>
            <a:off x="4864608" y="1298448"/>
            <a:ext cx="822960" cy="310896"/>
          </a:xfrm>
          <a:prstGeom prst="rect">
            <a:avLst/>
          </a:prstGeom>
          <a:solidFill>
            <a:srgbClr val="1D9E75"/>
          </a:solidFill>
          <a:ln w="12700">
            <a:solidFill>
              <a:srgbClr val="1D9E75"/>
            </a:solidFill>
            <a:prstDash val="solid"/>
          </a:ln>
        </p:spPr>
        <p:txBody>
          <a:bodyPr/>
          <a:lstStyle/>
          <a:p>
            <a:endParaRPr lang="en-IN"/>
          </a:p>
        </p:txBody>
      </p:sp>
      <p:sp>
        <p:nvSpPr>
          <p:cNvPr id="27" name="Text 25"/>
          <p:cNvSpPr/>
          <p:nvPr/>
        </p:nvSpPr>
        <p:spPr>
          <a:xfrm>
            <a:off x="4864608" y="1298448"/>
            <a:ext cx="822960" cy="310896"/>
          </a:xfrm>
          <a:prstGeom prst="rect">
            <a:avLst/>
          </a:prstGeom>
          <a:noFill/>
          <a:ln/>
        </p:spPr>
        <p:txBody>
          <a:bodyPr wrap="square" lIns="0" tIns="0" rIns="0" bIns="0" rtlCol="0" anchor="ctr"/>
          <a:lstStyle/>
          <a:p>
            <a:pPr marL="0" indent="0" algn="ctr">
              <a:buNone/>
            </a:pPr>
            <a:r>
              <a:rPr lang="en-US" sz="1100" b="1" dirty="0">
                <a:solidFill>
                  <a:srgbClr val="0D0D0D"/>
                </a:solidFill>
              </a:rPr>
              <a:t>2024 SS</a:t>
            </a:r>
            <a:endParaRPr lang="en-US" sz="1100" dirty="0"/>
          </a:p>
        </p:txBody>
      </p:sp>
      <p:sp>
        <p:nvSpPr>
          <p:cNvPr id="28" name="Text 26"/>
          <p:cNvSpPr/>
          <p:nvPr/>
        </p:nvSpPr>
        <p:spPr>
          <a:xfrm>
            <a:off x="4864608" y="1719072"/>
            <a:ext cx="1737360" cy="411480"/>
          </a:xfrm>
          <a:prstGeom prst="rect">
            <a:avLst/>
          </a:prstGeom>
          <a:noFill/>
          <a:ln/>
        </p:spPr>
        <p:txBody>
          <a:bodyPr wrap="square" lIns="0" tIns="0" rIns="0" bIns="0" rtlCol="0" anchor="ctr"/>
          <a:lstStyle/>
          <a:p>
            <a:pPr marL="0" indent="0">
              <a:lnSpc>
                <a:spcPct val="120000"/>
              </a:lnSpc>
              <a:buNone/>
            </a:pPr>
            <a:r>
              <a:rPr lang="en-US" sz="1150" b="1" dirty="0">
                <a:solidFill>
                  <a:srgbClr val="F5F0E8"/>
                </a:solidFill>
              </a:rPr>
              <a:t>Digital Inflection</a:t>
            </a:r>
            <a:endParaRPr lang="en-US" sz="1150" dirty="0"/>
          </a:p>
        </p:txBody>
      </p:sp>
      <p:sp>
        <p:nvSpPr>
          <p:cNvPr id="29" name="Text 27"/>
          <p:cNvSpPr/>
          <p:nvPr/>
        </p:nvSpPr>
        <p:spPr>
          <a:xfrm>
            <a:off x="4864608" y="2194560"/>
            <a:ext cx="1737360" cy="2468880"/>
          </a:xfrm>
          <a:prstGeom prst="rect">
            <a:avLst/>
          </a:prstGeom>
          <a:noFill/>
          <a:ln/>
        </p:spPr>
        <p:txBody>
          <a:bodyPr wrap="square" lIns="0" tIns="0" rIns="0" bIns="0" rtlCol="0" anchor="ctr"/>
          <a:lstStyle/>
          <a:p>
            <a:pPr marL="0" indent="0">
              <a:lnSpc>
                <a:spcPct val="150000"/>
              </a:lnSpc>
              <a:buNone/>
            </a:pPr>
            <a:r>
              <a:rPr lang="en-US" sz="1050" dirty="0">
                <a:solidFill>
                  <a:srgbClr val="8B8FA8"/>
                </a:solidFill>
              </a:rPr>
              <a:t>E-commerce AOV for returning clients surpasses boutique by 2×. Digital conversion sits at 2.1% — above industry average. The channel mix shifts: boutique share falls 3.2 pts YoY.</a:t>
            </a:r>
            <a:endParaRPr lang="en-US" sz="1050" dirty="0"/>
          </a:p>
        </p:txBody>
      </p:sp>
      <p:sp>
        <p:nvSpPr>
          <p:cNvPr id="30" name="Shape 28"/>
          <p:cNvSpPr/>
          <p:nvPr/>
        </p:nvSpPr>
        <p:spPr>
          <a:xfrm>
            <a:off x="6720840" y="2560320"/>
            <a:ext cx="228600" cy="54864"/>
          </a:xfrm>
          <a:prstGeom prst="rect">
            <a:avLst/>
          </a:prstGeom>
          <a:solidFill>
            <a:srgbClr val="1D9E75"/>
          </a:solidFill>
          <a:ln w="12700">
            <a:solidFill>
              <a:srgbClr val="1D9E75"/>
            </a:solidFill>
            <a:prstDash val="solid"/>
          </a:ln>
        </p:spPr>
        <p:txBody>
          <a:bodyPr/>
          <a:lstStyle/>
          <a:p>
            <a:endParaRPr lang="en-IN"/>
          </a:p>
        </p:txBody>
      </p:sp>
      <p:sp>
        <p:nvSpPr>
          <p:cNvPr id="31" name="Shape 29"/>
          <p:cNvSpPr/>
          <p:nvPr/>
        </p:nvSpPr>
        <p:spPr>
          <a:xfrm>
            <a:off x="6949440" y="1207008"/>
            <a:ext cx="1965960" cy="3566160"/>
          </a:xfrm>
          <a:prstGeom prst="rect">
            <a:avLst/>
          </a:prstGeom>
          <a:solidFill>
            <a:srgbClr val="1A1F2E"/>
          </a:solidFill>
          <a:ln w="12700">
            <a:solidFill>
              <a:srgbClr val="2A2F40"/>
            </a:solidFill>
            <a:prstDash val="solid"/>
          </a:ln>
          <a:effectLst>
            <a:outerShdw blurRad="101600" dist="38100" dir="8100000" algn="bl" rotWithShape="0">
              <a:srgbClr val="000000">
                <a:alpha val="25000"/>
              </a:srgbClr>
            </a:outerShdw>
          </a:effectLst>
        </p:spPr>
        <p:txBody>
          <a:bodyPr/>
          <a:lstStyle/>
          <a:p>
            <a:endParaRPr lang="en-IN"/>
          </a:p>
        </p:txBody>
      </p:sp>
      <p:sp>
        <p:nvSpPr>
          <p:cNvPr id="32" name="Shape 30"/>
          <p:cNvSpPr/>
          <p:nvPr/>
        </p:nvSpPr>
        <p:spPr>
          <a:xfrm>
            <a:off x="6949440" y="1207008"/>
            <a:ext cx="1965960" cy="54864"/>
          </a:xfrm>
          <a:prstGeom prst="rect">
            <a:avLst/>
          </a:prstGeom>
          <a:solidFill>
            <a:srgbClr val="D4537E"/>
          </a:solidFill>
          <a:ln w="12700">
            <a:solidFill>
              <a:srgbClr val="D4537E"/>
            </a:solidFill>
            <a:prstDash val="solid"/>
          </a:ln>
        </p:spPr>
        <p:txBody>
          <a:bodyPr/>
          <a:lstStyle/>
          <a:p>
            <a:endParaRPr lang="en-IN"/>
          </a:p>
        </p:txBody>
      </p:sp>
      <p:sp>
        <p:nvSpPr>
          <p:cNvPr id="33" name="Shape 31"/>
          <p:cNvSpPr/>
          <p:nvPr/>
        </p:nvSpPr>
        <p:spPr>
          <a:xfrm>
            <a:off x="7059168" y="1298448"/>
            <a:ext cx="822960" cy="310896"/>
          </a:xfrm>
          <a:prstGeom prst="rect">
            <a:avLst/>
          </a:prstGeom>
          <a:solidFill>
            <a:srgbClr val="D4537E"/>
          </a:solidFill>
          <a:ln w="12700">
            <a:solidFill>
              <a:srgbClr val="D4537E"/>
            </a:solidFill>
            <a:prstDash val="solid"/>
          </a:ln>
        </p:spPr>
        <p:txBody>
          <a:bodyPr/>
          <a:lstStyle/>
          <a:p>
            <a:endParaRPr lang="en-IN"/>
          </a:p>
        </p:txBody>
      </p:sp>
      <p:sp>
        <p:nvSpPr>
          <p:cNvPr id="34" name="Text 32"/>
          <p:cNvSpPr/>
          <p:nvPr/>
        </p:nvSpPr>
        <p:spPr>
          <a:xfrm>
            <a:off x="7059168" y="1298448"/>
            <a:ext cx="822960" cy="310896"/>
          </a:xfrm>
          <a:prstGeom prst="rect">
            <a:avLst/>
          </a:prstGeom>
          <a:noFill/>
          <a:ln/>
        </p:spPr>
        <p:txBody>
          <a:bodyPr wrap="square" lIns="0" tIns="0" rIns="0" bIns="0" rtlCol="0" anchor="ctr"/>
          <a:lstStyle/>
          <a:p>
            <a:pPr marL="0" indent="0" algn="ctr">
              <a:buNone/>
            </a:pPr>
            <a:r>
              <a:rPr lang="en-US" sz="1100" b="1" dirty="0">
                <a:solidFill>
                  <a:srgbClr val="0D0D0D"/>
                </a:solidFill>
              </a:rPr>
              <a:t>Action</a:t>
            </a:r>
            <a:endParaRPr lang="en-US" sz="1100" dirty="0"/>
          </a:p>
        </p:txBody>
      </p:sp>
      <p:sp>
        <p:nvSpPr>
          <p:cNvPr id="35" name="Text 33"/>
          <p:cNvSpPr/>
          <p:nvPr/>
        </p:nvSpPr>
        <p:spPr>
          <a:xfrm>
            <a:off x="7059168" y="1719072"/>
            <a:ext cx="1737360" cy="411480"/>
          </a:xfrm>
          <a:prstGeom prst="rect">
            <a:avLst/>
          </a:prstGeom>
          <a:noFill/>
          <a:ln/>
        </p:spPr>
        <p:txBody>
          <a:bodyPr wrap="square" lIns="0" tIns="0" rIns="0" bIns="0" rtlCol="0" anchor="ctr"/>
          <a:lstStyle/>
          <a:p>
            <a:pPr marL="0" indent="0">
              <a:lnSpc>
                <a:spcPct val="120000"/>
              </a:lnSpc>
              <a:buNone/>
            </a:pPr>
            <a:r>
              <a:rPr lang="en-US" sz="1150" b="1" dirty="0">
                <a:solidFill>
                  <a:srgbClr val="F5F0E8"/>
                </a:solidFill>
              </a:rPr>
              <a:t>The Prescription</a:t>
            </a:r>
            <a:endParaRPr lang="en-US" sz="1150" dirty="0"/>
          </a:p>
        </p:txBody>
      </p:sp>
      <p:sp>
        <p:nvSpPr>
          <p:cNvPr id="36" name="Text 34"/>
          <p:cNvSpPr/>
          <p:nvPr/>
        </p:nvSpPr>
        <p:spPr>
          <a:xfrm>
            <a:off x="7059168" y="2194560"/>
            <a:ext cx="1737360" cy="2468880"/>
          </a:xfrm>
          <a:prstGeom prst="rect">
            <a:avLst/>
          </a:prstGeom>
          <a:noFill/>
          <a:ln/>
        </p:spPr>
        <p:txBody>
          <a:bodyPr wrap="square" lIns="0" tIns="0" rIns="0" bIns="0" rtlCol="0" anchor="ctr"/>
          <a:lstStyle/>
          <a:p>
            <a:pPr marL="0" indent="0">
              <a:lnSpc>
                <a:spcPct val="150000"/>
              </a:lnSpc>
              <a:buNone/>
            </a:pPr>
            <a:r>
              <a:rPr lang="en-US" sz="1050" dirty="0">
                <a:solidFill>
                  <a:srgbClr val="8B8FA8"/>
                </a:solidFill>
              </a:rPr>
              <a:t>Three interventions: (1) Reactivate the 48 at-risk VIC clients. (2) Rebalance inventory toward 55–70% margin accessories. (3) Launch digital clienteling to capture the AOV opportunity.</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9A84C"/>
          </a:solidFill>
          <a:ln w="12700">
            <a:solidFill>
              <a:srgbClr val="C9A84C"/>
            </a:solidFill>
            <a:prstDash val="solid"/>
          </a:ln>
        </p:spPr>
        <p:txBody>
          <a:bodyPr/>
          <a:lstStyle/>
          <a:p>
            <a:endParaRPr lang="en-IN"/>
          </a:p>
        </p:txBody>
      </p:sp>
      <p:sp>
        <p:nvSpPr>
          <p:cNvPr id="3" name="Shape 1"/>
          <p:cNvSpPr/>
          <p:nvPr/>
        </p:nvSpPr>
        <p:spPr>
          <a:xfrm>
            <a:off x="0" y="5074920"/>
            <a:ext cx="9144000" cy="68580"/>
          </a:xfrm>
          <a:prstGeom prst="rect">
            <a:avLst/>
          </a:prstGeom>
          <a:solidFill>
            <a:srgbClr val="1A1F2E"/>
          </a:solidFill>
          <a:ln w="12700">
            <a:solidFill>
              <a:srgbClr val="1A1F2E"/>
            </a:solidFill>
            <a:prstDash val="solid"/>
          </a:ln>
        </p:spPr>
        <p:txBody>
          <a:bodyPr/>
          <a:lstStyle/>
          <a:p>
            <a:endParaRPr lang="en-IN"/>
          </a:p>
        </p:txBody>
      </p:sp>
      <p:sp>
        <p:nvSpPr>
          <p:cNvPr id="4" name="Text 2"/>
          <p:cNvSpPr/>
          <p:nvPr/>
        </p:nvSpPr>
        <p:spPr>
          <a:xfrm>
            <a:off x="274320" y="5074920"/>
            <a:ext cx="6400800" cy="68580"/>
          </a:xfrm>
          <a:prstGeom prst="rect">
            <a:avLst/>
          </a:prstGeom>
          <a:noFill/>
          <a:ln/>
        </p:spPr>
        <p:txBody>
          <a:bodyPr wrap="square" lIns="0" tIns="0" rIns="0" bIns="0" rtlCol="0" anchor="ctr"/>
          <a:lstStyle/>
          <a:p>
            <a:pPr marL="0" indent="0">
              <a:buNone/>
            </a:pPr>
            <a:r>
              <a:rPr lang="en-US" sz="700" dirty="0">
                <a:solidFill>
                  <a:srgbClr val="8B8FA8"/>
                </a:solidFill>
              </a:rPr>
              <a:t> Luxury Fashion Performance Intelligence</a:t>
            </a:r>
            <a:endParaRPr lang="en-US" sz="700" dirty="0"/>
          </a:p>
        </p:txBody>
      </p:sp>
      <p:sp>
        <p:nvSpPr>
          <p:cNvPr id="6" name="Shape 4"/>
          <p:cNvSpPr/>
          <p:nvPr/>
        </p:nvSpPr>
        <p:spPr>
          <a:xfrm>
            <a:off x="365760" y="164592"/>
            <a:ext cx="2194560" cy="201168"/>
          </a:xfrm>
          <a:prstGeom prst="rect">
            <a:avLst/>
          </a:prstGeom>
          <a:solidFill>
            <a:srgbClr val="C9A84C"/>
          </a:solidFill>
          <a:ln w="12700">
            <a:solidFill>
              <a:srgbClr val="C9A84C"/>
            </a:solidFill>
            <a:prstDash val="solid"/>
          </a:ln>
        </p:spPr>
        <p:txBody>
          <a:bodyPr/>
          <a:lstStyle/>
          <a:p>
            <a:endParaRPr lang="en-IN"/>
          </a:p>
        </p:txBody>
      </p:sp>
      <p:sp>
        <p:nvSpPr>
          <p:cNvPr id="7" name="Text 5"/>
          <p:cNvSpPr/>
          <p:nvPr/>
        </p:nvSpPr>
        <p:spPr>
          <a:xfrm>
            <a:off x="365760" y="164592"/>
            <a:ext cx="2194560" cy="201168"/>
          </a:xfrm>
          <a:prstGeom prst="rect">
            <a:avLst/>
          </a:prstGeom>
          <a:noFill/>
          <a:ln/>
        </p:spPr>
        <p:txBody>
          <a:bodyPr wrap="square" lIns="0" tIns="0" rIns="0" bIns="0" rtlCol="0" anchor="ctr"/>
          <a:lstStyle/>
          <a:p>
            <a:pPr marL="0" indent="0" algn="ctr">
              <a:buNone/>
            </a:pPr>
            <a:r>
              <a:rPr lang="en-US" sz="750" b="1" kern="0" spc="200" dirty="0">
                <a:solidFill>
                  <a:srgbClr val="0D0D0D"/>
                </a:solidFill>
              </a:rPr>
              <a:t>11  ·  REPORT DESIGN</a:t>
            </a:r>
            <a:endParaRPr lang="en-US" sz="750" dirty="0"/>
          </a:p>
        </p:txBody>
      </p:sp>
      <p:sp>
        <p:nvSpPr>
          <p:cNvPr id="8" name="Text 6"/>
          <p:cNvSpPr/>
          <p:nvPr/>
        </p:nvSpPr>
        <p:spPr>
          <a:xfrm>
            <a:off x="365760" y="457200"/>
            <a:ext cx="8229600" cy="457200"/>
          </a:xfrm>
          <a:prstGeom prst="rect">
            <a:avLst/>
          </a:prstGeom>
          <a:noFill/>
          <a:ln/>
        </p:spPr>
        <p:txBody>
          <a:bodyPr wrap="square" lIns="0" tIns="0" rIns="0" bIns="0" rtlCol="0" anchor="ctr"/>
          <a:lstStyle/>
          <a:p>
            <a:pPr marL="0" indent="0">
              <a:buNone/>
            </a:pPr>
            <a:r>
              <a:rPr lang="en-US" sz="2600" b="1" dirty="0">
                <a:solidFill>
                  <a:srgbClr val="F5F0E8"/>
                </a:solidFill>
              </a:rPr>
              <a:t>Report Design &amp; Visual Layout</a:t>
            </a:r>
            <a:endParaRPr lang="en-US" sz="2600" dirty="0"/>
          </a:p>
        </p:txBody>
      </p:sp>
      <p:sp>
        <p:nvSpPr>
          <p:cNvPr id="9" name="Text 7"/>
          <p:cNvSpPr/>
          <p:nvPr/>
        </p:nvSpPr>
        <p:spPr>
          <a:xfrm>
            <a:off x="365760" y="896112"/>
            <a:ext cx="8229600" cy="201168"/>
          </a:xfrm>
          <a:prstGeom prst="rect">
            <a:avLst/>
          </a:prstGeom>
          <a:noFill/>
          <a:ln/>
        </p:spPr>
        <p:txBody>
          <a:bodyPr wrap="square" lIns="0" tIns="0" rIns="0" bIns="0" rtlCol="0" anchor="ctr"/>
          <a:lstStyle/>
          <a:p>
            <a:pPr marL="0" indent="0">
              <a:buNone/>
            </a:pPr>
            <a:r>
              <a:rPr lang="en-US" sz="1100" dirty="0">
                <a:solidFill>
                  <a:srgbClr val="8B8FA8"/>
                </a:solidFill>
              </a:rPr>
              <a:t>Canvas specifications, visual types, and Power BI feature usage</a:t>
            </a:r>
            <a:endParaRPr lang="en-US" sz="1100" dirty="0"/>
          </a:p>
        </p:txBody>
      </p:sp>
      <p:sp>
        <p:nvSpPr>
          <p:cNvPr id="10" name="Shape 8"/>
          <p:cNvSpPr/>
          <p:nvPr/>
        </p:nvSpPr>
        <p:spPr>
          <a:xfrm>
            <a:off x="365760" y="1207008"/>
            <a:ext cx="3200400" cy="960120"/>
          </a:xfrm>
          <a:prstGeom prst="rect">
            <a:avLst/>
          </a:prstGeom>
          <a:solidFill>
            <a:srgbClr val="1A1F2E"/>
          </a:solidFill>
          <a:ln w="12700">
            <a:solidFill>
              <a:srgbClr val="2A2F40"/>
            </a:solidFill>
            <a:prstDash val="solid"/>
          </a:ln>
          <a:effectLst>
            <a:outerShdw blurRad="101600" dist="38100" dir="8100000" algn="bl" rotWithShape="0">
              <a:srgbClr val="000000">
                <a:alpha val="25000"/>
              </a:srgbClr>
            </a:outerShdw>
          </a:effectLst>
        </p:spPr>
        <p:txBody>
          <a:bodyPr/>
          <a:lstStyle/>
          <a:p>
            <a:endParaRPr lang="en-IN"/>
          </a:p>
        </p:txBody>
      </p:sp>
      <p:sp>
        <p:nvSpPr>
          <p:cNvPr id="11" name="Shape 9"/>
          <p:cNvSpPr/>
          <p:nvPr/>
        </p:nvSpPr>
        <p:spPr>
          <a:xfrm>
            <a:off x="365760" y="1207008"/>
            <a:ext cx="54864" cy="960120"/>
          </a:xfrm>
          <a:prstGeom prst="rect">
            <a:avLst/>
          </a:prstGeom>
          <a:solidFill>
            <a:srgbClr val="C9A84C"/>
          </a:solidFill>
          <a:ln w="12700">
            <a:solidFill>
              <a:srgbClr val="C9A84C"/>
            </a:solidFill>
            <a:prstDash val="solid"/>
          </a:ln>
        </p:spPr>
        <p:txBody>
          <a:bodyPr/>
          <a:lstStyle/>
          <a:p>
            <a:endParaRPr lang="en-IN"/>
          </a:p>
        </p:txBody>
      </p:sp>
      <p:sp>
        <p:nvSpPr>
          <p:cNvPr id="12" name="Text 10"/>
          <p:cNvSpPr/>
          <p:nvPr/>
        </p:nvSpPr>
        <p:spPr>
          <a:xfrm>
            <a:off x="548640" y="1280160"/>
            <a:ext cx="2834640" cy="201168"/>
          </a:xfrm>
          <a:prstGeom prst="rect">
            <a:avLst/>
          </a:prstGeom>
          <a:noFill/>
          <a:ln/>
        </p:spPr>
        <p:txBody>
          <a:bodyPr wrap="square" lIns="0" tIns="0" rIns="0" bIns="0" rtlCol="0" anchor="ctr"/>
          <a:lstStyle/>
          <a:p>
            <a:pPr marL="0" indent="0">
              <a:buNone/>
            </a:pPr>
            <a:r>
              <a:rPr lang="en-US" sz="1050" b="1" kern="0" spc="150" dirty="0">
                <a:solidFill>
                  <a:srgbClr val="C9A84C"/>
                </a:solidFill>
              </a:rPr>
              <a:t>Canvas</a:t>
            </a:r>
            <a:endParaRPr lang="en-US" sz="1050" dirty="0"/>
          </a:p>
        </p:txBody>
      </p:sp>
      <p:sp>
        <p:nvSpPr>
          <p:cNvPr id="13" name="Text 11"/>
          <p:cNvSpPr/>
          <p:nvPr/>
        </p:nvSpPr>
        <p:spPr>
          <a:xfrm>
            <a:off x="548640" y="1536192"/>
            <a:ext cx="2834640" cy="621792"/>
          </a:xfrm>
          <a:prstGeom prst="rect">
            <a:avLst/>
          </a:prstGeom>
          <a:noFill/>
          <a:ln/>
        </p:spPr>
        <p:txBody>
          <a:bodyPr wrap="square" lIns="0" tIns="0" rIns="0" bIns="0" rtlCol="0" anchor="ctr"/>
          <a:lstStyle/>
          <a:p>
            <a:pPr marL="0" indent="0">
              <a:lnSpc>
                <a:spcPct val="145000"/>
              </a:lnSpc>
              <a:buNone/>
            </a:pPr>
            <a:r>
              <a:rPr lang="en-US" sz="850" dirty="0">
                <a:solidFill>
                  <a:srgbClr val="8B8FA8"/>
                </a:solidFill>
              </a:rPr>
              <a:t>1280 × 720 px  ·  16:9 ratio</a:t>
            </a:r>
            <a:endParaRPr lang="en-US" sz="850" dirty="0"/>
          </a:p>
          <a:p>
            <a:pPr marL="0" indent="0">
              <a:lnSpc>
                <a:spcPct val="145000"/>
              </a:lnSpc>
              <a:buNone/>
            </a:pPr>
            <a:r>
              <a:rPr lang="en-US" sz="850" dirty="0">
                <a:solidFill>
                  <a:srgbClr val="8B8FA8"/>
                </a:solidFill>
              </a:rPr>
              <a:t>Theme: Gold #C9A84C ·  Richer Variant Colors</a:t>
            </a:r>
            <a:endParaRPr lang="en-US" sz="850" dirty="0"/>
          </a:p>
          <a:p>
            <a:pPr marL="0" indent="0">
              <a:lnSpc>
                <a:spcPct val="145000"/>
              </a:lnSpc>
              <a:buNone/>
            </a:pPr>
            <a:r>
              <a:rPr lang="en-US" sz="850" dirty="0">
                <a:solidFill>
                  <a:srgbClr val="8B8FA8"/>
                </a:solidFill>
              </a:rPr>
              <a:t>Font pairing: Times New Roman</a:t>
            </a:r>
            <a:endParaRPr lang="en-US" sz="850" dirty="0"/>
          </a:p>
          <a:p>
            <a:pPr marL="0" indent="0">
              <a:lnSpc>
                <a:spcPct val="145000"/>
              </a:lnSpc>
              <a:buNone/>
            </a:pPr>
            <a:endParaRPr lang="en-US" sz="850" dirty="0"/>
          </a:p>
        </p:txBody>
      </p:sp>
      <p:sp>
        <p:nvSpPr>
          <p:cNvPr id="14" name="Shape 12"/>
          <p:cNvSpPr/>
          <p:nvPr/>
        </p:nvSpPr>
        <p:spPr>
          <a:xfrm>
            <a:off x="3703320" y="1207008"/>
            <a:ext cx="5074920" cy="960120"/>
          </a:xfrm>
          <a:prstGeom prst="rect">
            <a:avLst/>
          </a:prstGeom>
          <a:solidFill>
            <a:srgbClr val="1A1F2E"/>
          </a:solidFill>
          <a:ln w="12700">
            <a:solidFill>
              <a:srgbClr val="2A2F40"/>
            </a:solidFill>
            <a:prstDash val="solid"/>
          </a:ln>
          <a:effectLst>
            <a:outerShdw blurRad="101600" dist="38100" dir="8100000" algn="bl" rotWithShape="0">
              <a:srgbClr val="000000">
                <a:alpha val="25000"/>
              </a:srgbClr>
            </a:outerShdw>
          </a:effectLst>
        </p:spPr>
        <p:txBody>
          <a:bodyPr/>
          <a:lstStyle/>
          <a:p>
            <a:endParaRPr lang="en-IN"/>
          </a:p>
        </p:txBody>
      </p:sp>
      <p:sp>
        <p:nvSpPr>
          <p:cNvPr id="15" name="Shape 13"/>
          <p:cNvSpPr/>
          <p:nvPr/>
        </p:nvSpPr>
        <p:spPr>
          <a:xfrm>
            <a:off x="3703320" y="1207008"/>
            <a:ext cx="54864" cy="960120"/>
          </a:xfrm>
          <a:prstGeom prst="rect">
            <a:avLst/>
          </a:prstGeom>
          <a:solidFill>
            <a:srgbClr val="7F77DD"/>
          </a:solidFill>
          <a:ln w="12700">
            <a:solidFill>
              <a:srgbClr val="7F77DD"/>
            </a:solidFill>
            <a:prstDash val="solid"/>
          </a:ln>
        </p:spPr>
        <p:txBody>
          <a:bodyPr/>
          <a:lstStyle/>
          <a:p>
            <a:endParaRPr lang="en-IN"/>
          </a:p>
        </p:txBody>
      </p:sp>
      <p:sp>
        <p:nvSpPr>
          <p:cNvPr id="16" name="Text 14"/>
          <p:cNvSpPr/>
          <p:nvPr/>
        </p:nvSpPr>
        <p:spPr>
          <a:xfrm>
            <a:off x="3886200" y="1280160"/>
            <a:ext cx="4663440" cy="201168"/>
          </a:xfrm>
          <a:prstGeom prst="rect">
            <a:avLst/>
          </a:prstGeom>
          <a:noFill/>
          <a:ln/>
        </p:spPr>
        <p:txBody>
          <a:bodyPr wrap="square" lIns="0" tIns="0" rIns="0" bIns="0" rtlCol="0" anchor="ctr"/>
          <a:lstStyle/>
          <a:p>
            <a:pPr marL="0" indent="0">
              <a:buNone/>
            </a:pPr>
            <a:r>
              <a:rPr lang="en-US" sz="1050" b="1" kern="0" spc="150" dirty="0">
                <a:solidFill>
                  <a:srgbClr val="7F77DD"/>
                </a:solidFill>
              </a:rPr>
              <a:t>Power BI Features Used</a:t>
            </a:r>
            <a:endParaRPr lang="en-US" sz="1050" dirty="0"/>
          </a:p>
        </p:txBody>
      </p:sp>
      <p:sp>
        <p:nvSpPr>
          <p:cNvPr id="17" name="Text 15"/>
          <p:cNvSpPr/>
          <p:nvPr/>
        </p:nvSpPr>
        <p:spPr>
          <a:xfrm>
            <a:off x="3886200" y="1481328"/>
            <a:ext cx="4663440" cy="621792"/>
          </a:xfrm>
          <a:prstGeom prst="rect">
            <a:avLst/>
          </a:prstGeom>
          <a:noFill/>
          <a:ln/>
        </p:spPr>
        <p:txBody>
          <a:bodyPr wrap="square" lIns="0" tIns="0" rIns="0" bIns="0" rtlCol="0" anchor="ctr"/>
          <a:lstStyle/>
          <a:p>
            <a:pPr marL="0" indent="0">
              <a:lnSpc>
                <a:spcPct val="145000"/>
              </a:lnSpc>
              <a:buNone/>
            </a:pPr>
            <a:r>
              <a:rPr lang="en-US" sz="850" dirty="0">
                <a:solidFill>
                  <a:srgbClr val="8B8FA8"/>
                </a:solidFill>
              </a:rPr>
              <a:t> ·  Drill-down: Category → Brand → SKU</a:t>
            </a:r>
            <a:endParaRPr lang="en-US" sz="850" dirty="0"/>
          </a:p>
          <a:p>
            <a:pPr marL="0" indent="0">
              <a:lnSpc>
                <a:spcPct val="145000"/>
              </a:lnSpc>
              <a:buNone/>
            </a:pPr>
            <a:r>
              <a:rPr lang="en-US" sz="850" dirty="0">
                <a:solidFill>
                  <a:srgbClr val="8B8FA8"/>
                </a:solidFill>
              </a:rPr>
              <a:t>·  Custom tooltip pages on hover  ·  Page Navigator buttons   ·  Conditional formatting on matrix and table  ·  TREATAS for Targets filter</a:t>
            </a:r>
            <a:endParaRPr lang="en-US" sz="850" dirty="0"/>
          </a:p>
        </p:txBody>
      </p:sp>
      <p:sp>
        <p:nvSpPr>
          <p:cNvPr id="18" name="Shape 16"/>
          <p:cNvSpPr/>
          <p:nvPr/>
        </p:nvSpPr>
        <p:spPr>
          <a:xfrm>
            <a:off x="365760" y="2304288"/>
            <a:ext cx="8412480" cy="256032"/>
          </a:xfrm>
          <a:prstGeom prst="rect">
            <a:avLst/>
          </a:prstGeom>
          <a:solidFill>
            <a:srgbClr val="C9A84C"/>
          </a:solidFill>
          <a:ln w="12700">
            <a:solidFill>
              <a:srgbClr val="C9A84C"/>
            </a:solidFill>
            <a:prstDash val="solid"/>
          </a:ln>
        </p:spPr>
        <p:txBody>
          <a:bodyPr/>
          <a:lstStyle/>
          <a:p>
            <a:endParaRPr lang="en-IN"/>
          </a:p>
        </p:txBody>
      </p:sp>
      <p:sp>
        <p:nvSpPr>
          <p:cNvPr id="19" name="Text 17"/>
          <p:cNvSpPr/>
          <p:nvPr/>
        </p:nvSpPr>
        <p:spPr>
          <a:xfrm>
            <a:off x="502920" y="2304288"/>
            <a:ext cx="1280160" cy="256032"/>
          </a:xfrm>
          <a:prstGeom prst="rect">
            <a:avLst/>
          </a:prstGeom>
          <a:noFill/>
          <a:ln/>
        </p:spPr>
        <p:txBody>
          <a:bodyPr wrap="square" lIns="0" tIns="0" rIns="0" bIns="0" rtlCol="0" anchor="ctr"/>
          <a:lstStyle/>
          <a:p>
            <a:pPr marL="0" indent="0">
              <a:buNone/>
            </a:pPr>
            <a:r>
              <a:rPr lang="en-US" sz="850" b="1" dirty="0">
                <a:solidFill>
                  <a:srgbClr val="0D0D0D"/>
                </a:solidFill>
              </a:rPr>
              <a:t>Page</a:t>
            </a:r>
            <a:endParaRPr lang="en-US" sz="850" dirty="0"/>
          </a:p>
        </p:txBody>
      </p:sp>
      <p:sp>
        <p:nvSpPr>
          <p:cNvPr id="20" name="Text 18"/>
          <p:cNvSpPr/>
          <p:nvPr/>
        </p:nvSpPr>
        <p:spPr>
          <a:xfrm>
            <a:off x="1828800" y="2304288"/>
            <a:ext cx="2194560" cy="256032"/>
          </a:xfrm>
          <a:prstGeom prst="rect">
            <a:avLst/>
          </a:prstGeom>
          <a:noFill/>
          <a:ln/>
        </p:spPr>
        <p:txBody>
          <a:bodyPr wrap="square" lIns="0" tIns="0" rIns="0" bIns="0" rtlCol="0" anchor="ctr"/>
          <a:lstStyle/>
          <a:p>
            <a:pPr marL="0" indent="0">
              <a:buNone/>
            </a:pPr>
            <a:r>
              <a:rPr lang="en-US" sz="850" b="1" dirty="0">
                <a:solidFill>
                  <a:srgbClr val="0D0D0D"/>
                </a:solidFill>
              </a:rPr>
              <a:t>Visual Type</a:t>
            </a:r>
            <a:endParaRPr lang="en-US" sz="850" dirty="0"/>
          </a:p>
        </p:txBody>
      </p:sp>
      <p:sp>
        <p:nvSpPr>
          <p:cNvPr id="21" name="Text 19"/>
          <p:cNvSpPr/>
          <p:nvPr/>
        </p:nvSpPr>
        <p:spPr>
          <a:xfrm>
            <a:off x="4114800" y="2304288"/>
            <a:ext cx="2194560" cy="256032"/>
          </a:xfrm>
          <a:prstGeom prst="rect">
            <a:avLst/>
          </a:prstGeom>
          <a:noFill/>
          <a:ln/>
        </p:spPr>
        <p:txBody>
          <a:bodyPr wrap="square" lIns="0" tIns="0" rIns="0" bIns="0" rtlCol="0" anchor="ctr"/>
          <a:lstStyle/>
          <a:p>
            <a:pPr marL="0" indent="0">
              <a:buNone/>
            </a:pPr>
            <a:r>
              <a:rPr lang="en-US" sz="850" b="1" dirty="0">
                <a:solidFill>
                  <a:srgbClr val="0D0D0D"/>
                </a:solidFill>
              </a:rPr>
              <a:t>Measure / Field</a:t>
            </a:r>
            <a:endParaRPr lang="en-US" sz="850" dirty="0"/>
          </a:p>
        </p:txBody>
      </p:sp>
      <p:sp>
        <p:nvSpPr>
          <p:cNvPr id="22" name="Text 20"/>
          <p:cNvSpPr/>
          <p:nvPr/>
        </p:nvSpPr>
        <p:spPr>
          <a:xfrm>
            <a:off x="6492240" y="2304288"/>
            <a:ext cx="2194560" cy="256032"/>
          </a:xfrm>
          <a:prstGeom prst="rect">
            <a:avLst/>
          </a:prstGeom>
          <a:noFill/>
          <a:ln/>
        </p:spPr>
        <p:txBody>
          <a:bodyPr wrap="square" lIns="0" tIns="0" rIns="0" bIns="0" rtlCol="0" anchor="ctr"/>
          <a:lstStyle/>
          <a:p>
            <a:pPr marL="0" indent="0">
              <a:buNone/>
            </a:pPr>
            <a:r>
              <a:rPr lang="en-US" sz="850" b="1" dirty="0">
                <a:solidFill>
                  <a:srgbClr val="0D0D0D"/>
                </a:solidFill>
              </a:rPr>
              <a:t>Key Setting</a:t>
            </a:r>
            <a:endParaRPr lang="en-US" sz="850" dirty="0"/>
          </a:p>
        </p:txBody>
      </p:sp>
      <p:sp>
        <p:nvSpPr>
          <p:cNvPr id="23" name="Shape 21"/>
          <p:cNvSpPr/>
          <p:nvPr/>
        </p:nvSpPr>
        <p:spPr>
          <a:xfrm>
            <a:off x="365760" y="2560320"/>
            <a:ext cx="8412480" cy="233172"/>
          </a:xfrm>
          <a:prstGeom prst="rect">
            <a:avLst/>
          </a:prstGeom>
          <a:solidFill>
            <a:srgbClr val="1A1F2E"/>
          </a:solidFill>
          <a:ln w="12700">
            <a:solidFill>
              <a:srgbClr val="2A2F40"/>
            </a:solidFill>
            <a:prstDash val="solid"/>
          </a:ln>
        </p:spPr>
        <p:txBody>
          <a:bodyPr/>
          <a:lstStyle/>
          <a:p>
            <a:endParaRPr lang="en-IN"/>
          </a:p>
        </p:txBody>
      </p:sp>
      <p:sp>
        <p:nvSpPr>
          <p:cNvPr id="24" name="Text 22"/>
          <p:cNvSpPr/>
          <p:nvPr/>
        </p:nvSpPr>
        <p:spPr>
          <a:xfrm>
            <a:off x="502920" y="2560320"/>
            <a:ext cx="1280160" cy="233172"/>
          </a:xfrm>
          <a:prstGeom prst="rect">
            <a:avLst/>
          </a:prstGeom>
          <a:noFill/>
          <a:ln/>
        </p:spPr>
        <p:txBody>
          <a:bodyPr wrap="square" lIns="0" tIns="0" rIns="0" bIns="0" rtlCol="0" anchor="ctr"/>
          <a:lstStyle/>
          <a:p>
            <a:pPr marL="0" indent="0">
              <a:buNone/>
            </a:pPr>
            <a:r>
              <a:rPr lang="en-US" sz="1100" dirty="0">
                <a:solidFill>
                  <a:srgbClr val="C9A84C"/>
                </a:solidFill>
              </a:rPr>
              <a:t>P1 — Overview</a:t>
            </a:r>
            <a:endParaRPr lang="en-US" sz="1100" dirty="0"/>
          </a:p>
        </p:txBody>
      </p:sp>
      <p:sp>
        <p:nvSpPr>
          <p:cNvPr id="25" name="Text 23"/>
          <p:cNvSpPr/>
          <p:nvPr/>
        </p:nvSpPr>
        <p:spPr>
          <a:xfrm>
            <a:off x="1828800" y="2560320"/>
            <a:ext cx="2194560" cy="233172"/>
          </a:xfrm>
          <a:prstGeom prst="rect">
            <a:avLst/>
          </a:prstGeom>
          <a:noFill/>
          <a:ln/>
        </p:spPr>
        <p:txBody>
          <a:bodyPr wrap="square" lIns="0" tIns="0" rIns="0" bIns="0" rtlCol="0" anchor="ctr"/>
          <a:lstStyle/>
          <a:p>
            <a:pPr marL="0" indent="0">
              <a:buNone/>
            </a:pPr>
            <a:r>
              <a:rPr lang="en-US" sz="1100" dirty="0">
                <a:solidFill>
                  <a:srgbClr val="F5F0E8"/>
                </a:solidFill>
              </a:rPr>
              <a:t>KPI Card × 4</a:t>
            </a:r>
            <a:endParaRPr lang="en-US" sz="1100" dirty="0"/>
          </a:p>
        </p:txBody>
      </p:sp>
      <p:sp>
        <p:nvSpPr>
          <p:cNvPr id="26" name="Text 24"/>
          <p:cNvSpPr/>
          <p:nvPr/>
        </p:nvSpPr>
        <p:spPr>
          <a:xfrm>
            <a:off x="4114800" y="2560320"/>
            <a:ext cx="2286000" cy="233172"/>
          </a:xfrm>
          <a:prstGeom prst="rect">
            <a:avLst/>
          </a:prstGeom>
          <a:noFill/>
          <a:ln/>
        </p:spPr>
        <p:txBody>
          <a:bodyPr wrap="square" lIns="0" tIns="0" rIns="0" bIns="0" rtlCol="0" anchor="ctr"/>
          <a:lstStyle/>
          <a:p>
            <a:pPr marL="0" indent="0">
              <a:buNone/>
            </a:pPr>
            <a:r>
              <a:rPr lang="en-US" sz="750" dirty="0">
                <a:solidFill>
                  <a:srgbClr val="8B8FA8"/>
                </a:solidFill>
              </a:rPr>
              <a:t>GMV · AOV · Repeat Rate · Return Rate</a:t>
            </a:r>
            <a:endParaRPr lang="en-US" sz="750" dirty="0"/>
          </a:p>
        </p:txBody>
      </p:sp>
      <p:sp>
        <p:nvSpPr>
          <p:cNvPr id="27" name="Text 25"/>
          <p:cNvSpPr/>
          <p:nvPr/>
        </p:nvSpPr>
        <p:spPr>
          <a:xfrm>
            <a:off x="6492240" y="2560320"/>
            <a:ext cx="2194560" cy="233172"/>
          </a:xfrm>
          <a:prstGeom prst="rect">
            <a:avLst/>
          </a:prstGeom>
          <a:noFill/>
          <a:ln/>
        </p:spPr>
        <p:txBody>
          <a:bodyPr wrap="square" lIns="0" tIns="0" rIns="0" bIns="0" rtlCol="0" anchor="ctr"/>
          <a:lstStyle/>
          <a:p>
            <a:pPr marL="0" indent="0">
              <a:buNone/>
            </a:pPr>
            <a:r>
              <a:rPr lang="en-US" sz="750" dirty="0">
                <a:solidFill>
                  <a:srgbClr val="8B8FA8"/>
                </a:solidFill>
              </a:rPr>
              <a:t>Gold top border · YoY delta label</a:t>
            </a:r>
            <a:endParaRPr lang="en-US" sz="750" dirty="0"/>
          </a:p>
        </p:txBody>
      </p:sp>
      <p:sp>
        <p:nvSpPr>
          <p:cNvPr id="28" name="Shape 26"/>
          <p:cNvSpPr/>
          <p:nvPr/>
        </p:nvSpPr>
        <p:spPr>
          <a:xfrm>
            <a:off x="365760" y="2796235"/>
            <a:ext cx="8412480" cy="233172"/>
          </a:xfrm>
          <a:prstGeom prst="rect">
            <a:avLst/>
          </a:prstGeom>
          <a:solidFill>
            <a:srgbClr val="161B2A"/>
          </a:solidFill>
          <a:ln w="12700">
            <a:solidFill>
              <a:srgbClr val="2A2F40"/>
            </a:solidFill>
            <a:prstDash val="solid"/>
          </a:ln>
        </p:spPr>
        <p:txBody>
          <a:bodyPr/>
          <a:lstStyle/>
          <a:p>
            <a:endParaRPr lang="en-IN"/>
          </a:p>
        </p:txBody>
      </p:sp>
      <p:sp>
        <p:nvSpPr>
          <p:cNvPr id="29" name="Text 27"/>
          <p:cNvSpPr/>
          <p:nvPr/>
        </p:nvSpPr>
        <p:spPr>
          <a:xfrm>
            <a:off x="502920" y="2796235"/>
            <a:ext cx="1280160" cy="233172"/>
          </a:xfrm>
          <a:prstGeom prst="rect">
            <a:avLst/>
          </a:prstGeom>
          <a:noFill/>
          <a:ln/>
        </p:spPr>
        <p:txBody>
          <a:bodyPr wrap="square" lIns="0" tIns="0" rIns="0" bIns="0" rtlCol="0" anchor="ctr"/>
          <a:lstStyle/>
          <a:p>
            <a:pPr marL="0" indent="0">
              <a:buNone/>
            </a:pPr>
            <a:r>
              <a:rPr lang="en-US" sz="1100" dirty="0">
                <a:solidFill>
                  <a:srgbClr val="7F77DD"/>
                </a:solidFill>
              </a:rPr>
              <a:t>P1 — Overview</a:t>
            </a:r>
            <a:endParaRPr lang="en-US" sz="1100" dirty="0"/>
          </a:p>
        </p:txBody>
      </p:sp>
      <p:sp>
        <p:nvSpPr>
          <p:cNvPr id="30" name="Text 28"/>
          <p:cNvSpPr/>
          <p:nvPr/>
        </p:nvSpPr>
        <p:spPr>
          <a:xfrm>
            <a:off x="1828800" y="2796235"/>
            <a:ext cx="2194560" cy="233172"/>
          </a:xfrm>
          <a:prstGeom prst="rect">
            <a:avLst/>
          </a:prstGeom>
          <a:noFill/>
          <a:ln/>
        </p:spPr>
        <p:txBody>
          <a:bodyPr wrap="square" lIns="0" tIns="0" rIns="0" bIns="0" rtlCol="0" anchor="ctr"/>
          <a:lstStyle/>
          <a:p>
            <a:pPr marL="0" indent="0">
              <a:buNone/>
            </a:pPr>
            <a:r>
              <a:rPr lang="en-US" sz="1100" dirty="0">
                <a:solidFill>
                  <a:srgbClr val="F5F0E8"/>
                </a:solidFill>
              </a:rPr>
              <a:t>Line Chart</a:t>
            </a:r>
            <a:endParaRPr lang="en-US" sz="1100" dirty="0"/>
          </a:p>
        </p:txBody>
      </p:sp>
      <p:sp>
        <p:nvSpPr>
          <p:cNvPr id="31" name="Text 29"/>
          <p:cNvSpPr/>
          <p:nvPr/>
        </p:nvSpPr>
        <p:spPr>
          <a:xfrm>
            <a:off x="4114800" y="2796235"/>
            <a:ext cx="2286000" cy="233172"/>
          </a:xfrm>
          <a:prstGeom prst="rect">
            <a:avLst/>
          </a:prstGeom>
          <a:noFill/>
          <a:ln/>
        </p:spPr>
        <p:txBody>
          <a:bodyPr wrap="square" lIns="0" tIns="0" rIns="0" bIns="0" rtlCol="0" anchor="ctr"/>
          <a:lstStyle/>
          <a:p>
            <a:pPr marL="0" indent="0">
              <a:buNone/>
            </a:pPr>
            <a:r>
              <a:rPr lang="en-US" sz="750" dirty="0">
                <a:solidFill>
                  <a:srgbClr val="8B8FA8"/>
                </a:solidFill>
              </a:rPr>
              <a:t>GMV + GMV_PY overlay</a:t>
            </a:r>
            <a:endParaRPr lang="en-US" sz="750" dirty="0"/>
          </a:p>
        </p:txBody>
      </p:sp>
      <p:sp>
        <p:nvSpPr>
          <p:cNvPr id="32" name="Text 30"/>
          <p:cNvSpPr/>
          <p:nvPr/>
        </p:nvSpPr>
        <p:spPr>
          <a:xfrm>
            <a:off x="6492240" y="2796235"/>
            <a:ext cx="2194560" cy="233172"/>
          </a:xfrm>
          <a:prstGeom prst="rect">
            <a:avLst/>
          </a:prstGeom>
          <a:noFill/>
          <a:ln/>
        </p:spPr>
        <p:txBody>
          <a:bodyPr wrap="square" lIns="0" tIns="0" rIns="0" bIns="0" rtlCol="0" anchor="ctr"/>
          <a:lstStyle/>
          <a:p>
            <a:pPr marL="0" indent="0">
              <a:buNone/>
            </a:pPr>
            <a:r>
              <a:rPr lang="en-US" sz="750" dirty="0">
                <a:solidFill>
                  <a:srgbClr val="8B8FA8"/>
                </a:solidFill>
              </a:rPr>
              <a:t>Fashion week constant lines</a:t>
            </a:r>
            <a:endParaRPr lang="en-US" sz="750" dirty="0"/>
          </a:p>
        </p:txBody>
      </p:sp>
      <p:sp>
        <p:nvSpPr>
          <p:cNvPr id="33" name="Shape 31"/>
          <p:cNvSpPr/>
          <p:nvPr/>
        </p:nvSpPr>
        <p:spPr>
          <a:xfrm>
            <a:off x="365760" y="3032150"/>
            <a:ext cx="8412480" cy="233172"/>
          </a:xfrm>
          <a:prstGeom prst="rect">
            <a:avLst/>
          </a:prstGeom>
          <a:solidFill>
            <a:srgbClr val="1A1F2E"/>
          </a:solidFill>
          <a:ln w="12700">
            <a:solidFill>
              <a:srgbClr val="2A2F40"/>
            </a:solidFill>
            <a:prstDash val="solid"/>
          </a:ln>
        </p:spPr>
        <p:txBody>
          <a:bodyPr/>
          <a:lstStyle/>
          <a:p>
            <a:endParaRPr lang="en-IN"/>
          </a:p>
        </p:txBody>
      </p:sp>
      <p:sp>
        <p:nvSpPr>
          <p:cNvPr id="34" name="Text 32"/>
          <p:cNvSpPr/>
          <p:nvPr/>
        </p:nvSpPr>
        <p:spPr>
          <a:xfrm>
            <a:off x="502920" y="3032150"/>
            <a:ext cx="1280160" cy="233172"/>
          </a:xfrm>
          <a:prstGeom prst="rect">
            <a:avLst/>
          </a:prstGeom>
          <a:noFill/>
          <a:ln/>
        </p:spPr>
        <p:txBody>
          <a:bodyPr wrap="square" lIns="0" tIns="0" rIns="0" bIns="0" rtlCol="0" anchor="ctr"/>
          <a:lstStyle/>
          <a:p>
            <a:pPr marL="0" indent="0">
              <a:buNone/>
            </a:pPr>
            <a:r>
              <a:rPr lang="en-US" sz="1100" dirty="0">
                <a:solidFill>
                  <a:srgbClr val="1D9E75"/>
                </a:solidFill>
              </a:rPr>
              <a:t>P1 — Overview</a:t>
            </a:r>
            <a:endParaRPr lang="en-US" sz="1100" dirty="0"/>
          </a:p>
        </p:txBody>
      </p:sp>
      <p:sp>
        <p:nvSpPr>
          <p:cNvPr id="35" name="Text 33"/>
          <p:cNvSpPr/>
          <p:nvPr/>
        </p:nvSpPr>
        <p:spPr>
          <a:xfrm>
            <a:off x="1828800" y="3032150"/>
            <a:ext cx="2194560" cy="233172"/>
          </a:xfrm>
          <a:prstGeom prst="rect">
            <a:avLst/>
          </a:prstGeom>
          <a:noFill/>
          <a:ln/>
        </p:spPr>
        <p:txBody>
          <a:bodyPr wrap="square" lIns="0" tIns="0" rIns="0" bIns="0" rtlCol="0" anchor="ctr"/>
          <a:lstStyle/>
          <a:p>
            <a:pPr marL="0" indent="0">
              <a:buNone/>
            </a:pPr>
            <a:r>
              <a:rPr lang="en-US" sz="1100" dirty="0">
                <a:solidFill>
                  <a:srgbClr val="F5F0E8"/>
                </a:solidFill>
              </a:rPr>
              <a:t>Donut Chart</a:t>
            </a:r>
            <a:endParaRPr lang="en-US" sz="1100" dirty="0"/>
          </a:p>
        </p:txBody>
      </p:sp>
      <p:sp>
        <p:nvSpPr>
          <p:cNvPr id="36" name="Text 34"/>
          <p:cNvSpPr/>
          <p:nvPr/>
        </p:nvSpPr>
        <p:spPr>
          <a:xfrm>
            <a:off x="4114800" y="3032150"/>
            <a:ext cx="2286000" cy="233172"/>
          </a:xfrm>
          <a:prstGeom prst="rect">
            <a:avLst/>
          </a:prstGeom>
          <a:noFill/>
          <a:ln/>
        </p:spPr>
        <p:txBody>
          <a:bodyPr wrap="square" lIns="0" tIns="0" rIns="0" bIns="0" rtlCol="0" anchor="ctr"/>
          <a:lstStyle/>
          <a:p>
            <a:pPr marL="0" indent="0">
              <a:buNone/>
            </a:pPr>
            <a:r>
              <a:rPr lang="en-US" sz="750" dirty="0">
                <a:solidFill>
                  <a:srgbClr val="8B8FA8"/>
                </a:solidFill>
              </a:rPr>
              <a:t>Channel Revenue %</a:t>
            </a:r>
            <a:endParaRPr lang="en-US" sz="750" dirty="0"/>
          </a:p>
        </p:txBody>
      </p:sp>
      <p:sp>
        <p:nvSpPr>
          <p:cNvPr id="37" name="Text 35"/>
          <p:cNvSpPr/>
          <p:nvPr/>
        </p:nvSpPr>
        <p:spPr>
          <a:xfrm>
            <a:off x="6492240" y="3032150"/>
            <a:ext cx="2194560" cy="233172"/>
          </a:xfrm>
          <a:prstGeom prst="rect">
            <a:avLst/>
          </a:prstGeom>
          <a:noFill/>
          <a:ln/>
        </p:spPr>
        <p:txBody>
          <a:bodyPr wrap="square" lIns="0" tIns="0" rIns="0" bIns="0" rtlCol="0" anchor="ctr"/>
          <a:lstStyle/>
          <a:p>
            <a:pPr marL="0" indent="0">
              <a:buNone/>
            </a:pPr>
            <a:r>
              <a:rPr lang="en-US" sz="750" dirty="0">
                <a:solidFill>
                  <a:srgbClr val="8B8FA8"/>
                </a:solidFill>
              </a:rPr>
              <a:t>Gold/Purple/Teal palette</a:t>
            </a:r>
            <a:endParaRPr lang="en-US" sz="750" dirty="0"/>
          </a:p>
        </p:txBody>
      </p:sp>
      <p:sp>
        <p:nvSpPr>
          <p:cNvPr id="38" name="Shape 36"/>
          <p:cNvSpPr/>
          <p:nvPr/>
        </p:nvSpPr>
        <p:spPr>
          <a:xfrm>
            <a:off x="365760" y="3268066"/>
            <a:ext cx="8412480" cy="233172"/>
          </a:xfrm>
          <a:prstGeom prst="rect">
            <a:avLst/>
          </a:prstGeom>
          <a:solidFill>
            <a:srgbClr val="161B2A"/>
          </a:solidFill>
          <a:ln w="12700">
            <a:solidFill>
              <a:srgbClr val="2A2F40"/>
            </a:solidFill>
            <a:prstDash val="solid"/>
          </a:ln>
        </p:spPr>
        <p:txBody>
          <a:bodyPr/>
          <a:lstStyle/>
          <a:p>
            <a:endParaRPr lang="en-IN"/>
          </a:p>
        </p:txBody>
      </p:sp>
      <p:sp>
        <p:nvSpPr>
          <p:cNvPr id="39" name="Text 37"/>
          <p:cNvSpPr/>
          <p:nvPr/>
        </p:nvSpPr>
        <p:spPr>
          <a:xfrm>
            <a:off x="502920" y="3268066"/>
            <a:ext cx="1280160" cy="233172"/>
          </a:xfrm>
          <a:prstGeom prst="rect">
            <a:avLst/>
          </a:prstGeom>
          <a:noFill/>
          <a:ln/>
        </p:spPr>
        <p:txBody>
          <a:bodyPr wrap="square" lIns="0" tIns="0" rIns="0" bIns="0" rtlCol="0" anchor="ctr"/>
          <a:lstStyle/>
          <a:p>
            <a:pPr marL="0" indent="0">
              <a:buNone/>
            </a:pPr>
            <a:r>
              <a:rPr lang="en-US" sz="1100" dirty="0">
                <a:solidFill>
                  <a:srgbClr val="D4537E"/>
                </a:solidFill>
              </a:rPr>
              <a:t>P2 — Client</a:t>
            </a:r>
            <a:endParaRPr lang="en-US" sz="1100" dirty="0"/>
          </a:p>
        </p:txBody>
      </p:sp>
      <p:sp>
        <p:nvSpPr>
          <p:cNvPr id="40" name="Text 38"/>
          <p:cNvSpPr/>
          <p:nvPr/>
        </p:nvSpPr>
        <p:spPr>
          <a:xfrm>
            <a:off x="1828800" y="3268066"/>
            <a:ext cx="2194560" cy="233172"/>
          </a:xfrm>
          <a:prstGeom prst="rect">
            <a:avLst/>
          </a:prstGeom>
          <a:noFill/>
          <a:ln/>
        </p:spPr>
        <p:txBody>
          <a:bodyPr wrap="square" lIns="0" tIns="0" rIns="0" bIns="0" rtlCol="0" anchor="ctr"/>
          <a:lstStyle/>
          <a:p>
            <a:pPr marL="0" indent="0">
              <a:buNone/>
            </a:pPr>
            <a:r>
              <a:rPr lang="en-US" sz="1100" dirty="0">
                <a:solidFill>
                  <a:srgbClr val="F5F0E8"/>
                </a:solidFill>
              </a:rPr>
              <a:t>Scatter Plot</a:t>
            </a:r>
            <a:endParaRPr lang="en-US" sz="1100" dirty="0"/>
          </a:p>
        </p:txBody>
      </p:sp>
      <p:sp>
        <p:nvSpPr>
          <p:cNvPr id="41" name="Text 39"/>
          <p:cNvSpPr/>
          <p:nvPr/>
        </p:nvSpPr>
        <p:spPr>
          <a:xfrm>
            <a:off x="4114800" y="3268066"/>
            <a:ext cx="2286000" cy="233172"/>
          </a:xfrm>
          <a:prstGeom prst="rect">
            <a:avLst/>
          </a:prstGeom>
          <a:noFill/>
          <a:ln/>
        </p:spPr>
        <p:txBody>
          <a:bodyPr wrap="square" lIns="0" tIns="0" rIns="0" bIns="0" rtlCol="0" anchor="ctr"/>
          <a:lstStyle/>
          <a:p>
            <a:pPr marL="0" indent="0">
              <a:buNone/>
            </a:pPr>
            <a:r>
              <a:rPr lang="en-US" sz="750" dirty="0">
                <a:solidFill>
                  <a:srgbClr val="8B8FA8"/>
                </a:solidFill>
              </a:rPr>
              <a:t>CLTV vs PurchaseFrequency</a:t>
            </a:r>
            <a:endParaRPr lang="en-US" sz="750" dirty="0"/>
          </a:p>
        </p:txBody>
      </p:sp>
      <p:sp>
        <p:nvSpPr>
          <p:cNvPr id="42" name="Text 40"/>
          <p:cNvSpPr/>
          <p:nvPr/>
        </p:nvSpPr>
        <p:spPr>
          <a:xfrm>
            <a:off x="6492240" y="3268066"/>
            <a:ext cx="2194560" cy="233172"/>
          </a:xfrm>
          <a:prstGeom prst="rect">
            <a:avLst/>
          </a:prstGeom>
          <a:noFill/>
          <a:ln/>
        </p:spPr>
        <p:txBody>
          <a:bodyPr wrap="square" lIns="0" tIns="0" rIns="0" bIns="0" rtlCol="0" anchor="ctr"/>
          <a:lstStyle/>
          <a:p>
            <a:pPr marL="0" indent="0">
              <a:buNone/>
            </a:pPr>
            <a:r>
              <a:rPr lang="en-US" sz="750" dirty="0">
                <a:solidFill>
                  <a:srgbClr val="8B8FA8"/>
                </a:solidFill>
              </a:rPr>
              <a:t>Bubble size = LifetimeSpend</a:t>
            </a:r>
            <a:endParaRPr lang="en-US" sz="750" dirty="0"/>
          </a:p>
        </p:txBody>
      </p:sp>
      <p:sp>
        <p:nvSpPr>
          <p:cNvPr id="43" name="Shape 41"/>
          <p:cNvSpPr/>
          <p:nvPr/>
        </p:nvSpPr>
        <p:spPr>
          <a:xfrm>
            <a:off x="365760" y="3503981"/>
            <a:ext cx="8412480" cy="233172"/>
          </a:xfrm>
          <a:prstGeom prst="rect">
            <a:avLst/>
          </a:prstGeom>
          <a:solidFill>
            <a:srgbClr val="1A1F2E"/>
          </a:solidFill>
          <a:ln w="12700">
            <a:solidFill>
              <a:srgbClr val="2A2F40"/>
            </a:solidFill>
            <a:prstDash val="solid"/>
          </a:ln>
        </p:spPr>
        <p:txBody>
          <a:bodyPr/>
          <a:lstStyle/>
          <a:p>
            <a:endParaRPr lang="en-IN"/>
          </a:p>
        </p:txBody>
      </p:sp>
      <p:sp>
        <p:nvSpPr>
          <p:cNvPr id="44" name="Text 42"/>
          <p:cNvSpPr/>
          <p:nvPr/>
        </p:nvSpPr>
        <p:spPr>
          <a:xfrm>
            <a:off x="502920" y="3503981"/>
            <a:ext cx="1280160" cy="233172"/>
          </a:xfrm>
          <a:prstGeom prst="rect">
            <a:avLst/>
          </a:prstGeom>
          <a:noFill/>
          <a:ln/>
        </p:spPr>
        <p:txBody>
          <a:bodyPr wrap="square" lIns="0" tIns="0" rIns="0" bIns="0" rtlCol="0" anchor="ctr"/>
          <a:lstStyle/>
          <a:p>
            <a:pPr marL="0" indent="0">
              <a:buNone/>
            </a:pPr>
            <a:r>
              <a:rPr lang="en-US" sz="1100" dirty="0">
                <a:solidFill>
                  <a:srgbClr val="EF9F27"/>
                </a:solidFill>
              </a:rPr>
              <a:t>P2 — Client</a:t>
            </a:r>
            <a:endParaRPr lang="en-US" sz="1100" dirty="0"/>
          </a:p>
        </p:txBody>
      </p:sp>
      <p:sp>
        <p:nvSpPr>
          <p:cNvPr id="45" name="Text 43"/>
          <p:cNvSpPr/>
          <p:nvPr/>
        </p:nvSpPr>
        <p:spPr>
          <a:xfrm>
            <a:off x="1828800" y="3503981"/>
            <a:ext cx="2194560" cy="233172"/>
          </a:xfrm>
          <a:prstGeom prst="rect">
            <a:avLst/>
          </a:prstGeom>
          <a:noFill/>
          <a:ln/>
        </p:spPr>
        <p:txBody>
          <a:bodyPr wrap="square" lIns="0" tIns="0" rIns="0" bIns="0" rtlCol="0" anchor="ctr"/>
          <a:lstStyle/>
          <a:p>
            <a:pPr marL="0" indent="0">
              <a:buNone/>
            </a:pPr>
            <a:r>
              <a:rPr lang="en-US" sz="1100" dirty="0">
                <a:solidFill>
                  <a:srgbClr val="F5F0E8"/>
                </a:solidFill>
              </a:rPr>
              <a:t>Table Visual</a:t>
            </a:r>
            <a:endParaRPr lang="en-US" sz="1100" dirty="0"/>
          </a:p>
        </p:txBody>
      </p:sp>
      <p:sp>
        <p:nvSpPr>
          <p:cNvPr id="46" name="Text 44"/>
          <p:cNvSpPr/>
          <p:nvPr/>
        </p:nvSpPr>
        <p:spPr>
          <a:xfrm>
            <a:off x="4114800" y="3503981"/>
            <a:ext cx="2286000" cy="233172"/>
          </a:xfrm>
          <a:prstGeom prst="rect">
            <a:avLst/>
          </a:prstGeom>
          <a:noFill/>
          <a:ln/>
        </p:spPr>
        <p:txBody>
          <a:bodyPr wrap="square" lIns="0" tIns="0" rIns="0" bIns="0" rtlCol="0" anchor="ctr"/>
          <a:lstStyle/>
          <a:p>
            <a:pPr marL="0" indent="0">
              <a:buNone/>
            </a:pPr>
            <a:r>
              <a:rPr lang="en-US" sz="750" dirty="0">
                <a:solidFill>
                  <a:srgbClr val="8B8FA8"/>
                </a:solidFill>
              </a:rPr>
              <a:t>Top 20 VIC by CLTV</a:t>
            </a:r>
            <a:endParaRPr lang="en-US" sz="750" dirty="0"/>
          </a:p>
        </p:txBody>
      </p:sp>
      <p:sp>
        <p:nvSpPr>
          <p:cNvPr id="47" name="Text 45"/>
          <p:cNvSpPr/>
          <p:nvPr/>
        </p:nvSpPr>
        <p:spPr>
          <a:xfrm>
            <a:off x="6492240" y="3503981"/>
            <a:ext cx="2194560" cy="233172"/>
          </a:xfrm>
          <a:prstGeom prst="rect">
            <a:avLst/>
          </a:prstGeom>
          <a:noFill/>
          <a:ln/>
        </p:spPr>
        <p:txBody>
          <a:bodyPr wrap="square" lIns="0" tIns="0" rIns="0" bIns="0" rtlCol="0" anchor="ctr"/>
          <a:lstStyle/>
          <a:p>
            <a:pPr marL="0" indent="0">
              <a:buNone/>
            </a:pPr>
            <a:r>
              <a:rPr lang="en-US" sz="750" dirty="0">
                <a:solidFill>
                  <a:srgbClr val="8B8FA8"/>
                </a:solidFill>
              </a:rPr>
              <a:t>Conditional format on last purchase date</a:t>
            </a:r>
            <a:endParaRPr lang="en-US" sz="750" dirty="0"/>
          </a:p>
        </p:txBody>
      </p:sp>
      <p:sp>
        <p:nvSpPr>
          <p:cNvPr id="48" name="Shape 46"/>
          <p:cNvSpPr/>
          <p:nvPr/>
        </p:nvSpPr>
        <p:spPr>
          <a:xfrm>
            <a:off x="365760" y="3739896"/>
            <a:ext cx="8412480" cy="233172"/>
          </a:xfrm>
          <a:prstGeom prst="rect">
            <a:avLst/>
          </a:prstGeom>
          <a:solidFill>
            <a:srgbClr val="161B2A"/>
          </a:solidFill>
          <a:ln w="12700">
            <a:solidFill>
              <a:srgbClr val="2A2F40"/>
            </a:solidFill>
            <a:prstDash val="solid"/>
          </a:ln>
        </p:spPr>
        <p:txBody>
          <a:bodyPr/>
          <a:lstStyle/>
          <a:p>
            <a:endParaRPr lang="en-IN"/>
          </a:p>
        </p:txBody>
      </p:sp>
      <p:sp>
        <p:nvSpPr>
          <p:cNvPr id="49" name="Text 47"/>
          <p:cNvSpPr/>
          <p:nvPr/>
        </p:nvSpPr>
        <p:spPr>
          <a:xfrm>
            <a:off x="502920" y="3739896"/>
            <a:ext cx="1280160" cy="233172"/>
          </a:xfrm>
          <a:prstGeom prst="rect">
            <a:avLst/>
          </a:prstGeom>
          <a:noFill/>
          <a:ln/>
        </p:spPr>
        <p:txBody>
          <a:bodyPr wrap="square" lIns="0" tIns="0" rIns="0" bIns="0" rtlCol="0" anchor="ctr"/>
          <a:lstStyle/>
          <a:p>
            <a:pPr marL="0" indent="0">
              <a:buNone/>
            </a:pPr>
            <a:r>
              <a:rPr lang="en-US" sz="1100" dirty="0">
                <a:solidFill>
                  <a:srgbClr val="C9A84C"/>
                </a:solidFill>
              </a:rPr>
              <a:t>P3 — Product</a:t>
            </a:r>
            <a:endParaRPr lang="en-US" sz="1100" dirty="0"/>
          </a:p>
        </p:txBody>
      </p:sp>
      <p:sp>
        <p:nvSpPr>
          <p:cNvPr id="50" name="Text 48"/>
          <p:cNvSpPr/>
          <p:nvPr/>
        </p:nvSpPr>
        <p:spPr>
          <a:xfrm>
            <a:off x="1828800" y="3739896"/>
            <a:ext cx="2194560" cy="233172"/>
          </a:xfrm>
          <a:prstGeom prst="rect">
            <a:avLst/>
          </a:prstGeom>
          <a:noFill/>
          <a:ln/>
        </p:spPr>
        <p:txBody>
          <a:bodyPr wrap="square" lIns="0" tIns="0" rIns="0" bIns="0" rtlCol="0" anchor="ctr"/>
          <a:lstStyle/>
          <a:p>
            <a:pPr marL="0" indent="0">
              <a:buNone/>
            </a:pPr>
            <a:r>
              <a:rPr lang="en-US" sz="1100" dirty="0">
                <a:solidFill>
                  <a:srgbClr val="F5F0E8"/>
                </a:solidFill>
              </a:rPr>
              <a:t>Treemap</a:t>
            </a:r>
            <a:endParaRPr lang="en-US" sz="1100" dirty="0"/>
          </a:p>
        </p:txBody>
      </p:sp>
      <p:sp>
        <p:nvSpPr>
          <p:cNvPr id="51" name="Text 49"/>
          <p:cNvSpPr/>
          <p:nvPr/>
        </p:nvSpPr>
        <p:spPr>
          <a:xfrm>
            <a:off x="4114800" y="3739896"/>
            <a:ext cx="2286000" cy="233172"/>
          </a:xfrm>
          <a:prstGeom prst="rect">
            <a:avLst/>
          </a:prstGeom>
          <a:noFill/>
          <a:ln/>
        </p:spPr>
        <p:txBody>
          <a:bodyPr wrap="square" lIns="0" tIns="0" rIns="0" bIns="0" rtlCol="0" anchor="ctr"/>
          <a:lstStyle/>
          <a:p>
            <a:pPr marL="0" indent="0">
              <a:buNone/>
            </a:pPr>
            <a:r>
              <a:rPr lang="en-US" sz="750" dirty="0">
                <a:solidFill>
                  <a:srgbClr val="8B8FA8"/>
                </a:solidFill>
              </a:rPr>
              <a:t>Brand GMV + Margin intensity</a:t>
            </a:r>
            <a:endParaRPr lang="en-US" sz="750" dirty="0"/>
          </a:p>
        </p:txBody>
      </p:sp>
      <p:sp>
        <p:nvSpPr>
          <p:cNvPr id="52" name="Text 50"/>
          <p:cNvSpPr/>
          <p:nvPr/>
        </p:nvSpPr>
        <p:spPr>
          <a:xfrm>
            <a:off x="6492240" y="3739896"/>
            <a:ext cx="2194560" cy="233172"/>
          </a:xfrm>
          <a:prstGeom prst="rect">
            <a:avLst/>
          </a:prstGeom>
          <a:noFill/>
          <a:ln/>
        </p:spPr>
        <p:txBody>
          <a:bodyPr wrap="square" lIns="0" tIns="0" rIns="0" bIns="0" rtlCol="0" anchor="ctr"/>
          <a:lstStyle/>
          <a:p>
            <a:pPr marL="0" indent="0">
              <a:buNone/>
            </a:pPr>
            <a:r>
              <a:rPr lang="en-US" sz="750" dirty="0">
                <a:solidFill>
                  <a:srgbClr val="8B8FA8"/>
                </a:solidFill>
              </a:rPr>
              <a:t>Top N = 6, drill to Category</a:t>
            </a:r>
            <a:endParaRPr lang="en-US" sz="750" dirty="0"/>
          </a:p>
        </p:txBody>
      </p:sp>
      <p:sp>
        <p:nvSpPr>
          <p:cNvPr id="53" name="Shape 51"/>
          <p:cNvSpPr/>
          <p:nvPr/>
        </p:nvSpPr>
        <p:spPr>
          <a:xfrm>
            <a:off x="365760" y="3975811"/>
            <a:ext cx="8412480" cy="233172"/>
          </a:xfrm>
          <a:prstGeom prst="rect">
            <a:avLst/>
          </a:prstGeom>
          <a:solidFill>
            <a:srgbClr val="1A1F2E"/>
          </a:solidFill>
          <a:ln w="12700">
            <a:solidFill>
              <a:srgbClr val="2A2F40"/>
            </a:solidFill>
            <a:prstDash val="solid"/>
          </a:ln>
        </p:spPr>
        <p:txBody>
          <a:bodyPr/>
          <a:lstStyle/>
          <a:p>
            <a:endParaRPr lang="en-IN"/>
          </a:p>
        </p:txBody>
      </p:sp>
      <p:sp>
        <p:nvSpPr>
          <p:cNvPr id="54" name="Text 52"/>
          <p:cNvSpPr/>
          <p:nvPr/>
        </p:nvSpPr>
        <p:spPr>
          <a:xfrm>
            <a:off x="502920" y="3975811"/>
            <a:ext cx="1280160" cy="233172"/>
          </a:xfrm>
          <a:prstGeom prst="rect">
            <a:avLst/>
          </a:prstGeom>
          <a:noFill/>
          <a:ln/>
        </p:spPr>
        <p:txBody>
          <a:bodyPr wrap="square" lIns="0" tIns="0" rIns="0" bIns="0" rtlCol="0" anchor="ctr"/>
          <a:lstStyle/>
          <a:p>
            <a:pPr marL="0" indent="0">
              <a:buNone/>
            </a:pPr>
            <a:r>
              <a:rPr lang="en-US" sz="1100" dirty="0">
                <a:solidFill>
                  <a:srgbClr val="7F77DD"/>
                </a:solidFill>
              </a:rPr>
              <a:t>P3 — Product</a:t>
            </a:r>
            <a:endParaRPr lang="en-US" sz="1100" dirty="0"/>
          </a:p>
        </p:txBody>
      </p:sp>
      <p:sp>
        <p:nvSpPr>
          <p:cNvPr id="55" name="Text 53"/>
          <p:cNvSpPr/>
          <p:nvPr/>
        </p:nvSpPr>
        <p:spPr>
          <a:xfrm>
            <a:off x="1828800" y="3975811"/>
            <a:ext cx="2194560" cy="233172"/>
          </a:xfrm>
          <a:prstGeom prst="rect">
            <a:avLst/>
          </a:prstGeom>
          <a:noFill/>
          <a:ln/>
        </p:spPr>
        <p:txBody>
          <a:bodyPr wrap="square" lIns="0" tIns="0" rIns="0" bIns="0" rtlCol="0" anchor="ctr"/>
          <a:lstStyle/>
          <a:p>
            <a:pPr marL="0" indent="0">
              <a:buNone/>
            </a:pPr>
            <a:r>
              <a:rPr lang="en-US" sz="1100" dirty="0">
                <a:solidFill>
                  <a:srgbClr val="F5F0E8"/>
                </a:solidFill>
              </a:rPr>
              <a:t>Matrix</a:t>
            </a:r>
            <a:endParaRPr lang="en-US" sz="1100" dirty="0"/>
          </a:p>
        </p:txBody>
      </p:sp>
      <p:sp>
        <p:nvSpPr>
          <p:cNvPr id="56" name="Text 54"/>
          <p:cNvSpPr/>
          <p:nvPr/>
        </p:nvSpPr>
        <p:spPr>
          <a:xfrm>
            <a:off x="4114800" y="3975811"/>
            <a:ext cx="2286000" cy="233172"/>
          </a:xfrm>
          <a:prstGeom prst="rect">
            <a:avLst/>
          </a:prstGeom>
          <a:noFill/>
          <a:ln/>
        </p:spPr>
        <p:txBody>
          <a:bodyPr wrap="square" lIns="0" tIns="0" rIns="0" bIns="0" rtlCol="0" anchor="ctr"/>
          <a:lstStyle/>
          <a:p>
            <a:pPr marL="0" indent="0">
              <a:buNone/>
            </a:pPr>
            <a:r>
              <a:rPr lang="en-US" sz="750" dirty="0">
                <a:solidFill>
                  <a:srgbClr val="8B8FA8"/>
                </a:solidFill>
              </a:rPr>
              <a:t>SellThru% Brand × Category</a:t>
            </a:r>
            <a:endParaRPr lang="en-US" sz="750" dirty="0"/>
          </a:p>
        </p:txBody>
      </p:sp>
      <p:sp>
        <p:nvSpPr>
          <p:cNvPr id="57" name="Text 55"/>
          <p:cNvSpPr/>
          <p:nvPr/>
        </p:nvSpPr>
        <p:spPr>
          <a:xfrm>
            <a:off x="6492240" y="3975811"/>
            <a:ext cx="2194560" cy="233172"/>
          </a:xfrm>
          <a:prstGeom prst="rect">
            <a:avLst/>
          </a:prstGeom>
          <a:noFill/>
          <a:ln/>
        </p:spPr>
        <p:txBody>
          <a:bodyPr wrap="square" lIns="0" tIns="0" rIns="0" bIns="0" rtlCol="0" anchor="ctr"/>
          <a:lstStyle/>
          <a:p>
            <a:pPr marL="0" indent="0">
              <a:buNone/>
            </a:pPr>
            <a:r>
              <a:rPr lang="en-US" sz="750" dirty="0">
                <a:solidFill>
                  <a:srgbClr val="8B8FA8"/>
                </a:solidFill>
              </a:rPr>
              <a:t>Conditional: Red &lt;50 Amber 50–75 Green &gt;75</a:t>
            </a:r>
            <a:endParaRPr lang="en-US" sz="750" dirty="0"/>
          </a:p>
        </p:txBody>
      </p:sp>
      <p:sp>
        <p:nvSpPr>
          <p:cNvPr id="58" name="Shape 56"/>
          <p:cNvSpPr/>
          <p:nvPr/>
        </p:nvSpPr>
        <p:spPr>
          <a:xfrm>
            <a:off x="365760" y="4211726"/>
            <a:ext cx="8412480" cy="233172"/>
          </a:xfrm>
          <a:prstGeom prst="rect">
            <a:avLst/>
          </a:prstGeom>
          <a:solidFill>
            <a:srgbClr val="161B2A"/>
          </a:solidFill>
          <a:ln w="12700">
            <a:solidFill>
              <a:srgbClr val="2A2F40"/>
            </a:solidFill>
            <a:prstDash val="solid"/>
          </a:ln>
        </p:spPr>
        <p:txBody>
          <a:bodyPr/>
          <a:lstStyle/>
          <a:p>
            <a:endParaRPr lang="en-IN"/>
          </a:p>
        </p:txBody>
      </p:sp>
      <p:sp>
        <p:nvSpPr>
          <p:cNvPr id="59" name="Text 57"/>
          <p:cNvSpPr/>
          <p:nvPr/>
        </p:nvSpPr>
        <p:spPr>
          <a:xfrm>
            <a:off x="502920" y="4211726"/>
            <a:ext cx="1280160" cy="233172"/>
          </a:xfrm>
          <a:prstGeom prst="rect">
            <a:avLst/>
          </a:prstGeom>
          <a:noFill/>
          <a:ln/>
        </p:spPr>
        <p:txBody>
          <a:bodyPr wrap="square" lIns="0" tIns="0" rIns="0" bIns="0" rtlCol="0" anchor="ctr"/>
          <a:lstStyle/>
          <a:p>
            <a:pPr marL="0" indent="0">
              <a:buNone/>
            </a:pPr>
            <a:r>
              <a:rPr lang="en-US" sz="1100" dirty="0">
                <a:solidFill>
                  <a:srgbClr val="1D9E75"/>
                </a:solidFill>
              </a:rPr>
              <a:t>P4 — Channel</a:t>
            </a:r>
            <a:endParaRPr lang="en-US" sz="1100" dirty="0"/>
          </a:p>
        </p:txBody>
      </p:sp>
      <p:sp>
        <p:nvSpPr>
          <p:cNvPr id="60" name="Text 58"/>
          <p:cNvSpPr/>
          <p:nvPr/>
        </p:nvSpPr>
        <p:spPr>
          <a:xfrm>
            <a:off x="1828800" y="4211726"/>
            <a:ext cx="2194560" cy="233172"/>
          </a:xfrm>
          <a:prstGeom prst="rect">
            <a:avLst/>
          </a:prstGeom>
          <a:noFill/>
          <a:ln/>
        </p:spPr>
        <p:txBody>
          <a:bodyPr wrap="square" lIns="0" tIns="0" rIns="0" bIns="0" rtlCol="0" anchor="ctr"/>
          <a:lstStyle/>
          <a:p>
            <a:pPr marL="0" indent="0">
              <a:buNone/>
            </a:pPr>
            <a:r>
              <a:rPr lang="en-US" sz="1100" dirty="0">
                <a:solidFill>
                  <a:srgbClr val="F5F0E8"/>
                </a:solidFill>
              </a:rPr>
              <a:t>Funnel Chart</a:t>
            </a:r>
            <a:endParaRPr lang="en-US" sz="1100" dirty="0"/>
          </a:p>
        </p:txBody>
      </p:sp>
      <p:sp>
        <p:nvSpPr>
          <p:cNvPr id="61" name="Text 59"/>
          <p:cNvSpPr/>
          <p:nvPr/>
        </p:nvSpPr>
        <p:spPr>
          <a:xfrm>
            <a:off x="4114800" y="4211726"/>
            <a:ext cx="2286000" cy="233172"/>
          </a:xfrm>
          <a:prstGeom prst="rect">
            <a:avLst/>
          </a:prstGeom>
          <a:noFill/>
          <a:ln/>
        </p:spPr>
        <p:txBody>
          <a:bodyPr wrap="square" lIns="0" tIns="0" rIns="0" bIns="0" rtlCol="0" anchor="ctr"/>
          <a:lstStyle/>
          <a:p>
            <a:pPr marL="0" indent="0">
              <a:buNone/>
            </a:pPr>
            <a:r>
              <a:rPr lang="en-US" sz="750" dirty="0">
                <a:solidFill>
                  <a:srgbClr val="8B8FA8"/>
                </a:solidFill>
              </a:rPr>
              <a:t>FunnelValue via SWITCH measure</a:t>
            </a:r>
            <a:endParaRPr lang="en-US" sz="750" dirty="0"/>
          </a:p>
        </p:txBody>
      </p:sp>
      <p:sp>
        <p:nvSpPr>
          <p:cNvPr id="62" name="Text 60"/>
          <p:cNvSpPr/>
          <p:nvPr/>
        </p:nvSpPr>
        <p:spPr>
          <a:xfrm>
            <a:off x="6492240" y="4211726"/>
            <a:ext cx="2194560" cy="233172"/>
          </a:xfrm>
          <a:prstGeom prst="rect">
            <a:avLst/>
          </a:prstGeom>
          <a:noFill/>
          <a:ln/>
        </p:spPr>
        <p:txBody>
          <a:bodyPr wrap="square" lIns="0" tIns="0" rIns="0" bIns="0" rtlCol="0" anchor="ctr"/>
          <a:lstStyle/>
          <a:p>
            <a:pPr marL="0" indent="0">
              <a:buNone/>
            </a:pPr>
            <a:r>
              <a:rPr lang="en-US" sz="750" dirty="0">
                <a:solidFill>
                  <a:srgbClr val="8B8FA8"/>
                </a:solidFill>
              </a:rPr>
              <a:t>FunnelStages reference table</a:t>
            </a:r>
            <a:endParaRPr lang="en-US" sz="750" dirty="0"/>
          </a:p>
        </p:txBody>
      </p:sp>
      <p:sp>
        <p:nvSpPr>
          <p:cNvPr id="63" name="Shape 61"/>
          <p:cNvSpPr/>
          <p:nvPr/>
        </p:nvSpPr>
        <p:spPr>
          <a:xfrm>
            <a:off x="365760" y="4447642"/>
            <a:ext cx="8412480" cy="233172"/>
          </a:xfrm>
          <a:prstGeom prst="rect">
            <a:avLst/>
          </a:prstGeom>
          <a:solidFill>
            <a:srgbClr val="1A1F2E"/>
          </a:solidFill>
          <a:ln w="12700">
            <a:solidFill>
              <a:srgbClr val="2A2F40"/>
            </a:solidFill>
            <a:prstDash val="solid"/>
          </a:ln>
        </p:spPr>
        <p:txBody>
          <a:bodyPr/>
          <a:lstStyle/>
          <a:p>
            <a:endParaRPr lang="en-IN"/>
          </a:p>
        </p:txBody>
      </p:sp>
      <p:sp>
        <p:nvSpPr>
          <p:cNvPr id="64" name="Text 62"/>
          <p:cNvSpPr/>
          <p:nvPr/>
        </p:nvSpPr>
        <p:spPr>
          <a:xfrm>
            <a:off x="502920" y="4447642"/>
            <a:ext cx="1280160" cy="233172"/>
          </a:xfrm>
          <a:prstGeom prst="rect">
            <a:avLst/>
          </a:prstGeom>
          <a:noFill/>
          <a:ln/>
        </p:spPr>
        <p:txBody>
          <a:bodyPr wrap="square" lIns="0" tIns="0" rIns="0" bIns="0" rtlCol="0" anchor="ctr"/>
          <a:lstStyle/>
          <a:p>
            <a:pPr marL="0" indent="0">
              <a:buNone/>
            </a:pPr>
            <a:r>
              <a:rPr lang="en-US" sz="1100" dirty="0">
                <a:solidFill>
                  <a:srgbClr val="D4537E"/>
                </a:solidFill>
              </a:rPr>
              <a:t>P5 — Seasonal</a:t>
            </a:r>
            <a:endParaRPr lang="en-US" sz="1100" dirty="0"/>
          </a:p>
        </p:txBody>
      </p:sp>
      <p:sp>
        <p:nvSpPr>
          <p:cNvPr id="65" name="Text 63"/>
          <p:cNvSpPr/>
          <p:nvPr/>
        </p:nvSpPr>
        <p:spPr>
          <a:xfrm>
            <a:off x="1828800" y="4447642"/>
            <a:ext cx="2194560" cy="233172"/>
          </a:xfrm>
          <a:prstGeom prst="rect">
            <a:avLst/>
          </a:prstGeom>
          <a:noFill/>
          <a:ln/>
        </p:spPr>
        <p:txBody>
          <a:bodyPr wrap="square" lIns="0" tIns="0" rIns="0" bIns="0" rtlCol="0" anchor="ctr"/>
          <a:lstStyle/>
          <a:p>
            <a:pPr marL="0" indent="0">
              <a:buNone/>
            </a:pPr>
            <a:r>
              <a:rPr lang="en-US" sz="1100" dirty="0">
                <a:solidFill>
                  <a:srgbClr val="F5F0E8"/>
                </a:solidFill>
              </a:rPr>
              <a:t>Area Chart</a:t>
            </a:r>
            <a:endParaRPr lang="en-US" sz="1100" dirty="0"/>
          </a:p>
        </p:txBody>
      </p:sp>
      <p:sp>
        <p:nvSpPr>
          <p:cNvPr id="66" name="Text 64"/>
          <p:cNvSpPr/>
          <p:nvPr/>
        </p:nvSpPr>
        <p:spPr>
          <a:xfrm>
            <a:off x="4114800" y="4447642"/>
            <a:ext cx="2286000" cy="233172"/>
          </a:xfrm>
          <a:prstGeom prst="rect">
            <a:avLst/>
          </a:prstGeom>
          <a:noFill/>
          <a:ln/>
        </p:spPr>
        <p:txBody>
          <a:bodyPr wrap="square" lIns="0" tIns="0" rIns="0" bIns="0" rtlCol="0" anchor="ctr"/>
          <a:lstStyle/>
          <a:p>
            <a:pPr marL="0" indent="0">
              <a:buNone/>
            </a:pPr>
            <a:r>
              <a:rPr lang="en-US" sz="750" dirty="0">
                <a:solidFill>
                  <a:srgbClr val="8B8FA8"/>
                </a:solidFill>
              </a:rPr>
              <a:t>GMV by Season (SS/FW legend)</a:t>
            </a:r>
            <a:endParaRPr lang="en-US" sz="750" dirty="0"/>
          </a:p>
        </p:txBody>
      </p:sp>
      <p:sp>
        <p:nvSpPr>
          <p:cNvPr id="67" name="Text 65"/>
          <p:cNvSpPr/>
          <p:nvPr/>
        </p:nvSpPr>
        <p:spPr>
          <a:xfrm>
            <a:off x="6492240" y="4447642"/>
            <a:ext cx="2194560" cy="233172"/>
          </a:xfrm>
          <a:prstGeom prst="rect">
            <a:avLst/>
          </a:prstGeom>
          <a:noFill/>
          <a:ln/>
        </p:spPr>
        <p:txBody>
          <a:bodyPr wrap="square" lIns="0" tIns="0" rIns="0" bIns="0" rtlCol="0" anchor="ctr"/>
          <a:lstStyle/>
          <a:p>
            <a:pPr marL="0" indent="0">
              <a:buNone/>
            </a:pPr>
            <a:r>
              <a:rPr lang="en-US" sz="750" dirty="0">
                <a:solidFill>
                  <a:srgbClr val="8B8FA8"/>
                </a:solidFill>
              </a:rPr>
              <a:t>Connect data points = ON</a:t>
            </a:r>
            <a:endParaRPr lang="en-US" sz="750" dirty="0"/>
          </a:p>
        </p:txBody>
      </p:sp>
      <p:sp>
        <p:nvSpPr>
          <p:cNvPr id="68" name="Shape 66"/>
          <p:cNvSpPr/>
          <p:nvPr/>
        </p:nvSpPr>
        <p:spPr>
          <a:xfrm>
            <a:off x="365760" y="4683557"/>
            <a:ext cx="8412480" cy="233172"/>
          </a:xfrm>
          <a:prstGeom prst="rect">
            <a:avLst/>
          </a:prstGeom>
          <a:solidFill>
            <a:srgbClr val="161B2A"/>
          </a:solidFill>
          <a:ln w="12700">
            <a:solidFill>
              <a:srgbClr val="2A2F40"/>
            </a:solidFill>
            <a:prstDash val="solid"/>
          </a:ln>
        </p:spPr>
        <p:txBody>
          <a:bodyPr/>
          <a:lstStyle/>
          <a:p>
            <a:endParaRPr lang="en-IN"/>
          </a:p>
        </p:txBody>
      </p:sp>
      <p:sp>
        <p:nvSpPr>
          <p:cNvPr id="69" name="Text 67"/>
          <p:cNvSpPr/>
          <p:nvPr/>
        </p:nvSpPr>
        <p:spPr>
          <a:xfrm>
            <a:off x="502920" y="4683557"/>
            <a:ext cx="1280160" cy="233172"/>
          </a:xfrm>
          <a:prstGeom prst="rect">
            <a:avLst/>
          </a:prstGeom>
          <a:noFill/>
          <a:ln/>
        </p:spPr>
        <p:txBody>
          <a:bodyPr wrap="square" lIns="0" tIns="0" rIns="0" bIns="0" rtlCol="0" anchor="ctr"/>
          <a:lstStyle/>
          <a:p>
            <a:pPr marL="0" indent="0">
              <a:buNone/>
            </a:pPr>
            <a:r>
              <a:rPr lang="en-US" sz="1100" dirty="0">
                <a:solidFill>
                  <a:srgbClr val="EF9F27"/>
                </a:solidFill>
              </a:rPr>
              <a:t>P6 — Brand EQ</a:t>
            </a:r>
            <a:endParaRPr lang="en-US" sz="1100" dirty="0"/>
          </a:p>
        </p:txBody>
      </p:sp>
      <p:sp>
        <p:nvSpPr>
          <p:cNvPr id="70" name="Text 68"/>
          <p:cNvSpPr/>
          <p:nvPr/>
        </p:nvSpPr>
        <p:spPr>
          <a:xfrm>
            <a:off x="1828800" y="4683557"/>
            <a:ext cx="2194560" cy="233172"/>
          </a:xfrm>
          <a:prstGeom prst="rect">
            <a:avLst/>
          </a:prstGeom>
          <a:noFill/>
          <a:ln/>
        </p:spPr>
        <p:txBody>
          <a:bodyPr wrap="square" lIns="0" tIns="0" rIns="0" bIns="0" rtlCol="0" anchor="ctr"/>
          <a:lstStyle/>
          <a:p>
            <a:pPr marL="0" indent="0">
              <a:buNone/>
            </a:pPr>
            <a:r>
              <a:rPr lang="en-US" sz="1100" dirty="0">
                <a:solidFill>
                  <a:srgbClr val="F5F0E8"/>
                </a:solidFill>
              </a:rPr>
              <a:t>Gauge Visual</a:t>
            </a:r>
            <a:endParaRPr lang="en-US" sz="1100" dirty="0"/>
          </a:p>
        </p:txBody>
      </p:sp>
      <p:sp>
        <p:nvSpPr>
          <p:cNvPr id="71" name="Text 69"/>
          <p:cNvSpPr/>
          <p:nvPr/>
        </p:nvSpPr>
        <p:spPr>
          <a:xfrm>
            <a:off x="4114800" y="4683557"/>
            <a:ext cx="2286000" cy="233172"/>
          </a:xfrm>
          <a:prstGeom prst="rect">
            <a:avLst/>
          </a:prstGeom>
          <a:noFill/>
          <a:ln/>
        </p:spPr>
        <p:txBody>
          <a:bodyPr wrap="square" lIns="0" tIns="0" rIns="0" bIns="0" rtlCol="0" anchor="ctr"/>
          <a:lstStyle/>
          <a:p>
            <a:pPr marL="0" indent="0">
              <a:buNone/>
            </a:pPr>
            <a:r>
              <a:rPr lang="en-US" sz="750" dirty="0">
                <a:solidFill>
                  <a:srgbClr val="8B8FA8"/>
                </a:solidFill>
              </a:rPr>
              <a:t>Prestige Price Index</a:t>
            </a:r>
            <a:endParaRPr lang="en-US" sz="750" dirty="0"/>
          </a:p>
        </p:txBody>
      </p:sp>
      <p:sp>
        <p:nvSpPr>
          <p:cNvPr id="72" name="Text 70"/>
          <p:cNvSpPr/>
          <p:nvPr/>
        </p:nvSpPr>
        <p:spPr>
          <a:xfrm>
            <a:off x="6492240" y="4683557"/>
            <a:ext cx="2194560" cy="233172"/>
          </a:xfrm>
          <a:prstGeom prst="rect">
            <a:avLst/>
          </a:prstGeom>
          <a:noFill/>
          <a:ln/>
        </p:spPr>
        <p:txBody>
          <a:bodyPr wrap="square" lIns="0" tIns="0" rIns="0" bIns="0" rtlCol="0" anchor="ctr"/>
          <a:lstStyle/>
          <a:p>
            <a:pPr marL="0" indent="0">
              <a:buNone/>
            </a:pPr>
            <a:r>
              <a:rPr lang="en-US" sz="750" dirty="0">
                <a:solidFill>
                  <a:srgbClr val="8B8FA8"/>
                </a:solidFill>
              </a:rPr>
              <a:t>Min 0 · Max 200 · Target 100</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0D0D0D"/>
        </a:solidFill>
        <a:effectLst/>
      </p:bgPr>
    </p:bg>
    <p:spTree>
      <p:nvGrpSpPr>
        <p:cNvPr id="1" name=""/>
        <p:cNvGrpSpPr/>
        <p:nvPr/>
      </p:nvGrpSpPr>
      <p:grpSpPr>
        <a:xfrm>
          <a:off x="0" y="0"/>
          <a:ext cx="0" cy="0"/>
          <a:chOff x="0" y="0"/>
          <a:chExt cx="0" cy="0"/>
        </a:xfrm>
      </p:grpSpPr>
      <p:sp>
        <p:nvSpPr>
          <p:cNvPr id="2" name="TopBar"/>
          <p:cNvSpPr/>
          <p:nvPr/>
        </p:nvSpPr>
        <p:spPr>
          <a:xfrm>
            <a:off x="0" y="0"/>
            <a:ext cx="9144000" cy="54864"/>
          </a:xfrm>
          <a:prstGeom prst="rect">
            <a:avLst/>
          </a:prstGeom>
          <a:solidFill>
            <a:srgbClr val="C9A84C"/>
          </a:solidFill>
          <a:ln w="12700">
            <a:solidFill>
              <a:srgbClr val="C9A84C"/>
            </a:solidFill>
            <a:prstDash val="solid"/>
          </a:ln>
        </p:spPr>
        <p:txBody>
          <a:bodyPr/>
          <a:lstStyle/>
          <a:p>
            <a:endParaRPr lang="en-IN"/>
          </a:p>
        </p:txBody>
      </p:sp>
      <p:sp>
        <p:nvSpPr>
          <p:cNvPr id="3" name="FooterBar"/>
          <p:cNvSpPr/>
          <p:nvPr/>
        </p:nvSpPr>
        <p:spPr>
          <a:xfrm>
            <a:off x="0" y="5074920"/>
            <a:ext cx="9144000" cy="68580"/>
          </a:xfrm>
          <a:prstGeom prst="rect">
            <a:avLst/>
          </a:prstGeom>
          <a:solidFill>
            <a:srgbClr val="1A1F2E"/>
          </a:solidFill>
          <a:ln w="12700">
            <a:solidFill>
              <a:srgbClr val="1A1F2E"/>
            </a:solidFill>
            <a:prstDash val="solid"/>
          </a:ln>
        </p:spPr>
        <p:txBody>
          <a:bodyPr/>
          <a:lstStyle/>
          <a:p>
            <a:endParaRPr lang="en-IN"/>
          </a:p>
        </p:txBody>
      </p:sp>
      <p:sp>
        <p:nvSpPr>
          <p:cNvPr id="4" name="FooterText"/>
          <p:cNvSpPr/>
          <p:nvPr/>
        </p:nvSpPr>
        <p:spPr>
          <a:xfrm>
            <a:off x="274320" y="5074920"/>
            <a:ext cx="6400800" cy="68580"/>
          </a:xfrm>
          <a:prstGeom prst="rect">
            <a:avLst/>
          </a:prstGeom>
          <a:noFill/>
          <a:ln/>
        </p:spPr>
        <p:txBody>
          <a:bodyPr wrap="square" lIns="0" tIns="0" rIns="0" bIns="0" rtlCol="0" anchor="ctr"/>
          <a:lstStyle/>
          <a:p>
            <a:pPr marL="0" indent="0">
              <a:buNone/>
            </a:pPr>
            <a:r>
              <a:rPr lang="en-US" sz="700" dirty="0">
                <a:solidFill>
                  <a:srgbClr val="8B8FA8"/>
                </a:solidFill>
              </a:rPr>
              <a:t>Luxury Fashion &amp; Apparel Intelligence Analytics</a:t>
            </a:r>
          </a:p>
        </p:txBody>
      </p:sp>
      <p:sp>
        <p:nvSpPr>
          <p:cNvPr id="6" name="Badge"/>
          <p:cNvSpPr/>
          <p:nvPr/>
        </p:nvSpPr>
        <p:spPr>
          <a:xfrm>
            <a:off x="274320" y="100776"/>
            <a:ext cx="1920240" cy="228600"/>
          </a:xfrm>
          <a:prstGeom prst="rect">
            <a:avLst/>
          </a:prstGeom>
          <a:solidFill>
            <a:srgbClr val="C9A84C"/>
          </a:solidFill>
          <a:ln w="0">
            <a:noFill/>
          </a:ln>
        </p:spPr>
        <p:txBody>
          <a:bodyPr wrap="square" lIns="91440" tIns="0" rIns="91440" bIns="0" rtlCol="0" anchor="ctr"/>
          <a:lstStyle/>
          <a:p>
            <a:pPr marL="0" indent="0">
              <a:buNone/>
            </a:pPr>
            <a:r>
              <a:rPr lang="en-US" sz="800" b="1" kern="0" spc="300" dirty="0">
                <a:solidFill>
                  <a:srgbClr val="0D0D0D"/>
                </a:solidFill>
              </a:rPr>
              <a:t>12  ·  CONCLUSION</a:t>
            </a:r>
          </a:p>
        </p:txBody>
      </p:sp>
      <p:sp>
        <p:nvSpPr>
          <p:cNvPr id="7" name="Title"/>
          <p:cNvSpPr/>
          <p:nvPr/>
        </p:nvSpPr>
        <p:spPr>
          <a:xfrm>
            <a:off x="206679" y="453211"/>
            <a:ext cx="8594640" cy="512064"/>
          </a:xfrm>
          <a:prstGeom prst="rect">
            <a:avLst/>
          </a:prstGeom>
          <a:noFill/>
          <a:ln/>
        </p:spPr>
        <p:txBody>
          <a:bodyPr wrap="square" lIns="0" tIns="0" rIns="0" bIns="0" rtlCol="0" anchor="ctr"/>
          <a:lstStyle/>
          <a:p>
            <a:pPr marL="0" indent="0">
              <a:buNone/>
            </a:pPr>
            <a:r>
              <a:rPr lang="en-US" sz="3200" b="1" dirty="0">
                <a:solidFill>
                  <a:srgbClr val="F5F0E8"/>
                </a:solidFill>
              </a:rPr>
              <a:t>Conclusion</a:t>
            </a:r>
          </a:p>
        </p:txBody>
      </p:sp>
      <p:sp>
        <p:nvSpPr>
          <p:cNvPr id="8" name="Subtitle"/>
          <p:cNvSpPr/>
          <p:nvPr/>
        </p:nvSpPr>
        <p:spPr>
          <a:xfrm>
            <a:off x="208934" y="994068"/>
            <a:ext cx="8594640" cy="210312"/>
          </a:xfrm>
          <a:prstGeom prst="rect">
            <a:avLst/>
          </a:prstGeom>
          <a:noFill/>
          <a:ln/>
        </p:spPr>
        <p:txBody>
          <a:bodyPr wrap="square" lIns="0" tIns="0" rIns="0" bIns="0" rtlCol="0" anchor="ctr"/>
          <a:lstStyle/>
          <a:p>
            <a:pPr marL="0" indent="0">
              <a:buNone/>
            </a:pPr>
            <a:r>
              <a:rPr lang="en-US" sz="1100" dirty="0">
                <a:solidFill>
                  <a:srgbClr val="8B8FA8"/>
                </a:solidFill>
              </a:rPr>
              <a:t>Key takeaways from the 2023–2024 Luxury Fashion &amp; Apparel Intelligence Analytics project</a:t>
            </a:r>
          </a:p>
        </p:txBody>
      </p:sp>
      <p:sp>
        <p:nvSpPr>
          <p:cNvPr id="9" name="Divider"/>
          <p:cNvSpPr/>
          <p:nvPr/>
        </p:nvSpPr>
        <p:spPr>
          <a:xfrm>
            <a:off x="208934" y="1241532"/>
            <a:ext cx="8594640" cy="18288"/>
          </a:xfrm>
          <a:prstGeom prst="rect">
            <a:avLst/>
          </a:prstGeom>
          <a:solidFill>
            <a:srgbClr val="C9A84C"/>
          </a:solidFill>
          <a:ln w="0">
            <a:noFill/>
          </a:ln>
        </p:spPr>
        <p:txBody>
          <a:bodyPr/>
          <a:lstStyle/>
          <a:p>
            <a:endParaRPr/>
          </a:p>
        </p:txBody>
      </p:sp>
      <p:sp>
        <p:nvSpPr>
          <p:cNvPr id="10" name="C1BG"/>
          <p:cNvSpPr/>
          <p:nvPr/>
        </p:nvSpPr>
        <p:spPr>
          <a:xfrm>
            <a:off x="221850" y="1443544"/>
            <a:ext cx="4114800" cy="1097280"/>
          </a:xfrm>
          <a:prstGeom prst="rect">
            <a:avLst/>
          </a:prstGeom>
          <a:solidFill>
            <a:srgbClr val="161B2A"/>
          </a:solidFill>
          <a:ln w="12700">
            <a:solidFill>
              <a:srgbClr val="2A2F40"/>
            </a:solidFill>
            <a:prstDash val="solid"/>
          </a:ln>
        </p:spPr>
        <p:txBody>
          <a:bodyPr/>
          <a:lstStyle/>
          <a:p>
            <a:endParaRPr/>
          </a:p>
        </p:txBody>
      </p:sp>
      <p:sp>
        <p:nvSpPr>
          <p:cNvPr id="11" name="C1Accent"/>
          <p:cNvSpPr/>
          <p:nvPr/>
        </p:nvSpPr>
        <p:spPr>
          <a:xfrm>
            <a:off x="183950" y="1450031"/>
            <a:ext cx="36576" cy="1097280"/>
          </a:xfrm>
          <a:prstGeom prst="rect">
            <a:avLst/>
          </a:prstGeom>
          <a:solidFill>
            <a:srgbClr val="C9A84C"/>
          </a:solidFill>
          <a:ln w="0">
            <a:noFill/>
          </a:ln>
        </p:spPr>
        <p:txBody>
          <a:bodyPr/>
          <a:lstStyle/>
          <a:p>
            <a:endParaRPr/>
          </a:p>
        </p:txBody>
      </p:sp>
      <p:sp>
        <p:nvSpPr>
          <p:cNvPr id="12" name="C1Text"/>
          <p:cNvSpPr/>
          <p:nvPr/>
        </p:nvSpPr>
        <p:spPr>
          <a:xfrm>
            <a:off x="274320" y="1553272"/>
            <a:ext cx="3987360" cy="1024128"/>
          </a:xfrm>
          <a:prstGeom prst="rect">
            <a:avLst/>
          </a:prstGeom>
          <a:noFill/>
          <a:ln/>
        </p:spPr>
        <p:txBody>
          <a:bodyPr wrap="square" lIns="91440" tIns="91440" rIns="91440" bIns="91440" rtlCol="0" anchor="t"/>
          <a:lstStyle/>
          <a:p>
            <a:pPr marL="0" indent="0">
              <a:buNone/>
            </a:pPr>
            <a:r>
              <a:rPr lang="en-US" sz="1100" b="1" dirty="0">
                <a:solidFill>
                  <a:srgbClr val="C9A84C"/>
                </a:solidFill>
              </a:rPr>
              <a:t>Data Model &amp; Schema</a:t>
            </a:r>
          </a:p>
          <a:p>
            <a:pPr marL="0" indent="0">
              <a:buNone/>
            </a:pPr>
            <a:r>
              <a:rPr lang="en-US" sz="1000" dirty="0">
                <a:solidFill>
                  <a:srgbClr val="C8C8D0"/>
                </a:solidFill>
              </a:rPr>
              <a:t>A Snowflake schema across 7 Excel tables powers the analytics layer. Orders_Table at the centre links to Client, Product, Calendar, Inventory, Targets, and WebAnalytics via clean foreign key relationships.</a:t>
            </a:r>
          </a:p>
        </p:txBody>
      </p:sp>
      <p:sp>
        <p:nvSpPr>
          <p:cNvPr id="13" name="C2BG"/>
          <p:cNvSpPr/>
          <p:nvPr/>
        </p:nvSpPr>
        <p:spPr>
          <a:xfrm>
            <a:off x="4752494" y="1483320"/>
            <a:ext cx="4114800" cy="1097280"/>
          </a:xfrm>
          <a:prstGeom prst="rect">
            <a:avLst/>
          </a:prstGeom>
          <a:solidFill>
            <a:srgbClr val="161B2A"/>
          </a:solidFill>
          <a:ln w="12700">
            <a:solidFill>
              <a:srgbClr val="2A2F40"/>
            </a:solidFill>
            <a:prstDash val="solid"/>
          </a:ln>
        </p:spPr>
        <p:txBody>
          <a:bodyPr/>
          <a:lstStyle/>
          <a:p>
            <a:endParaRPr/>
          </a:p>
        </p:txBody>
      </p:sp>
      <p:sp>
        <p:nvSpPr>
          <p:cNvPr id="14" name="C2Accent"/>
          <p:cNvSpPr/>
          <p:nvPr/>
        </p:nvSpPr>
        <p:spPr>
          <a:xfrm>
            <a:off x="4712342" y="1483320"/>
            <a:ext cx="36576" cy="1097280"/>
          </a:xfrm>
          <a:prstGeom prst="rect">
            <a:avLst/>
          </a:prstGeom>
          <a:solidFill>
            <a:srgbClr val="C9A84C"/>
          </a:solidFill>
          <a:ln w="0">
            <a:noFill/>
          </a:ln>
        </p:spPr>
        <p:txBody>
          <a:bodyPr/>
          <a:lstStyle/>
          <a:p>
            <a:endParaRPr/>
          </a:p>
        </p:txBody>
      </p:sp>
      <p:sp>
        <p:nvSpPr>
          <p:cNvPr id="15" name="C2Text"/>
          <p:cNvSpPr/>
          <p:nvPr/>
        </p:nvSpPr>
        <p:spPr>
          <a:xfrm>
            <a:off x="4816214" y="1600847"/>
            <a:ext cx="3987360" cy="1024128"/>
          </a:xfrm>
          <a:prstGeom prst="rect">
            <a:avLst/>
          </a:prstGeom>
          <a:noFill/>
          <a:ln/>
        </p:spPr>
        <p:txBody>
          <a:bodyPr wrap="square" lIns="91440" tIns="91440" rIns="91440" bIns="91440" rtlCol="0" anchor="t"/>
          <a:lstStyle/>
          <a:p>
            <a:pPr marL="0" indent="0">
              <a:buNone/>
            </a:pPr>
            <a:r>
              <a:rPr lang="en-US" sz="1100" b="1" dirty="0">
                <a:solidFill>
                  <a:srgbClr val="C9A84C"/>
                </a:solidFill>
              </a:rPr>
              <a:t>DAX Measures &amp; KPIs</a:t>
            </a:r>
          </a:p>
          <a:p>
            <a:pPr marL="0" indent="0">
              <a:buNone/>
            </a:pPr>
            <a:r>
              <a:rPr lang="en-US" sz="1000" dirty="0">
                <a:solidFill>
                  <a:srgbClr val="C8C8D0"/>
                </a:solidFill>
              </a:rPr>
              <a:t>16 core DAX measures including GMV, CLTV, RFM Score, SellThru%, Prestige Price Index, and FW_Lift% deliver a luxury-specific KPI framework beyond standard retail dashboards.</a:t>
            </a:r>
          </a:p>
        </p:txBody>
      </p:sp>
      <p:sp>
        <p:nvSpPr>
          <p:cNvPr id="16" name="C3BG"/>
          <p:cNvSpPr/>
          <p:nvPr/>
        </p:nvSpPr>
        <p:spPr>
          <a:xfrm>
            <a:off x="197368" y="2764385"/>
            <a:ext cx="4114800" cy="1097280"/>
          </a:xfrm>
          <a:prstGeom prst="rect">
            <a:avLst/>
          </a:prstGeom>
          <a:solidFill>
            <a:srgbClr val="161B2A"/>
          </a:solidFill>
          <a:ln w="12700">
            <a:solidFill>
              <a:srgbClr val="2A2F40"/>
            </a:solidFill>
            <a:prstDash val="solid"/>
          </a:ln>
        </p:spPr>
        <p:txBody>
          <a:bodyPr/>
          <a:lstStyle/>
          <a:p>
            <a:endParaRPr/>
          </a:p>
        </p:txBody>
      </p:sp>
      <p:sp>
        <p:nvSpPr>
          <p:cNvPr id="17" name="C3Accent"/>
          <p:cNvSpPr/>
          <p:nvPr/>
        </p:nvSpPr>
        <p:spPr>
          <a:xfrm>
            <a:off x="160792" y="2770872"/>
            <a:ext cx="36576" cy="1097280"/>
          </a:xfrm>
          <a:prstGeom prst="rect">
            <a:avLst/>
          </a:prstGeom>
          <a:solidFill>
            <a:srgbClr val="C9A84C"/>
          </a:solidFill>
          <a:ln w="0">
            <a:noFill/>
          </a:ln>
        </p:spPr>
        <p:txBody>
          <a:bodyPr/>
          <a:lstStyle/>
          <a:p>
            <a:endParaRPr/>
          </a:p>
        </p:txBody>
      </p:sp>
      <p:sp>
        <p:nvSpPr>
          <p:cNvPr id="18" name="C3Text"/>
          <p:cNvSpPr/>
          <p:nvPr/>
        </p:nvSpPr>
        <p:spPr>
          <a:xfrm>
            <a:off x="221850" y="2852564"/>
            <a:ext cx="3987360" cy="1024128"/>
          </a:xfrm>
          <a:prstGeom prst="rect">
            <a:avLst/>
          </a:prstGeom>
          <a:noFill/>
          <a:ln/>
        </p:spPr>
        <p:txBody>
          <a:bodyPr wrap="square" lIns="91440" tIns="91440" rIns="91440" bIns="91440" rtlCol="0" anchor="t"/>
          <a:lstStyle/>
          <a:p>
            <a:pPr marL="0" indent="0">
              <a:buNone/>
            </a:pPr>
            <a:r>
              <a:rPr lang="en-US" sz="1100" b="1" dirty="0">
                <a:solidFill>
                  <a:srgbClr val="C9A84C"/>
                </a:solidFill>
              </a:rPr>
              <a:t>Key Business Findings</a:t>
            </a:r>
          </a:p>
          <a:p>
            <a:pPr marL="0" indent="0">
              <a:buNone/>
            </a:pPr>
            <a:r>
              <a:rPr lang="en-US" sz="1000" dirty="0">
                <a:solidFill>
                  <a:srgbClr val="C8C8D0"/>
                </a:solidFill>
              </a:rPr>
              <a:t>VIC clients (5% of the base) drive 40-50% of GMV. Fashion week months generate a +186% GMV uplift. Limited edition drops spike new client acquisition by 3x — a programmable revenue lever.</a:t>
            </a:r>
          </a:p>
        </p:txBody>
      </p:sp>
      <p:sp>
        <p:nvSpPr>
          <p:cNvPr id="19" name="C4BG"/>
          <p:cNvSpPr/>
          <p:nvPr/>
        </p:nvSpPr>
        <p:spPr>
          <a:xfrm>
            <a:off x="4772328" y="2743584"/>
            <a:ext cx="4114800" cy="1097280"/>
          </a:xfrm>
          <a:prstGeom prst="rect">
            <a:avLst/>
          </a:prstGeom>
          <a:solidFill>
            <a:srgbClr val="161B2A"/>
          </a:solidFill>
          <a:ln w="12700">
            <a:solidFill>
              <a:srgbClr val="2A2F40"/>
            </a:solidFill>
            <a:prstDash val="solid"/>
          </a:ln>
        </p:spPr>
        <p:txBody>
          <a:bodyPr/>
          <a:lstStyle/>
          <a:p>
            <a:endParaRPr/>
          </a:p>
        </p:txBody>
      </p:sp>
      <p:sp>
        <p:nvSpPr>
          <p:cNvPr id="20" name="C4Accent"/>
          <p:cNvSpPr/>
          <p:nvPr/>
        </p:nvSpPr>
        <p:spPr>
          <a:xfrm>
            <a:off x="4745161" y="2752584"/>
            <a:ext cx="36576" cy="1097280"/>
          </a:xfrm>
          <a:prstGeom prst="rect">
            <a:avLst/>
          </a:prstGeom>
          <a:solidFill>
            <a:srgbClr val="C9A84C"/>
          </a:solidFill>
          <a:ln w="0">
            <a:noFill/>
          </a:ln>
        </p:spPr>
        <p:txBody>
          <a:bodyPr/>
          <a:lstStyle/>
          <a:p>
            <a:endParaRPr/>
          </a:p>
        </p:txBody>
      </p:sp>
      <p:sp>
        <p:nvSpPr>
          <p:cNvPr id="21" name="C4Text"/>
          <p:cNvSpPr/>
          <p:nvPr/>
        </p:nvSpPr>
        <p:spPr>
          <a:xfrm>
            <a:off x="4845480" y="2816736"/>
            <a:ext cx="3987360" cy="1024128"/>
          </a:xfrm>
          <a:prstGeom prst="rect">
            <a:avLst/>
          </a:prstGeom>
          <a:noFill/>
          <a:ln/>
        </p:spPr>
        <p:txBody>
          <a:bodyPr wrap="square" lIns="91440" tIns="91440" rIns="91440" bIns="91440" rtlCol="0" anchor="t"/>
          <a:lstStyle/>
          <a:p>
            <a:pPr marL="0" indent="0">
              <a:buNone/>
            </a:pPr>
            <a:r>
              <a:rPr lang="en-US" sz="1100" b="1" dirty="0">
                <a:solidFill>
                  <a:srgbClr val="C9A84C"/>
                </a:solidFill>
              </a:rPr>
              <a:t>6-Page Power BI Dashboard</a:t>
            </a:r>
          </a:p>
          <a:p>
            <a:pPr marL="0" indent="0">
              <a:buNone/>
            </a:pPr>
            <a:r>
              <a:rPr lang="en-US" sz="1000" dirty="0">
                <a:solidFill>
                  <a:srgbClr val="C8C8D0"/>
                </a:solidFill>
              </a:rPr>
              <a:t>Six analytical views — Executive Overview, Client Intelligence, Product Performance, Channel Flow, Seasonal Trends, and Brand Equity Index — each with interactive slicers and drill-down.</a:t>
            </a:r>
          </a:p>
        </p:txBody>
      </p:sp>
      <p:sp>
        <p:nvSpPr>
          <p:cNvPr id="22" name="StatBG"/>
          <p:cNvSpPr/>
          <p:nvPr/>
        </p:nvSpPr>
        <p:spPr>
          <a:xfrm>
            <a:off x="196162" y="4188432"/>
            <a:ext cx="8690965" cy="593496"/>
          </a:xfrm>
          <a:prstGeom prst="rect">
            <a:avLst/>
          </a:prstGeom>
          <a:solidFill>
            <a:srgbClr val="161B2A"/>
          </a:solidFill>
          <a:ln w="12700">
            <a:solidFill>
              <a:srgbClr val="2A2F40"/>
            </a:solidFill>
            <a:prstDash val="solid"/>
          </a:ln>
        </p:spPr>
        <p:txBody>
          <a:bodyPr/>
          <a:lstStyle/>
          <a:p>
            <a:endParaRPr/>
          </a:p>
        </p:txBody>
      </p:sp>
      <p:sp>
        <p:nvSpPr>
          <p:cNvPr id="23" name="Stat1"/>
          <p:cNvSpPr/>
          <p:nvPr/>
        </p:nvSpPr>
        <p:spPr>
          <a:xfrm>
            <a:off x="365760" y="4246018"/>
            <a:ext cx="2133600" cy="495240"/>
          </a:xfrm>
          <a:prstGeom prst="rect">
            <a:avLst/>
          </a:prstGeom>
          <a:noFill/>
          <a:ln/>
        </p:spPr>
        <p:txBody>
          <a:bodyPr wrap="square" lIns="0" tIns="0" rIns="0" bIns="0" rtlCol="0" anchor="ctr"/>
          <a:lstStyle/>
          <a:p>
            <a:pPr marL="0" indent="0" algn="ctr">
              <a:buNone/>
            </a:pPr>
            <a:r>
              <a:rPr lang="en-US" sz="1800" b="1" dirty="0">
                <a:solidFill>
                  <a:srgbClr val="C9A84C"/>
                </a:solidFill>
              </a:rPr>
              <a:t>€28.4M</a:t>
            </a:r>
          </a:p>
          <a:p>
            <a:pPr marL="0" indent="0" algn="ctr">
              <a:buNone/>
            </a:pPr>
            <a:r>
              <a:rPr lang="en-US" sz="800" dirty="0">
                <a:solidFill>
                  <a:srgbClr val="8B8FA8"/>
                </a:solidFill>
              </a:rPr>
              <a:t>Total GMV Analysed</a:t>
            </a:r>
          </a:p>
        </p:txBody>
      </p:sp>
      <p:sp>
        <p:nvSpPr>
          <p:cNvPr id="24" name="Stat2"/>
          <p:cNvSpPr/>
          <p:nvPr/>
        </p:nvSpPr>
        <p:spPr>
          <a:xfrm>
            <a:off x="2578742" y="4237834"/>
            <a:ext cx="2133600" cy="503423"/>
          </a:xfrm>
          <a:prstGeom prst="rect">
            <a:avLst/>
          </a:prstGeom>
          <a:noFill/>
          <a:ln/>
        </p:spPr>
        <p:txBody>
          <a:bodyPr wrap="square" lIns="0" tIns="0" rIns="0" bIns="0" rtlCol="0" anchor="ctr"/>
          <a:lstStyle/>
          <a:p>
            <a:pPr marL="0" indent="0" algn="ctr">
              <a:buNone/>
            </a:pPr>
            <a:r>
              <a:rPr lang="en-US" sz="1800" b="1" dirty="0">
                <a:solidFill>
                  <a:srgbClr val="C9A84C"/>
                </a:solidFill>
              </a:rPr>
              <a:t>40–50%</a:t>
            </a:r>
          </a:p>
          <a:p>
            <a:pPr marL="0" indent="0" algn="ctr">
              <a:buNone/>
            </a:pPr>
            <a:r>
              <a:rPr lang="en-US" sz="800" dirty="0">
                <a:solidFill>
                  <a:srgbClr val="8B8FA8"/>
                </a:solidFill>
              </a:rPr>
              <a:t>VIC Revenue Share</a:t>
            </a:r>
          </a:p>
        </p:txBody>
      </p:sp>
      <p:sp>
        <p:nvSpPr>
          <p:cNvPr id="25" name="Stat3"/>
          <p:cNvSpPr/>
          <p:nvPr/>
        </p:nvSpPr>
        <p:spPr>
          <a:xfrm>
            <a:off x="4790616" y="4237834"/>
            <a:ext cx="2133600" cy="503423"/>
          </a:xfrm>
          <a:prstGeom prst="rect">
            <a:avLst/>
          </a:prstGeom>
          <a:noFill/>
          <a:ln/>
        </p:spPr>
        <p:txBody>
          <a:bodyPr wrap="square" lIns="0" tIns="0" rIns="0" bIns="0" rtlCol="0" anchor="ctr"/>
          <a:lstStyle/>
          <a:p>
            <a:pPr marL="0" indent="0" algn="ctr">
              <a:buNone/>
            </a:pPr>
            <a:r>
              <a:rPr lang="en-US" sz="1800" b="1" dirty="0">
                <a:solidFill>
                  <a:srgbClr val="C9A84C"/>
                </a:solidFill>
              </a:rPr>
              <a:t>+186%</a:t>
            </a:r>
          </a:p>
          <a:p>
            <a:pPr marL="0" indent="0" algn="ctr">
              <a:buNone/>
            </a:pPr>
            <a:r>
              <a:rPr lang="en-US" sz="800" dirty="0">
                <a:solidFill>
                  <a:srgbClr val="8B8FA8"/>
                </a:solidFill>
              </a:rPr>
              <a:t>Fashion Week GMV Lift</a:t>
            </a:r>
          </a:p>
        </p:txBody>
      </p:sp>
      <p:sp>
        <p:nvSpPr>
          <p:cNvPr id="26" name="Stat4"/>
          <p:cNvSpPr/>
          <p:nvPr/>
        </p:nvSpPr>
        <p:spPr>
          <a:xfrm>
            <a:off x="7002490" y="4232807"/>
            <a:ext cx="1736280" cy="508449"/>
          </a:xfrm>
          <a:prstGeom prst="rect">
            <a:avLst/>
          </a:prstGeom>
          <a:noFill/>
          <a:ln/>
        </p:spPr>
        <p:txBody>
          <a:bodyPr wrap="square" lIns="0" tIns="0" rIns="0" bIns="0" rtlCol="0" anchor="ctr"/>
          <a:lstStyle/>
          <a:p>
            <a:pPr marL="0" indent="0" algn="ctr">
              <a:buNone/>
            </a:pPr>
            <a:r>
              <a:rPr lang="en-US" sz="1800" b="1" dirty="0">
                <a:solidFill>
                  <a:srgbClr val="C9A84C"/>
                </a:solidFill>
              </a:rPr>
              <a:t>54.2%</a:t>
            </a:r>
          </a:p>
          <a:p>
            <a:pPr marL="0" indent="0" algn="ctr">
              <a:buNone/>
            </a:pPr>
            <a:r>
              <a:rPr lang="en-US" sz="800" dirty="0">
                <a:solidFill>
                  <a:srgbClr val="8B8FA8"/>
                </a:solidFill>
              </a:rPr>
              <a:t>Avg Gross Margin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9A84C"/>
          </a:solidFill>
          <a:ln w="12700">
            <a:solidFill>
              <a:srgbClr val="C9A84C"/>
            </a:solidFill>
            <a:prstDash val="solid"/>
          </a:ln>
        </p:spPr>
        <p:txBody>
          <a:bodyPr/>
          <a:lstStyle/>
          <a:p>
            <a:endParaRPr lang="en-IN"/>
          </a:p>
        </p:txBody>
      </p:sp>
      <p:sp>
        <p:nvSpPr>
          <p:cNvPr id="3" name="Shape 1"/>
          <p:cNvSpPr/>
          <p:nvPr/>
        </p:nvSpPr>
        <p:spPr>
          <a:xfrm>
            <a:off x="0" y="5088636"/>
            <a:ext cx="9144000" cy="54864"/>
          </a:xfrm>
          <a:prstGeom prst="rect">
            <a:avLst/>
          </a:prstGeom>
          <a:solidFill>
            <a:srgbClr val="C9A84C"/>
          </a:solidFill>
          <a:ln w="12700">
            <a:solidFill>
              <a:srgbClr val="C9A84C"/>
            </a:solidFill>
            <a:prstDash val="solid"/>
          </a:ln>
        </p:spPr>
        <p:txBody>
          <a:bodyPr/>
          <a:lstStyle/>
          <a:p>
            <a:endParaRPr lang="en-IN"/>
          </a:p>
        </p:txBody>
      </p:sp>
      <p:sp>
        <p:nvSpPr>
          <p:cNvPr id="4" name="Text 2"/>
          <p:cNvSpPr/>
          <p:nvPr/>
        </p:nvSpPr>
        <p:spPr>
          <a:xfrm>
            <a:off x="0" y="1920240"/>
            <a:ext cx="9144000" cy="640080"/>
          </a:xfrm>
          <a:prstGeom prst="rect">
            <a:avLst/>
          </a:prstGeom>
          <a:noFill/>
          <a:ln/>
        </p:spPr>
        <p:txBody>
          <a:bodyPr wrap="square" lIns="0" tIns="0" rIns="0" bIns="0" rtlCol="0" anchor="ctr"/>
          <a:lstStyle/>
          <a:p>
            <a:pPr marL="0" indent="0" algn="ctr">
              <a:buNone/>
            </a:pPr>
            <a:r>
              <a:rPr lang="en-US" sz="4800" b="1" kern="0" spc="600" dirty="0">
                <a:solidFill>
                  <a:srgbClr val="C9A84C"/>
                </a:solidFill>
              </a:rPr>
              <a:t>THANK YOU</a:t>
            </a:r>
            <a:endParaRPr lang="en-US" sz="4800" dirty="0"/>
          </a:p>
        </p:txBody>
      </p:sp>
      <p:sp>
        <p:nvSpPr>
          <p:cNvPr id="5" name="Text 3"/>
          <p:cNvSpPr/>
          <p:nvPr/>
        </p:nvSpPr>
        <p:spPr>
          <a:xfrm>
            <a:off x="0" y="2606040"/>
            <a:ext cx="9144000" cy="365760"/>
          </a:xfrm>
          <a:prstGeom prst="rect">
            <a:avLst/>
          </a:prstGeom>
          <a:noFill/>
          <a:ln/>
        </p:spPr>
        <p:txBody>
          <a:bodyPr wrap="square" lIns="0" tIns="0" rIns="0" bIns="0" rtlCol="0" anchor="ctr"/>
          <a:lstStyle/>
          <a:p>
            <a:pPr marL="0" indent="0" algn="ctr">
              <a:buNone/>
            </a:pPr>
            <a:r>
              <a:rPr lang="en-US" sz="1400" dirty="0">
                <a:solidFill>
                  <a:srgbClr val="F5F0E8"/>
                </a:solidFill>
              </a:rPr>
              <a:t>Luxury Fashion &amp; Apparel Intelligence Analytics</a:t>
            </a:r>
            <a:endParaRPr lang="en-US" sz="1400" dirty="0"/>
          </a:p>
        </p:txBody>
      </p:sp>
      <p:sp>
        <p:nvSpPr>
          <p:cNvPr id="6" name="Text 4"/>
          <p:cNvSpPr/>
          <p:nvPr/>
        </p:nvSpPr>
        <p:spPr>
          <a:xfrm>
            <a:off x="0" y="3063240"/>
            <a:ext cx="9144000" cy="256032"/>
          </a:xfrm>
          <a:prstGeom prst="rect">
            <a:avLst/>
          </a:prstGeom>
          <a:noFill/>
          <a:ln/>
        </p:spPr>
        <p:txBody>
          <a:bodyPr wrap="square" lIns="0" tIns="0" rIns="0" bIns="0" rtlCol="0" anchor="ctr"/>
          <a:lstStyle/>
          <a:p>
            <a:pPr marL="0" indent="0" algn="ctr">
              <a:buNone/>
            </a:pPr>
            <a:r>
              <a:rPr lang="en-US" sz="1000" dirty="0">
                <a:solidFill>
                  <a:srgbClr val="8B8FA8"/>
                </a:solidFill>
              </a:rPr>
              <a:t>Power BI Project  ·  2023–2024  </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289</TotalTime>
  <Words>2538</Words>
  <Application>Microsoft Office PowerPoint</Application>
  <PresentationFormat>On-screen Show (16:9)</PresentationFormat>
  <Paragraphs>428</Paragraphs>
  <Slides>14</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Velvet Metrics: Luxury Fashion Performance Intelligence</dc:title>
  <dc:subject>PptxGenJS Presentation</dc:subject>
  <dc:creator>PptxGenJS</dc:creator>
  <cp:lastModifiedBy>user</cp:lastModifiedBy>
  <cp:revision>3</cp:revision>
  <dcterms:created xsi:type="dcterms:W3CDTF">2026-04-07T09:45:03Z</dcterms:created>
  <dcterms:modified xsi:type="dcterms:W3CDTF">2026-04-15T22:01:39Z</dcterms:modified>
</cp:coreProperties>
</file>